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Montserrat"/>
      <p:regular r:id="rId63"/>
      <p:bold r:id="rId64"/>
      <p:italic r:id="rId65"/>
      <p:boldItalic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53D431-7BEC-4D15-97AF-1AFE7DACE8DB}">
  <a:tblStyle styleId="{2B53D431-7BEC-4D15-97AF-1AFE7DACE8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Montserrat-bold.fntdata"/><Relationship Id="rId63" Type="http://schemas.openxmlformats.org/officeDocument/2006/relationships/font" Target="fonts/Montserrat-regular.fntdata"/><Relationship Id="rId22" Type="http://schemas.openxmlformats.org/officeDocument/2006/relationships/slide" Target="slides/slide16.xml"/><Relationship Id="rId66" Type="http://schemas.openxmlformats.org/officeDocument/2006/relationships/font" Target="fonts/Montserrat-boldItalic.fntdata"/><Relationship Id="rId21" Type="http://schemas.openxmlformats.org/officeDocument/2006/relationships/slide" Target="slides/slide15.xml"/><Relationship Id="rId65" Type="http://schemas.openxmlformats.org/officeDocument/2006/relationships/font" Target="fonts/Montserrat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2bbd9a3316_0_5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2bbd9a3316_0_5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bbd9a3316_0_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2bbd9a3316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2bbd9a331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2bbd9a331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bbd9a331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2bbd9a331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2bbd9a331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2bbd9a331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bbd9a33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2bbd9a33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bbd9a331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bbd9a331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bbd9a331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2bbd9a331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bbd9a331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bbd9a331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bbd9a331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bbd9a331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bbd9a3316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2bbd9a3316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bbd9a3316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bbd9a3316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2bbd9a3316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2bbd9a3316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bbd9a3316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bbd9a3316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bbd9a3316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bbd9a3316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bbd9a3316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bbd9a3316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bbd9a3316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2bbd9a3316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2bbd9a3316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2bbd9a3316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bbd9a3316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2bbd9a3316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bbd9a3316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2bbd9a3316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bbd9a3316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2bbd9a3316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2bbd9a3316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2bbd9a3316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bbd9a3316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bbd9a3316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bbd9a3316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2bbd9a3316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bbd9a3316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2bbd9a3316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bbd9a3316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2bbd9a3316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2bbd9a3316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2bbd9a3316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bbd9a3316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2bbd9a3316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2bbd9a3316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2bbd9a3316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bbd9a3316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2bbd9a3316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2bbd9a3316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2bbd9a3316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bbd9a3316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2bbd9a3316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2bbd9a3316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2bbd9a3316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2bbd9a3316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2bbd9a3316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2bbd9a3316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2bbd9a3316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2bbd9a3316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2bbd9a3316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bbd9a3316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2bbd9a3316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2bbd9a3316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2bbd9a3316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2bbd9a3316_0_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2bbd9a3316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2bbd9a331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2bbd9a331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2bbd9a3316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2bbd9a3316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2bbd9a331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2bbd9a331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2bbd9a3316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2bbd9a3316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2bbd9a3316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2bbd9a3316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2bbd9a3316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2bbd9a3316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2bbd9a3316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2bbd9a331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2bbd9a3316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2bbd9a3316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396d4c4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396d4c4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2bbd9a331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2bbd9a331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bbd9a3316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2bbd9a3316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2bbd9a3316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2bbd9a3316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2bbd9a3316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2bbd9a3316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2bbd9a3316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2bbd9a3316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2bbd9a331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2bbd9a331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2bbd9a331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2bbd9a331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tats.stackexchange.com/questions/179026/objective-function-cost-function-loss-function-are-they-the-same-thing" TargetMode="External"/><Relationship Id="rId4" Type="http://schemas.openxmlformats.org/officeDocument/2006/relationships/hyperlink" Target="https://stats.stackexchange.com/questions/179026/objective-function-cost-function-loss-function-are-they-the-same-thing" TargetMode="External"/><Relationship Id="rId5" Type="http://schemas.openxmlformats.org/officeDocument/2006/relationships/hyperlink" Target="https://stats.stackexchange.com/questions/179026/objective-function-cost-function-loss-function-are-they-the-same-th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2.png"/><Relationship Id="rId8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Relationship Id="rId4" Type="http://schemas.openxmlformats.org/officeDocument/2006/relationships/image" Target="../media/image4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7.png"/><Relationship Id="rId4" Type="http://schemas.openxmlformats.org/officeDocument/2006/relationships/image" Target="../media/image4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Loss Functions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525" y="481100"/>
            <a:ext cx="5740000" cy="39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375" y="613775"/>
            <a:ext cx="5740000" cy="39159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/>
          <p:nvPr/>
        </p:nvSpPr>
        <p:spPr>
          <a:xfrm>
            <a:off x="6003950" y="386775"/>
            <a:ext cx="28479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Irreducible errors: </a:t>
            </a:r>
            <a:r>
              <a:rPr lang="en-GB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These errors will always be present in the model </a:t>
            </a:r>
            <a:r>
              <a:rPr lang="en-GB" sz="13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regardless of which algorithm has been used. 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35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35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35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635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cause of these errors is </a:t>
            </a:r>
            <a:r>
              <a:rPr b="1" lang="en-GB" sz="13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unknown</a:t>
            </a:r>
            <a:r>
              <a:rPr lang="en-GB" sz="1350">
                <a:solidFill>
                  <a:srgbClr val="33333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variables whose value can't be reduced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385358" y="20212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3"/>
              </a:rPr>
              <a:t>C</a:t>
            </a:r>
            <a:r>
              <a:rPr b="1" lang="en-GB" sz="3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4"/>
              </a:rPr>
              <a:t>ost function and Loss function: </a:t>
            </a:r>
            <a:endParaRPr sz="5600"/>
          </a:p>
          <a:p>
            <a:pPr indent="0" lvl="0" marL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5"/>
              </a:rPr>
              <a:t>Are they the same thing?</a:t>
            </a:r>
            <a:endParaRPr b="1" sz="3200">
              <a:solidFill>
                <a:schemeClr val="hlink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ctrTitle"/>
          </p:nvPr>
        </p:nvSpPr>
        <p:spPr>
          <a:xfrm>
            <a:off x="-1652392" y="-10354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/>
              <a:t>Problem Statements</a:t>
            </a:r>
            <a:endParaRPr sz="32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14207"/>
          <a:stretch/>
        </p:blipFill>
        <p:spPr>
          <a:xfrm>
            <a:off x="496125" y="1017200"/>
            <a:ext cx="8030602" cy="387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150" y="146725"/>
            <a:ext cx="7287801" cy="473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ctrTitle"/>
          </p:nvPr>
        </p:nvSpPr>
        <p:spPr>
          <a:xfrm>
            <a:off x="544925" y="2180825"/>
            <a:ext cx="8257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</a:t>
            </a:r>
            <a:r>
              <a:rPr b="1" lang="en-GB" sz="1800"/>
              <a:t>loss function</a:t>
            </a:r>
            <a:r>
              <a:rPr lang="en-GB" sz="1800"/>
              <a:t> is used to measure how well a model's prediction matches the actual values.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It's typically used at the </a:t>
            </a:r>
            <a:r>
              <a:rPr b="1" lang="en-GB" sz="1800"/>
              <a:t>individual data point level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loss function gives us a value that represents how "bad" or "good" the model's prediction is for a </a:t>
            </a:r>
            <a:r>
              <a:rPr b="1" lang="en-GB" sz="1800"/>
              <a:t>single example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900"/>
          </a:p>
        </p:txBody>
      </p:sp>
      <p:sp>
        <p:nvSpPr>
          <p:cNvPr id="87" name="Google Shape;87;p19"/>
          <p:cNvSpPr txBox="1"/>
          <p:nvPr/>
        </p:nvSpPr>
        <p:spPr>
          <a:xfrm>
            <a:off x="544925" y="395200"/>
            <a:ext cx="65919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2"/>
                </a:solidFill>
              </a:rPr>
              <a:t>Loss</a:t>
            </a:r>
            <a:r>
              <a:rPr b="1" lang="en-GB" sz="2700">
                <a:solidFill>
                  <a:schemeClr val="dk2"/>
                </a:solidFill>
              </a:rPr>
              <a:t> Function</a:t>
            </a:r>
            <a:endParaRPr b="1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/>
        </p:nvSpPr>
        <p:spPr>
          <a:xfrm>
            <a:off x="544925" y="395200"/>
            <a:ext cx="73617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2"/>
                </a:solidFill>
              </a:rPr>
              <a:t>Loss Function - Mean Squared Error (MSE)</a:t>
            </a:r>
            <a:endParaRPr b="1" sz="2700">
              <a:solidFill>
                <a:schemeClr val="dk2"/>
              </a:solidFill>
            </a:endParaRPr>
          </a:p>
        </p:txBody>
      </p:sp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4600" y="1855975"/>
            <a:ext cx="4990900" cy="8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050" y="3257550"/>
            <a:ext cx="76200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/>
        </p:nvSpPr>
        <p:spPr>
          <a:xfrm>
            <a:off x="544925" y="505675"/>
            <a:ext cx="65919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rgbClr val="3D85C6"/>
                </a:solidFill>
              </a:rPr>
              <a:t>Cost</a:t>
            </a:r>
            <a:r>
              <a:rPr b="1" lang="en-GB" sz="2700">
                <a:solidFill>
                  <a:srgbClr val="3D85C6"/>
                </a:solidFill>
              </a:rPr>
              <a:t> Function</a:t>
            </a:r>
            <a:endParaRPr b="1" sz="2700">
              <a:solidFill>
                <a:srgbClr val="3D85C6"/>
              </a:solidFill>
            </a:endParaRPr>
          </a:p>
        </p:txBody>
      </p:sp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050" y="3257550"/>
            <a:ext cx="7620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2275" y="1296725"/>
            <a:ext cx="5734374" cy="17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1"/>
          <p:cNvSpPr txBox="1"/>
          <p:nvPr/>
        </p:nvSpPr>
        <p:spPr>
          <a:xfrm>
            <a:off x="2235350" y="1757775"/>
            <a:ext cx="11538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21"/>
          <p:cNvSpPr/>
          <p:nvPr/>
        </p:nvSpPr>
        <p:spPr>
          <a:xfrm>
            <a:off x="2407250" y="1696575"/>
            <a:ext cx="981900" cy="875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300">
                <a:solidFill>
                  <a:srgbClr val="3C78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="1" sz="5300">
              <a:solidFill>
                <a:srgbClr val="3C78D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544925" y="1434900"/>
            <a:ext cx="8257800" cy="22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</a:t>
            </a:r>
            <a:r>
              <a:rPr b="1" lang="en-GB" sz="1800"/>
              <a:t>cost function</a:t>
            </a:r>
            <a:r>
              <a:rPr lang="en-GB" sz="1800"/>
              <a:t> typically refers to the </a:t>
            </a:r>
            <a:r>
              <a:rPr b="1" lang="en-GB" sz="1800">
                <a:solidFill>
                  <a:srgbClr val="3D85C6"/>
                </a:solidFill>
              </a:rPr>
              <a:t>average loss</a:t>
            </a:r>
            <a:r>
              <a:rPr lang="en-GB" sz="1800"/>
              <a:t> over the entire dataset.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It is used to evaluate the </a:t>
            </a:r>
            <a:r>
              <a:rPr b="1" lang="en-GB" sz="1800"/>
              <a:t>overall performance</a:t>
            </a:r>
            <a:r>
              <a:rPr lang="en-GB" sz="1800"/>
              <a:t> of the model during training. The goal during training is to </a:t>
            </a:r>
            <a:r>
              <a:rPr b="1" lang="en-GB" sz="1800"/>
              <a:t>minimize</a:t>
            </a:r>
            <a:r>
              <a:rPr lang="en-GB" sz="1800"/>
              <a:t> the cost function.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</a:t>
            </a:r>
            <a:r>
              <a:rPr b="1" lang="en-GB" sz="1800"/>
              <a:t>cost function</a:t>
            </a:r>
            <a:r>
              <a:rPr lang="en-GB" sz="1800"/>
              <a:t> aggregates the losses of all individual examples, often by computing the </a:t>
            </a:r>
            <a:r>
              <a:rPr b="1" lang="en-GB" sz="1800"/>
              <a:t>mean</a:t>
            </a:r>
            <a:r>
              <a:rPr lang="en-GB" sz="1800"/>
              <a:t> or </a:t>
            </a:r>
            <a:r>
              <a:rPr b="1" lang="en-GB" sz="1800"/>
              <a:t>sum</a:t>
            </a:r>
            <a:r>
              <a:rPr lang="en-GB" sz="1800"/>
              <a:t> of the losses.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9" name="Google Shape;109;p22"/>
          <p:cNvSpPr txBox="1"/>
          <p:nvPr/>
        </p:nvSpPr>
        <p:spPr>
          <a:xfrm>
            <a:off x="544925" y="395200"/>
            <a:ext cx="65919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2"/>
                </a:solidFill>
              </a:rPr>
              <a:t>Cost Function</a:t>
            </a:r>
            <a:endParaRPr b="1" sz="2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idx="1" type="subTitle"/>
          </p:nvPr>
        </p:nvSpPr>
        <p:spPr>
          <a:xfrm>
            <a:off x="311700" y="36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use MSE?</a:t>
            </a:r>
            <a:endParaRPr/>
          </a:p>
        </p:txBody>
      </p:sp>
      <p:sp>
        <p:nvSpPr>
          <p:cNvPr id="115" name="Google Shape;115;p23"/>
          <p:cNvSpPr txBox="1"/>
          <p:nvPr/>
        </p:nvSpPr>
        <p:spPr>
          <a:xfrm>
            <a:off x="394000" y="1328125"/>
            <a:ext cx="2847900" cy="24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-GB" sz="1800">
                <a:solidFill>
                  <a:schemeClr val="dk2"/>
                </a:solidFill>
              </a:rPr>
              <a:t>Quadratic Equation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-GB" sz="1800">
                <a:solidFill>
                  <a:schemeClr val="dk2"/>
                </a:solidFill>
              </a:rPr>
              <a:t>Penalizes large errors in the model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-GB" sz="1800">
                <a:solidFill>
                  <a:schemeClr val="dk2"/>
                </a:solidFill>
              </a:rPr>
              <a:t>Expressed in squared units of the target variable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-GB" sz="1800">
                <a:solidFill>
                  <a:schemeClr val="dk1"/>
                </a:solidFill>
              </a:rPr>
              <a:t>Differentiable and </a:t>
            </a:r>
            <a:r>
              <a:rPr b="1" lang="en-GB" sz="1800">
                <a:solidFill>
                  <a:srgbClr val="6AA84F"/>
                </a:solidFill>
              </a:rPr>
              <a:t>smooth</a:t>
            </a:r>
            <a:endParaRPr b="1" sz="1800">
              <a:solidFill>
                <a:srgbClr val="6AA84F"/>
              </a:solidFill>
            </a:endParaRPr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975" y="1093738"/>
            <a:ext cx="5255151" cy="295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idx="1" type="subTitle"/>
          </p:nvPr>
        </p:nvSpPr>
        <p:spPr>
          <a:xfrm>
            <a:off x="311700" y="36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use MSE?</a:t>
            </a:r>
            <a:endParaRPr/>
          </a:p>
        </p:txBody>
      </p:sp>
      <p:sp>
        <p:nvSpPr>
          <p:cNvPr id="122" name="Google Shape;122;p24"/>
          <p:cNvSpPr txBox="1"/>
          <p:nvPr/>
        </p:nvSpPr>
        <p:spPr>
          <a:xfrm>
            <a:off x="394000" y="1328125"/>
            <a:ext cx="2847900" cy="24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-GB" sz="1800">
                <a:solidFill>
                  <a:schemeClr val="dk2"/>
                </a:solidFill>
              </a:rPr>
              <a:t>Quadratic Equation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-GB" sz="1800">
                <a:solidFill>
                  <a:schemeClr val="dk2"/>
                </a:solidFill>
              </a:rPr>
              <a:t>Penalizes large errors in the model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-GB" sz="1800">
                <a:solidFill>
                  <a:schemeClr val="dk2"/>
                </a:solidFill>
              </a:rPr>
              <a:t>Expressed in squared units of the target variable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-GB" sz="1800">
                <a:solidFill>
                  <a:schemeClr val="dk1"/>
                </a:solidFill>
              </a:rPr>
              <a:t>Differentiable and </a:t>
            </a:r>
            <a:r>
              <a:rPr b="1" lang="en-GB" sz="1800">
                <a:solidFill>
                  <a:schemeClr val="dk1"/>
                </a:solidFill>
              </a:rPr>
              <a:t>smooth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23" name="Google Shape;1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975" y="1093738"/>
            <a:ext cx="5255151" cy="2956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4"/>
          <p:cNvSpPr txBox="1"/>
          <p:nvPr/>
        </p:nvSpPr>
        <p:spPr>
          <a:xfrm>
            <a:off x="404400" y="3820200"/>
            <a:ext cx="86316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It's </a:t>
            </a:r>
            <a:r>
              <a:rPr b="1" lang="en-GB" sz="1800">
                <a:solidFill>
                  <a:srgbClr val="6AA84F"/>
                </a:solidFill>
              </a:rPr>
              <a:t>continuous and differentiable</a:t>
            </a:r>
            <a:r>
              <a:rPr lang="en-GB" sz="1800">
                <a:solidFill>
                  <a:schemeClr val="dk2"/>
                </a:solidFill>
              </a:rPr>
              <a:t> - it's easier to find the minimum using techniques like backpropagation in Neural Networks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idx="1" type="subTitle"/>
          </p:nvPr>
        </p:nvSpPr>
        <p:spPr>
          <a:xfrm>
            <a:off x="311700" y="36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to avoid MSE?</a:t>
            </a:r>
            <a:endParaRPr/>
          </a:p>
        </p:txBody>
      </p:sp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125" y="1041650"/>
            <a:ext cx="5704251" cy="3938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4100" y="2248825"/>
            <a:ext cx="2918199" cy="16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/>
          <p:nvPr/>
        </p:nvSpPr>
        <p:spPr>
          <a:xfrm>
            <a:off x="4322200" y="1156275"/>
            <a:ext cx="1914900" cy="5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/>
          <p:nvPr/>
        </p:nvSpPr>
        <p:spPr>
          <a:xfrm>
            <a:off x="4322200" y="1417925"/>
            <a:ext cx="1289100" cy="5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ctrTitle"/>
          </p:nvPr>
        </p:nvSpPr>
        <p:spPr>
          <a:xfrm>
            <a:off x="311708" y="916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Mean Absolute Error (MAE) - Treats All Errors Equally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250" y="847725"/>
            <a:ext cx="68865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11700" y="36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use MAE?</a:t>
            </a:r>
            <a:endParaRPr/>
          </a:p>
        </p:txBody>
      </p:sp>
      <p:sp>
        <p:nvSpPr>
          <p:cNvPr id="149" name="Google Shape;149;p28"/>
          <p:cNvSpPr txBox="1"/>
          <p:nvPr/>
        </p:nvSpPr>
        <p:spPr>
          <a:xfrm>
            <a:off x="394000" y="1328125"/>
            <a:ext cx="2847900" cy="24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-GB" sz="1800">
                <a:solidFill>
                  <a:schemeClr val="dk2"/>
                </a:solidFill>
              </a:rPr>
              <a:t>More robust to outliers compared to MSE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50" name="Google Shape;1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7825" y="1214550"/>
            <a:ext cx="4854486" cy="24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idx="1" type="subTitle"/>
          </p:nvPr>
        </p:nvSpPr>
        <p:spPr>
          <a:xfrm>
            <a:off x="311700" y="36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Computationally Difficult</a:t>
            </a:r>
            <a:endParaRPr/>
          </a:p>
        </p:txBody>
      </p:sp>
      <p:sp>
        <p:nvSpPr>
          <p:cNvPr id="156" name="Google Shape;156;p29"/>
          <p:cNvSpPr txBox="1"/>
          <p:nvPr/>
        </p:nvSpPr>
        <p:spPr>
          <a:xfrm>
            <a:off x="394000" y="1328125"/>
            <a:ext cx="2847900" cy="24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025" y="1219550"/>
            <a:ext cx="7115951" cy="35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3775" y="1860513"/>
            <a:ext cx="3814900" cy="130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5548" y="1573213"/>
            <a:ext cx="3874800" cy="19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idx="1" type="subTitle"/>
          </p:nvPr>
        </p:nvSpPr>
        <p:spPr>
          <a:xfrm>
            <a:off x="311700" y="36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Computationally Difficult</a:t>
            </a:r>
            <a:endParaRPr/>
          </a:p>
        </p:txBody>
      </p:sp>
      <p:sp>
        <p:nvSpPr>
          <p:cNvPr id="165" name="Google Shape;165;p30"/>
          <p:cNvSpPr txBox="1"/>
          <p:nvPr/>
        </p:nvSpPr>
        <p:spPr>
          <a:xfrm>
            <a:off x="394000" y="1328125"/>
            <a:ext cx="2847900" cy="24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000" y="1219550"/>
            <a:ext cx="7115951" cy="35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050" y="3574598"/>
            <a:ext cx="8832299" cy="1436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3775" y="1860513"/>
            <a:ext cx="3814900" cy="130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5548" y="1573213"/>
            <a:ext cx="3874800" cy="19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idx="1" type="subTitle"/>
          </p:nvPr>
        </p:nvSpPr>
        <p:spPr>
          <a:xfrm>
            <a:off x="311700" y="36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Computationally Difficult</a:t>
            </a:r>
            <a:endParaRPr/>
          </a:p>
        </p:txBody>
      </p:sp>
      <p:sp>
        <p:nvSpPr>
          <p:cNvPr id="175" name="Google Shape;175;p31"/>
          <p:cNvSpPr txBox="1"/>
          <p:nvPr/>
        </p:nvSpPr>
        <p:spPr>
          <a:xfrm>
            <a:off x="394000" y="1328125"/>
            <a:ext cx="2847900" cy="24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76" name="Google Shape;17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675" y="1488750"/>
            <a:ext cx="68199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125" y="2720447"/>
            <a:ext cx="8520600" cy="1320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idx="1" type="subTitle"/>
          </p:nvPr>
        </p:nvSpPr>
        <p:spPr>
          <a:xfrm>
            <a:off x="311700" y="366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Computationally Difficult</a:t>
            </a:r>
            <a:endParaRPr/>
          </a:p>
        </p:txBody>
      </p:sp>
      <p:sp>
        <p:nvSpPr>
          <p:cNvPr id="183" name="Google Shape;183;p32"/>
          <p:cNvSpPr txBox="1"/>
          <p:nvPr/>
        </p:nvSpPr>
        <p:spPr>
          <a:xfrm>
            <a:off x="394000" y="1328125"/>
            <a:ext cx="2847900" cy="24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84" name="Google Shape;1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350" y="1483600"/>
            <a:ext cx="5597299" cy="1976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Huber Loss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ctrTitle"/>
          </p:nvPr>
        </p:nvSpPr>
        <p:spPr>
          <a:xfrm>
            <a:off x="311700" y="388575"/>
            <a:ext cx="8520600" cy="65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Huber Loss</a:t>
            </a:r>
            <a:endParaRPr/>
          </a:p>
        </p:txBody>
      </p:sp>
      <p:sp>
        <p:nvSpPr>
          <p:cNvPr id="195" name="Google Shape;195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25" y="1751525"/>
            <a:ext cx="8111025" cy="21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8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Classification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ctrTitle"/>
          </p:nvPr>
        </p:nvSpPr>
        <p:spPr>
          <a:xfrm>
            <a:off x="434475" y="3149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52578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Cross Entropy</a:t>
            </a:r>
            <a:endParaRPr/>
          </a:p>
        </p:txBody>
      </p:sp>
      <p:pic>
        <p:nvPicPr>
          <p:cNvPr id="212" name="Google Shape;212;p37"/>
          <p:cNvPicPr preferRelativeResize="0"/>
          <p:nvPr/>
        </p:nvPicPr>
        <p:blipFill rotWithShape="1">
          <a:blip r:embed="rId3">
            <a:alphaModFix/>
          </a:blip>
          <a:srcRect b="40627" l="0" r="0" t="31687"/>
          <a:stretch/>
        </p:blipFill>
        <p:spPr>
          <a:xfrm>
            <a:off x="359438" y="1834025"/>
            <a:ext cx="8425125" cy="13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675" y="703250"/>
            <a:ext cx="5488275" cy="393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4247" y="1747221"/>
            <a:ext cx="2481953" cy="1008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ctrTitle"/>
          </p:nvPr>
        </p:nvSpPr>
        <p:spPr>
          <a:xfrm>
            <a:off x="434475" y="3149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52578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Cross Entropy</a:t>
            </a:r>
            <a:endParaRPr/>
          </a:p>
        </p:txBody>
      </p:sp>
      <p:sp>
        <p:nvSpPr>
          <p:cNvPr id="224" name="Google Shape;224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9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188" y="1262025"/>
            <a:ext cx="5736756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7148" y="1995538"/>
            <a:ext cx="2677161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2675" y="2718549"/>
            <a:ext cx="314061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 txBox="1"/>
          <p:nvPr/>
        </p:nvSpPr>
        <p:spPr>
          <a:xfrm>
            <a:off x="599200" y="2066475"/>
            <a:ext cx="1585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If y = 1,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30" name="Google Shape;230;p39"/>
          <p:cNvSpPr txBox="1"/>
          <p:nvPr/>
        </p:nvSpPr>
        <p:spPr>
          <a:xfrm>
            <a:off x="599200" y="2700700"/>
            <a:ext cx="1585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If y = 0,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31" name="Google Shape;23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7925" y="1852574"/>
            <a:ext cx="3495250" cy="23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ctrTitle"/>
          </p:nvPr>
        </p:nvSpPr>
        <p:spPr>
          <a:xfrm>
            <a:off x="434475" y="31492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52578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Categorical Cross Entropy</a:t>
            </a:r>
            <a:endParaRPr/>
          </a:p>
        </p:txBody>
      </p:sp>
      <p:pic>
        <p:nvPicPr>
          <p:cNvPr id="237" name="Google Shape;23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51" y="1751192"/>
            <a:ext cx="8706924" cy="2442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1"/>
          <p:cNvPicPr preferRelativeResize="0"/>
          <p:nvPr/>
        </p:nvPicPr>
        <p:blipFill rotWithShape="1">
          <a:blip r:embed="rId3">
            <a:alphaModFix/>
          </a:blip>
          <a:srcRect b="7123" l="0" r="0" t="0"/>
          <a:stretch/>
        </p:blipFill>
        <p:spPr>
          <a:xfrm>
            <a:off x="2460225" y="403000"/>
            <a:ext cx="4624000" cy="429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" name="Google Shape;247;p42"/>
          <p:cNvGraphicFramePr/>
          <p:nvPr/>
        </p:nvGraphicFramePr>
        <p:xfrm>
          <a:off x="1124375" y="158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{2B53D431-7BEC-4D15-97AF-1AFE7DACE8DB}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Sample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Class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Class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Class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Class 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48" name="Google Shape;2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025" y="678125"/>
            <a:ext cx="531495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228600" cy="5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203" y="827550"/>
            <a:ext cx="5647375" cy="317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775" y="508400"/>
            <a:ext cx="6514450" cy="39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45"/>
          <p:cNvGraphicFramePr/>
          <p:nvPr/>
        </p:nvGraphicFramePr>
        <p:xfrm>
          <a:off x="694700" y="62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{2B53D431-7BEC-4D15-97AF-1AFE7DACE8DB}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Sample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Class 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Class 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Class 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Class 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66" name="Google Shape;266;p45"/>
          <p:cNvGraphicFramePr/>
          <p:nvPr/>
        </p:nvGraphicFramePr>
        <p:xfrm>
          <a:off x="857250" y="269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{2B53D431-7BEC-4D15-97AF-1AFE7DACE8DB}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Sample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67" name="Google Shape;26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650" y="2698600"/>
            <a:ext cx="499556" cy="3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4900" y="2703327"/>
            <a:ext cx="499550" cy="386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6625" y="2706225"/>
            <a:ext cx="430650" cy="380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3600" y="2698600"/>
            <a:ext cx="430652" cy="3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7250" y="2206850"/>
            <a:ext cx="2643124" cy="49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4700" y="130300"/>
            <a:ext cx="4287450" cy="49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725" y="3256375"/>
            <a:ext cx="6267450" cy="819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8" name="Google Shape;278;p46"/>
          <p:cNvGraphicFramePr/>
          <p:nvPr/>
        </p:nvGraphicFramePr>
        <p:xfrm>
          <a:off x="857250" y="135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{2B53D431-7BEC-4D15-97AF-1AFE7DACE8DB}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Sample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0.7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0.5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/>
                        <a:t>0.6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79" name="Google Shape;27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1650" y="1350175"/>
            <a:ext cx="499556" cy="3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4900" y="1354902"/>
            <a:ext cx="499550" cy="386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6625" y="1357800"/>
            <a:ext cx="430650" cy="380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33600" y="1350175"/>
            <a:ext cx="430652" cy="3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57250" y="549918"/>
            <a:ext cx="3377650" cy="628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625" y="2954350"/>
            <a:ext cx="72199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3875" y="1644175"/>
            <a:ext cx="626745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>
            <p:ph type="ctrTitle"/>
          </p:nvPr>
        </p:nvSpPr>
        <p:spPr>
          <a:xfrm>
            <a:off x="311708" y="1149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Bias &amp; Variance Trade-off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/>
        </p:nvSpPr>
        <p:spPr>
          <a:xfrm>
            <a:off x="549775" y="797900"/>
            <a:ext cx="7835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</a:rPr>
              <a:t>What is Bias? 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Bias</a:t>
            </a:r>
            <a:r>
              <a:rPr lang="en-GB" sz="1800">
                <a:solidFill>
                  <a:schemeClr val="dk1"/>
                </a:solidFill>
              </a:rPr>
              <a:t> is the error caused by </a:t>
            </a:r>
            <a:r>
              <a:rPr b="1" lang="en-GB" sz="1800">
                <a:solidFill>
                  <a:schemeClr val="dk1"/>
                </a:solidFill>
              </a:rPr>
              <a:t>simplifying</a:t>
            </a:r>
            <a:r>
              <a:rPr lang="en-GB" sz="1800">
                <a:solidFill>
                  <a:schemeClr val="dk1"/>
                </a:solidFill>
              </a:rPr>
              <a:t> the model too much.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A model with </a:t>
            </a:r>
            <a:r>
              <a:rPr b="1" lang="en-GB" sz="1800">
                <a:solidFill>
                  <a:schemeClr val="dk1"/>
                </a:solidFill>
              </a:rPr>
              <a:t>high bias</a:t>
            </a:r>
            <a:r>
              <a:rPr lang="en-GB" sz="1800">
                <a:solidFill>
                  <a:schemeClr val="dk1"/>
                </a:solidFill>
              </a:rPr>
              <a:t> makes strong assumptions about the data.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It doesn’t learn well from the training data and </a:t>
            </a:r>
            <a:r>
              <a:rPr b="1" lang="en-GB" sz="1800">
                <a:solidFill>
                  <a:schemeClr val="dk1"/>
                </a:solidFill>
              </a:rPr>
              <a:t>underfits</a:t>
            </a:r>
            <a:r>
              <a:rPr lang="en-GB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type="ctrTitle"/>
          </p:nvPr>
        </p:nvSpPr>
        <p:spPr>
          <a:xfrm>
            <a:off x="397633" y="2110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430"/>
              <a:t>What is Variance? </a:t>
            </a:r>
            <a:endParaRPr b="1" sz="2430"/>
          </a:p>
          <a:p>
            <a:pPr indent="-34861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90"/>
              <a:buChar char="●"/>
            </a:pPr>
            <a:r>
              <a:rPr b="1" lang="en-GB" sz="1890"/>
              <a:t>Variance</a:t>
            </a:r>
            <a:r>
              <a:rPr lang="en-GB" sz="1890"/>
              <a:t> is the error caused by a model being </a:t>
            </a:r>
            <a:r>
              <a:rPr b="1" lang="en-GB" sz="1890"/>
              <a:t>too complex</a:t>
            </a:r>
            <a:r>
              <a:rPr lang="en-GB" sz="1890"/>
              <a:t> and sensitive to small changes in data.</a:t>
            </a:r>
            <a:endParaRPr sz="1890"/>
          </a:p>
          <a:p>
            <a:pPr indent="-3486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90"/>
              <a:buChar char="●"/>
            </a:pPr>
            <a:r>
              <a:rPr lang="en-GB" sz="1890"/>
              <a:t>A model with </a:t>
            </a:r>
            <a:r>
              <a:rPr b="1" lang="en-GB" sz="1890"/>
              <a:t>high variance</a:t>
            </a:r>
            <a:r>
              <a:rPr lang="en-GB" sz="1890"/>
              <a:t> learns the noise in the training data instead of the real pattern.</a:t>
            </a:r>
            <a:endParaRPr sz="1890"/>
          </a:p>
          <a:p>
            <a:pPr indent="-34861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90"/>
              <a:buChar char="●"/>
            </a:pPr>
            <a:r>
              <a:rPr lang="en-GB" sz="1890"/>
              <a:t>It </a:t>
            </a:r>
            <a:r>
              <a:rPr b="1" lang="en-GB" sz="1890"/>
              <a:t>overfits</a:t>
            </a:r>
            <a:r>
              <a:rPr lang="en-GB" sz="1890"/>
              <a:t> and performs poorly on unseen data.</a:t>
            </a:r>
            <a:endParaRPr sz="189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558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225" y="552450"/>
            <a:ext cx="584835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/>
          <p:nvPr>
            <p:ph type="ctrTitle"/>
          </p:nvPr>
        </p:nvSpPr>
        <p:spPr>
          <a:xfrm>
            <a:off x="508108" y="25717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300"/>
              <a:t>How to Reduce Bias and Variance?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/>
              <a:t>Reducing Bias (Fix Underfitting)</a:t>
            </a:r>
            <a:endParaRPr b="1" sz="19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lang="en-GB" sz="1700"/>
              <a:t>Use a </a:t>
            </a:r>
            <a:r>
              <a:rPr b="1" lang="en-GB" sz="1700"/>
              <a:t>more complex model</a:t>
            </a:r>
            <a:r>
              <a:rPr lang="en-GB" sz="1700"/>
              <a:t> (e.g., add layers to a neural network).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-GB" sz="1700"/>
              <a:t>Train for </a:t>
            </a:r>
            <a:r>
              <a:rPr b="1" lang="en-GB" sz="1700"/>
              <a:t>more epochs</a:t>
            </a:r>
            <a:r>
              <a:rPr lang="en-GB" sz="1700"/>
              <a:t> (longer training).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-GB" sz="1700"/>
              <a:t>Reduce regularization</a:t>
            </a:r>
            <a:r>
              <a:rPr lang="en-GB" sz="1700"/>
              <a:t> (if using L1/L2 regularization).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900"/>
              <a:t>Reducing Variance (Fix Overfitting)</a:t>
            </a:r>
            <a:endParaRPr b="1" sz="19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AutoNum type="arabicPeriod"/>
            </a:pPr>
            <a:r>
              <a:rPr b="1" lang="en-GB" sz="1700"/>
              <a:t>Use more training data</a:t>
            </a:r>
            <a:r>
              <a:rPr lang="en-GB" sz="1700"/>
              <a:t> (helps the model generalize).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-GB" sz="1700"/>
              <a:t>Use regularization</a:t>
            </a:r>
            <a:r>
              <a:rPr lang="en-GB" sz="1700"/>
              <a:t> (L1, L2, Dropout).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b="1" lang="en-GB" sz="1700"/>
              <a:t>Simplify the model</a:t>
            </a:r>
            <a:r>
              <a:rPr lang="en-GB" sz="1700"/>
              <a:t> (fewer layers, less complexity).</a:t>
            </a:r>
            <a:endParaRPr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303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Optimizers</a:t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4"/>
          <p:cNvSpPr txBox="1"/>
          <p:nvPr>
            <p:ph idx="1" type="subTitle"/>
          </p:nvPr>
        </p:nvSpPr>
        <p:spPr>
          <a:xfrm>
            <a:off x="311700" y="1201475"/>
            <a:ext cx="85206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Epoch</a:t>
            </a:r>
            <a:r>
              <a:rPr lang="en-GB" sz="2000"/>
              <a:t> is the number of times the algorithm iterates over the entire training dataset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Batch</a:t>
            </a:r>
            <a:r>
              <a:rPr lang="en-GB" sz="2000"/>
              <a:t> refer to the number of samples used for updating the model parameters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GB" sz="2000"/>
              <a:t>A </a:t>
            </a:r>
            <a:r>
              <a:rPr b="1" lang="en-GB" sz="2000"/>
              <a:t>sample</a:t>
            </a:r>
            <a:r>
              <a:rPr lang="en-GB" sz="2000"/>
              <a:t> is a single record of data in a dataset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Learning Rate</a:t>
            </a:r>
            <a:r>
              <a:rPr lang="en-GB" sz="2000"/>
              <a:t> is a parameter determining the scale of model weight updates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GB" sz="2000"/>
              <a:t>Weights and Bias</a:t>
            </a:r>
            <a:r>
              <a:rPr lang="en-GB" sz="2000"/>
              <a:t> are learnable parameters in a model that regulate the signal between two neurons.</a:t>
            </a:r>
            <a:endParaRPr sz="2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ctrTitle"/>
          </p:nvPr>
        </p:nvSpPr>
        <p:spPr>
          <a:xfrm>
            <a:off x="311708" y="-8770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Gradient Descent</a:t>
            </a:r>
            <a:endParaRPr/>
          </a:p>
        </p:txBody>
      </p:sp>
      <p:pic>
        <p:nvPicPr>
          <p:cNvPr id="332" name="Google Shape;33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225" y="1175600"/>
            <a:ext cx="4009424" cy="23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3125" y="1343275"/>
            <a:ext cx="3275999" cy="210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6825" y="3886325"/>
            <a:ext cx="4324749" cy="96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6"/>
          <p:cNvSpPr txBox="1"/>
          <p:nvPr>
            <p:ph idx="1" type="subTitle"/>
          </p:nvPr>
        </p:nvSpPr>
        <p:spPr>
          <a:xfrm>
            <a:off x="311700" y="1201475"/>
            <a:ext cx="85206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In </a:t>
            </a:r>
            <a:r>
              <a:rPr b="1" lang="en-GB" sz="2000">
                <a:solidFill>
                  <a:schemeClr val="dk1"/>
                </a:solidFill>
              </a:rPr>
              <a:t>Gradient Descent</a:t>
            </a:r>
            <a:r>
              <a:rPr lang="en-GB" sz="2000">
                <a:solidFill>
                  <a:schemeClr val="dk1"/>
                </a:solidFill>
              </a:rPr>
              <a:t>, a single step is taken by considering the entirety of the training data.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The process involves calculating the average of the gradients for all training examples, and this mean gradient is employed to update the parameters.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This constitutes a </a:t>
            </a:r>
            <a:r>
              <a:rPr b="1" lang="en-GB" sz="2000">
                <a:solidFill>
                  <a:schemeClr val="dk1"/>
                </a:solidFill>
              </a:rPr>
              <a:t>singular step</a:t>
            </a:r>
            <a:r>
              <a:rPr lang="en-GB" sz="2000">
                <a:solidFill>
                  <a:schemeClr val="dk1"/>
                </a:solidFill>
              </a:rPr>
              <a:t> in the Gradient Descent process within a single epoch or iteration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7"/>
          <p:cNvSpPr txBox="1"/>
          <p:nvPr>
            <p:ph idx="1" type="subTitle"/>
          </p:nvPr>
        </p:nvSpPr>
        <p:spPr>
          <a:xfrm>
            <a:off x="311700" y="1201475"/>
            <a:ext cx="85206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A</a:t>
            </a:r>
            <a:r>
              <a:rPr lang="en-GB" sz="2000">
                <a:solidFill>
                  <a:schemeClr val="dk1"/>
                </a:solidFill>
              </a:rPr>
              <a:t> </a:t>
            </a:r>
            <a:r>
              <a:rPr b="1" lang="en-GB" sz="2000">
                <a:solidFill>
                  <a:schemeClr val="dk1"/>
                </a:solidFill>
              </a:rPr>
              <a:t>single step</a:t>
            </a:r>
            <a:r>
              <a:rPr lang="en-GB" sz="2000">
                <a:solidFill>
                  <a:schemeClr val="dk1"/>
                </a:solidFill>
              </a:rPr>
              <a:t> is taken by considering the entirety of the training data.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Calculate the </a:t>
            </a:r>
            <a:r>
              <a:rPr b="1" lang="en-GB" sz="2000">
                <a:solidFill>
                  <a:schemeClr val="dk1"/>
                </a:solidFill>
              </a:rPr>
              <a:t>average</a:t>
            </a:r>
            <a:r>
              <a:rPr lang="en-GB" sz="2000">
                <a:solidFill>
                  <a:schemeClr val="dk1"/>
                </a:solidFill>
              </a:rPr>
              <a:t> of the gradients for all training examples, and this mean gradient is employed to </a:t>
            </a:r>
            <a:r>
              <a:rPr b="1" lang="en-GB" sz="2000">
                <a:solidFill>
                  <a:schemeClr val="dk1"/>
                </a:solidFill>
              </a:rPr>
              <a:t>update</a:t>
            </a:r>
            <a:r>
              <a:rPr lang="en-GB" sz="2000">
                <a:solidFill>
                  <a:schemeClr val="dk1"/>
                </a:solidFill>
              </a:rPr>
              <a:t> the parameters.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</a:rPr>
              <a:t>This constitutes a </a:t>
            </a:r>
            <a:r>
              <a:rPr b="1" lang="en-GB" sz="2000">
                <a:solidFill>
                  <a:schemeClr val="dk1"/>
                </a:solidFill>
              </a:rPr>
              <a:t>singular</a:t>
            </a:r>
            <a:r>
              <a:rPr lang="en-GB" sz="2000">
                <a:solidFill>
                  <a:schemeClr val="dk1"/>
                </a:solidFill>
              </a:rPr>
              <a:t> step in the Gradient Descent process within a single epoch or iteration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1" name="Google Shape;351;p58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{2B53D431-7BEC-4D15-97AF-1AFE7DACE8DB}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Input Feature(x)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Actual Price(y)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1,50,000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2,50,000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</a:rPr>
                        <a:t>1500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3,20,000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4,50,000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2500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5,50,000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 txBox="1"/>
          <p:nvPr>
            <p:ph type="ctrTitle"/>
          </p:nvPr>
        </p:nvSpPr>
        <p:spPr>
          <a:xfrm>
            <a:off x="311708" y="1149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Stochastic Gradient Descent (SGD)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60"/>
          <p:cNvSpPr txBox="1"/>
          <p:nvPr>
            <p:ph idx="1" type="subTitle"/>
          </p:nvPr>
        </p:nvSpPr>
        <p:spPr>
          <a:xfrm>
            <a:off x="311700" y="1201475"/>
            <a:ext cx="85206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</a:t>
            </a:r>
            <a:r>
              <a:rPr lang="en-GB" sz="2000"/>
              <a:t>n SGD, we compute the gradient using one data point at a time. </a:t>
            </a:r>
            <a:br>
              <a:rPr lang="en-GB" sz="2000"/>
            </a:br>
            <a:br>
              <a:rPr lang="en-GB" sz="2000"/>
            </a:br>
            <a:r>
              <a:rPr lang="en-GB" sz="2000"/>
              <a:t>After processing one data point, we immediately update the model parameters and move to the next data point.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1"/>
          <p:cNvSpPr txBox="1"/>
          <p:nvPr>
            <p:ph idx="1" type="subTitle"/>
          </p:nvPr>
        </p:nvSpPr>
        <p:spPr>
          <a:xfrm>
            <a:off x="311700" y="1201475"/>
            <a:ext cx="85206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SGD, we compute the gradient using one data point at a time. </a:t>
            </a:r>
            <a:br>
              <a:rPr lang="en-GB" sz="2000"/>
            </a:br>
            <a:br>
              <a:rPr lang="en-GB" sz="2000"/>
            </a:br>
            <a:r>
              <a:rPr lang="en-GB" sz="2000"/>
              <a:t>After processing one data point, we immediately update the model parameters and move to the next data point.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So, if the dataset contains </a:t>
            </a:r>
            <a:r>
              <a:rPr b="1" lang="en-GB" sz="2000"/>
              <a:t>10000</a:t>
            </a:r>
            <a:r>
              <a:rPr lang="en-GB" sz="2000"/>
              <a:t> rows, SGD will update the model parameters </a:t>
            </a:r>
            <a:r>
              <a:rPr b="1" lang="en-GB" sz="2000"/>
              <a:t>10000</a:t>
            </a:r>
            <a:r>
              <a:rPr lang="en-GB" sz="2000"/>
              <a:t> times in a </a:t>
            </a:r>
            <a:r>
              <a:rPr b="1" lang="en-GB" sz="2000"/>
              <a:t>single</a:t>
            </a:r>
            <a:r>
              <a:rPr lang="en-GB" sz="2000"/>
              <a:t> </a:t>
            </a:r>
            <a:r>
              <a:rPr b="1" lang="en-GB" sz="2000"/>
              <a:t>cycle</a:t>
            </a:r>
            <a:r>
              <a:rPr lang="en-GB" sz="2000"/>
              <a:t> through the dataset, as opposed to just once in the case of Gradient Descent.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6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44575"/>
            <a:ext cx="8520601" cy="370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3"/>
          <p:cNvSpPr txBox="1"/>
          <p:nvPr>
            <p:ph type="ctrTitle"/>
          </p:nvPr>
        </p:nvSpPr>
        <p:spPr>
          <a:xfrm>
            <a:off x="311708" y="1149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Mini-Batch Gradient Descent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4"/>
          <p:cNvSpPr txBox="1"/>
          <p:nvPr>
            <p:ph type="ctrTitle"/>
          </p:nvPr>
        </p:nvSpPr>
        <p:spPr>
          <a:xfrm>
            <a:off x="1011401" y="1824800"/>
            <a:ext cx="7300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/>
              <a:t>Total Records</a:t>
            </a:r>
            <a:r>
              <a:rPr lang="en-GB" sz="2100"/>
              <a:t>: 10,000 records (data points)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/>
              <a:t>Batch Size</a:t>
            </a:r>
            <a:r>
              <a:rPr lang="en-GB" sz="2100"/>
              <a:t>: 100 (i.e., the number of data points per mini-batch)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/>
              <a:t>Epochs</a:t>
            </a:r>
            <a:r>
              <a:rPr lang="en-GB" sz="2100"/>
              <a:t>: 10 (an epoch means one complete pass through the entire dataset)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 txBox="1"/>
          <p:nvPr>
            <p:ph type="ctrTitle"/>
          </p:nvPr>
        </p:nvSpPr>
        <p:spPr>
          <a:xfrm>
            <a:off x="1011401" y="1824800"/>
            <a:ext cx="7300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/>
              <a:t>Total Records</a:t>
            </a:r>
            <a:r>
              <a:rPr lang="en-GB" sz="2100"/>
              <a:t>: 10,000 records (data points)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/>
              <a:t>Batch Size</a:t>
            </a:r>
            <a:r>
              <a:rPr lang="en-GB" sz="2100"/>
              <a:t>: 100 (i.e., the number of data points per mini-batch)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/>
              <a:t>Epochs</a:t>
            </a:r>
            <a:r>
              <a:rPr lang="en-GB" sz="2100"/>
              <a:t>: 10 (an epoch means one complete pass through the entire dataset)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200"/>
          </a:p>
        </p:txBody>
      </p:sp>
      <p:pic>
        <p:nvPicPr>
          <p:cNvPr id="389" name="Google Shape;38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38" y="2998350"/>
            <a:ext cx="8957324" cy="8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6"/>
          <p:cNvSpPr txBox="1"/>
          <p:nvPr>
            <p:ph type="ctrTitle"/>
          </p:nvPr>
        </p:nvSpPr>
        <p:spPr>
          <a:xfrm>
            <a:off x="1011401" y="1824800"/>
            <a:ext cx="73005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/>
              <a:t>Total Records</a:t>
            </a:r>
            <a:r>
              <a:rPr lang="en-GB" sz="2100"/>
              <a:t>: 10,000 records (data points)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/>
              <a:t>Batch Size</a:t>
            </a:r>
            <a:r>
              <a:rPr lang="en-GB" sz="2100"/>
              <a:t>: 100 (i.e., the number of data points per mini-batch)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/>
              <a:t>Epochs</a:t>
            </a:r>
            <a:r>
              <a:rPr lang="en-GB" sz="2100"/>
              <a:t>: 10 (an epoch means one complete pass through the entire dataset)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200"/>
          </a:p>
        </p:txBody>
      </p:sp>
      <p:pic>
        <p:nvPicPr>
          <p:cNvPr id="395" name="Google Shape;39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38" y="2998350"/>
            <a:ext cx="8957324" cy="87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00" y="4121550"/>
            <a:ext cx="8178849" cy="5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6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40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83140"/>
            <a:ext cx="9144001" cy="3977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73799"/>
            <a:ext cx="9144002" cy="439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625" y="238325"/>
            <a:ext cx="6753651" cy="450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