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FA0E1F-98ED-4E6B-A55F-B6CA2B5AA33A}">
  <a:tblStyle styleId="{71FA0E1F-98ED-4E6B-A55F-B6CA2B5AA3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f72abe5c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f72abe5c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2f72abe5c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2f72abe5c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f72abe5c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f72abe5c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f72abe5c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f72abe5c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2f72abe5c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2f72abe5c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f72abe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f72abe5c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f72abe5c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2f72abe5c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f72abe5c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f72abe5c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f72abe5c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f72abe5c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f72abe5c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2f72abe5c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f72abe5c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f72abe5c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f72abe5c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2f72abe5c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f72abe5c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2f72abe5c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f72abe5c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f72abe5c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f72abe5c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f72abe5c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f72abe5c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f72abe5c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f72abe5c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f72abe5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f72abe5c6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f72abe5c6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2f72abe5c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2f72abe5c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f72abe5c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f72abe5c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f72abe5c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2f72abe5c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f72abe5c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f72abe5c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f72abe5c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2f72abe5c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f72abe5c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f72abe5c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f72abe5c6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f72abe5c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f72abe5c6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f72abe5c6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f72abe5c6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f72abe5c6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f72abe5c6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f72abe5c6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f72abe5c6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f72abe5c6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f72abe5c6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2f72abe5c6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f72abe5c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f72abe5c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f72abe5c6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2f72abe5c6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f72abe5c6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2f72abe5c6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f72abe5c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2f72abe5c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f72abe5c6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2f72abe5c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2f72abe5c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2f72abe5c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f72abe5c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f72abe5c6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2f72abe5c6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2f72abe5c6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2f72abe5c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2f72abe5c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2f72abe5c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2f72abe5c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f72abe5c6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f72abe5c6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2f72abe5c6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2f72abe5c6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2f72abe5c6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2f72abe5c6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2f72abe5c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2f72abe5c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2f72abe5c6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2f72abe5c6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2f72abe5c6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2f72abe5c6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f72abe5c6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f72abe5c6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f72abe5c6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2f72abe5c6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2f72abe5c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2f72abe5c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2f72abe5c6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2f72abe5c6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2f72abe5c6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2f72abe5c6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2f72abe5c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2f72abe5c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2f72abe5c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2f72abe5c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2f72abe5c6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2f72abe5c6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2f72abe5c6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2f72abe5c6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2f72abe5c6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2f72abe5c6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2f72abe5c6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2f72abe5c6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2f72abe5c6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2f72abe5c6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2f72abe5c6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2f72abe5c6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2f72abe5c6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2f72abe5c6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f72abe5c6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f72abe5c6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2f72abe5c6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2f72abe5c6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f72abe5c6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2f72abe5c6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2f72abe5c6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2f72abe5c6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6.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9.png"/><Relationship Id="rId4" Type="http://schemas.openxmlformats.org/officeDocument/2006/relationships/image" Target="../media/image41.png"/><Relationship Id="rId5"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https://www.zomato.com/" TargetMode="External"/><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2.png"/><Relationship Id="rId4" Type="http://schemas.openxmlformats.org/officeDocument/2006/relationships/image" Target="../media/image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6.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5.png"/><Relationship Id="rId4"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2.png"/><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7.png"/><Relationship Id="rId4" Type="http://schemas.openxmlformats.org/officeDocument/2006/relationships/image" Target="../media/image48.png"/><Relationship Id="rId5"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5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t>Data Mining</a:t>
            </a:r>
            <a:endParaRPr b="1"/>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1" name="Google Shape;61;p14"/>
          <p:cNvPicPr preferRelativeResize="0"/>
          <p:nvPr/>
        </p:nvPicPr>
        <p:blipFill>
          <a:blip r:embed="rId3">
            <a:alphaModFix/>
          </a:blip>
          <a:stretch>
            <a:fillRect/>
          </a:stretch>
        </p:blipFill>
        <p:spPr>
          <a:xfrm>
            <a:off x="0" y="0"/>
            <a:ext cx="9144000" cy="517443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2819175"/>
            <a:ext cx="8520600" cy="2052600"/>
          </a:xfrm>
          <a:prstGeom prst="rect">
            <a:avLst/>
          </a:prstGeom>
        </p:spPr>
        <p:txBody>
          <a:bodyPr anchorCtr="0" anchor="b" bIns="91425" lIns="91425" spcFirstLastPara="1" rIns="91425" wrap="square" tIns="91425">
            <a:noAutofit/>
          </a:bodyPr>
          <a:lstStyle/>
          <a:p>
            <a:pPr indent="-356235" lvl="0" marL="457200" rtl="0" algn="l">
              <a:spcBef>
                <a:spcPts val="0"/>
              </a:spcBef>
              <a:spcAft>
                <a:spcPts val="0"/>
              </a:spcAft>
              <a:buSzPts val="2010"/>
              <a:buChar char="●"/>
            </a:pPr>
            <a:r>
              <a:rPr b="1" lang="en-GB" sz="2010"/>
              <a:t>Preprocessing: </a:t>
            </a:r>
            <a:r>
              <a:rPr lang="en-GB" sz="2010"/>
              <a:t>Real data is noisy, incomplete and inconsistent. </a:t>
            </a:r>
            <a:endParaRPr sz="2010"/>
          </a:p>
          <a:p>
            <a:pPr indent="0" lvl="0" marL="457200" rtl="0" algn="l">
              <a:spcBef>
                <a:spcPts val="0"/>
              </a:spcBef>
              <a:spcAft>
                <a:spcPts val="0"/>
              </a:spcAft>
              <a:buSzPts val="990"/>
              <a:buNone/>
            </a:pPr>
            <a:r>
              <a:t/>
            </a:r>
            <a:endParaRPr sz="2010"/>
          </a:p>
          <a:p>
            <a:pPr indent="-356235" lvl="0" marL="457200" rtl="0" algn="l">
              <a:spcBef>
                <a:spcPts val="0"/>
              </a:spcBef>
              <a:spcAft>
                <a:spcPts val="0"/>
              </a:spcAft>
              <a:buSzPts val="2010"/>
              <a:buChar char="●"/>
            </a:pPr>
            <a:r>
              <a:rPr b="1" lang="en-GB" sz="2010"/>
              <a:t>Data cleaning</a:t>
            </a:r>
            <a:r>
              <a:rPr lang="en-GB" sz="2010"/>
              <a:t> is required to make sense of the data </a:t>
            </a:r>
            <a:endParaRPr sz="2010"/>
          </a:p>
          <a:p>
            <a:pPr indent="-356235" lvl="1" marL="914400" rtl="0" algn="l">
              <a:spcBef>
                <a:spcPts val="0"/>
              </a:spcBef>
              <a:spcAft>
                <a:spcPts val="0"/>
              </a:spcAft>
              <a:buSzPts val="2010"/>
              <a:buChar char="○"/>
            </a:pPr>
            <a:r>
              <a:rPr lang="en-GB" sz="2010"/>
              <a:t>Techniques: Sampling, Dimensionality Reduction, Feature Selection.</a:t>
            </a:r>
            <a:endParaRPr sz="2010"/>
          </a:p>
          <a:p>
            <a:pPr indent="0" lvl="0" marL="914400" rtl="0" algn="l">
              <a:spcBef>
                <a:spcPts val="0"/>
              </a:spcBef>
              <a:spcAft>
                <a:spcPts val="0"/>
              </a:spcAft>
              <a:buSzPts val="990"/>
              <a:buNone/>
            </a:pPr>
            <a:r>
              <a:rPr lang="en-GB" sz="2010"/>
              <a:t> </a:t>
            </a:r>
            <a:endParaRPr sz="2010"/>
          </a:p>
          <a:p>
            <a:pPr indent="-356235" lvl="0" marL="457200" rtl="0" algn="l">
              <a:spcBef>
                <a:spcPts val="0"/>
              </a:spcBef>
              <a:spcAft>
                <a:spcPts val="0"/>
              </a:spcAft>
              <a:buSzPts val="2010"/>
              <a:buChar char="●"/>
            </a:pPr>
            <a:r>
              <a:rPr b="1" lang="en-GB" sz="2010"/>
              <a:t>Post-Processing:</a:t>
            </a:r>
            <a:r>
              <a:rPr lang="en-GB" sz="2010"/>
              <a:t> Make the data actionable and useful to the user : </a:t>
            </a:r>
            <a:endParaRPr sz="2010"/>
          </a:p>
          <a:p>
            <a:pPr indent="-356235" lvl="1" marL="914400" rtl="0" algn="l">
              <a:spcBef>
                <a:spcPts val="0"/>
              </a:spcBef>
              <a:spcAft>
                <a:spcPts val="0"/>
              </a:spcAft>
              <a:buSzPts val="2010"/>
              <a:buChar char="○"/>
            </a:pPr>
            <a:r>
              <a:rPr lang="en-GB" sz="2010"/>
              <a:t>Statistical analysis of importance &amp; Visualization</a:t>
            </a:r>
            <a:endParaRPr sz="2010"/>
          </a:p>
        </p:txBody>
      </p:sp>
      <p:pic>
        <p:nvPicPr>
          <p:cNvPr id="67" name="Google Shape;67;p15"/>
          <p:cNvPicPr preferRelativeResize="0"/>
          <p:nvPr/>
        </p:nvPicPr>
        <p:blipFill>
          <a:blip r:embed="rId3">
            <a:alphaModFix/>
          </a:blip>
          <a:stretch>
            <a:fillRect/>
          </a:stretch>
        </p:blipFill>
        <p:spPr>
          <a:xfrm>
            <a:off x="268800" y="776150"/>
            <a:ext cx="8606401" cy="1455250"/>
          </a:xfrm>
          <a:prstGeom prst="rect">
            <a:avLst/>
          </a:prstGeom>
          <a:noFill/>
          <a:ln>
            <a:noFill/>
          </a:ln>
        </p:spPr>
      </p:pic>
      <p:sp>
        <p:nvSpPr>
          <p:cNvPr id="68" name="Google Shape;68;p15"/>
          <p:cNvSpPr txBox="1"/>
          <p:nvPr/>
        </p:nvSpPr>
        <p:spPr>
          <a:xfrm>
            <a:off x="2982300" y="192175"/>
            <a:ext cx="3179400" cy="7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2"/>
                </a:solidFill>
              </a:rPr>
              <a:t>The Analysis Pipeline</a:t>
            </a:r>
            <a:endParaRPr b="1" sz="2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subTitle"/>
          </p:nvPr>
        </p:nvSpPr>
        <p:spPr>
          <a:xfrm>
            <a:off x="541275" y="1213750"/>
            <a:ext cx="8520600" cy="792600"/>
          </a:xfrm>
          <a:prstGeom prst="rect">
            <a:avLst/>
          </a:prstGeom>
        </p:spPr>
        <p:txBody>
          <a:bodyPr anchorCtr="0" anchor="t" bIns="91425" lIns="91425" spcFirstLastPara="1" rIns="91425" wrap="square" tIns="91425">
            <a:noAutofit/>
          </a:bodyPr>
          <a:lstStyle/>
          <a:p>
            <a:pPr indent="-381000" lvl="0" marL="457200" rtl="0" algn="l">
              <a:lnSpc>
                <a:spcPct val="80000"/>
              </a:lnSpc>
              <a:spcBef>
                <a:spcPts val="0"/>
              </a:spcBef>
              <a:spcAft>
                <a:spcPts val="0"/>
              </a:spcAft>
              <a:buSzPts val="2400"/>
              <a:buChar char="●"/>
            </a:pPr>
            <a:r>
              <a:rPr lang="en-GB" sz="2400"/>
              <a:t>Feature Values </a:t>
            </a:r>
            <a:endParaRPr sz="2400"/>
          </a:p>
          <a:p>
            <a:pPr indent="-381000" lvl="0" marL="457200" rtl="0" algn="l">
              <a:lnSpc>
                <a:spcPct val="80000"/>
              </a:lnSpc>
              <a:spcBef>
                <a:spcPts val="0"/>
              </a:spcBef>
              <a:spcAft>
                <a:spcPts val="0"/>
              </a:spcAft>
              <a:buSzPts val="2400"/>
              <a:buChar char="●"/>
            </a:pPr>
            <a:r>
              <a:rPr lang="en-GB" sz="2400"/>
              <a:t>Feature</a:t>
            </a:r>
            <a:r>
              <a:rPr lang="en-GB" sz="2400"/>
              <a:t> Transformation  </a:t>
            </a:r>
            <a:endParaRPr sz="2400"/>
          </a:p>
          <a:p>
            <a:pPr indent="-381000" lvl="1" marL="914400" rtl="0" algn="l">
              <a:lnSpc>
                <a:spcPct val="80000"/>
              </a:lnSpc>
              <a:spcBef>
                <a:spcPts val="0"/>
              </a:spcBef>
              <a:spcAft>
                <a:spcPts val="0"/>
              </a:spcAft>
              <a:buSzPts val="2400"/>
              <a:buChar char="○"/>
            </a:pPr>
            <a:r>
              <a:rPr lang="en-GB" sz="2400"/>
              <a:t>Normalization (Standardization)  </a:t>
            </a:r>
            <a:endParaRPr sz="2400"/>
          </a:p>
          <a:p>
            <a:pPr indent="-381000" lvl="1" marL="914400" rtl="0" algn="l">
              <a:lnSpc>
                <a:spcPct val="80000"/>
              </a:lnSpc>
              <a:spcBef>
                <a:spcPts val="0"/>
              </a:spcBef>
              <a:spcAft>
                <a:spcPts val="0"/>
              </a:spcAft>
              <a:buSzPts val="2400"/>
              <a:buChar char="○"/>
            </a:pPr>
            <a:r>
              <a:rPr lang="en-GB" sz="2400"/>
              <a:t>Aggregation  </a:t>
            </a:r>
            <a:endParaRPr sz="2400"/>
          </a:p>
          <a:p>
            <a:pPr indent="-381000" lvl="1" marL="914400" rtl="0" algn="l">
              <a:lnSpc>
                <a:spcPct val="80000"/>
              </a:lnSpc>
              <a:spcBef>
                <a:spcPts val="0"/>
              </a:spcBef>
              <a:spcAft>
                <a:spcPts val="0"/>
              </a:spcAft>
              <a:buSzPts val="2400"/>
              <a:buChar char="○"/>
            </a:pPr>
            <a:r>
              <a:rPr lang="en-GB" sz="2400"/>
              <a:t>Discretization  </a:t>
            </a:r>
            <a:endParaRPr sz="2400"/>
          </a:p>
          <a:p>
            <a:pPr indent="-381000" lvl="0" marL="457200" rtl="0" algn="l">
              <a:lnSpc>
                <a:spcPct val="80000"/>
              </a:lnSpc>
              <a:spcBef>
                <a:spcPts val="0"/>
              </a:spcBef>
              <a:spcAft>
                <a:spcPts val="0"/>
              </a:spcAft>
              <a:buSzPts val="2400"/>
              <a:buChar char="●"/>
            </a:pPr>
            <a:r>
              <a:rPr lang="en-GB" sz="2400"/>
              <a:t>Sampling  </a:t>
            </a:r>
            <a:endParaRPr sz="2400"/>
          </a:p>
          <a:p>
            <a:pPr indent="-381000" lvl="0" marL="457200" rtl="0" algn="l">
              <a:lnSpc>
                <a:spcPct val="80000"/>
              </a:lnSpc>
              <a:spcBef>
                <a:spcPts val="0"/>
              </a:spcBef>
              <a:spcAft>
                <a:spcPts val="0"/>
              </a:spcAft>
              <a:buSzPts val="2400"/>
              <a:buChar char="●"/>
            </a:pPr>
            <a:r>
              <a:rPr lang="en-GB" sz="2400"/>
              <a:t>Dimensionality Reduction  </a:t>
            </a:r>
            <a:endParaRPr sz="2400"/>
          </a:p>
          <a:p>
            <a:pPr indent="-381000" lvl="0" marL="457200" rtl="0" algn="l">
              <a:lnSpc>
                <a:spcPct val="80000"/>
              </a:lnSpc>
              <a:spcBef>
                <a:spcPts val="0"/>
              </a:spcBef>
              <a:spcAft>
                <a:spcPts val="0"/>
              </a:spcAft>
              <a:buSzPts val="2400"/>
              <a:buChar char="●"/>
            </a:pPr>
            <a:r>
              <a:rPr lang="en-GB" sz="2400"/>
              <a:t>Feature subset selection  </a:t>
            </a:r>
            <a:endParaRPr sz="2400"/>
          </a:p>
          <a:p>
            <a:pPr indent="-381000" lvl="0" marL="457200" rtl="0" algn="l">
              <a:lnSpc>
                <a:spcPct val="80000"/>
              </a:lnSpc>
              <a:spcBef>
                <a:spcPts val="0"/>
              </a:spcBef>
              <a:spcAft>
                <a:spcPts val="0"/>
              </a:spcAft>
              <a:buSzPts val="2400"/>
              <a:buChar char="●"/>
            </a:pPr>
            <a:r>
              <a:rPr lang="en-GB" sz="2400"/>
              <a:t>Distance/Similarity Calculation  </a:t>
            </a:r>
            <a:endParaRPr sz="2400"/>
          </a:p>
          <a:p>
            <a:pPr indent="-381000" lvl="0" marL="457200" rtl="0" algn="l">
              <a:lnSpc>
                <a:spcPct val="80000"/>
              </a:lnSpc>
              <a:spcBef>
                <a:spcPts val="0"/>
              </a:spcBef>
              <a:spcAft>
                <a:spcPts val="0"/>
              </a:spcAft>
              <a:buSzPts val="2400"/>
              <a:buChar char="●"/>
            </a:pPr>
            <a:r>
              <a:rPr lang="en-GB" sz="2400"/>
              <a:t>Visualization</a:t>
            </a:r>
            <a:endParaRPr sz="2400"/>
          </a:p>
        </p:txBody>
      </p:sp>
      <p:sp>
        <p:nvSpPr>
          <p:cNvPr id="74" name="Google Shape;74;p16"/>
          <p:cNvSpPr txBox="1"/>
          <p:nvPr/>
        </p:nvSpPr>
        <p:spPr>
          <a:xfrm>
            <a:off x="541275" y="468825"/>
            <a:ext cx="5229300" cy="4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chemeClr val="dk2"/>
                </a:solidFill>
              </a:rPr>
              <a:t>Data Preprocessing</a:t>
            </a:r>
            <a:endParaRPr b="1" sz="30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subTitle"/>
          </p:nvPr>
        </p:nvSpPr>
        <p:spPr>
          <a:xfrm>
            <a:off x="311700" y="1826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t>Feature Values</a:t>
            </a:r>
            <a:endParaRPr b="1"/>
          </a:p>
        </p:txBody>
      </p:sp>
      <p:sp>
        <p:nvSpPr>
          <p:cNvPr id="80" name="Google Shape;80;p17"/>
          <p:cNvSpPr txBox="1"/>
          <p:nvPr/>
        </p:nvSpPr>
        <p:spPr>
          <a:xfrm>
            <a:off x="834000" y="726625"/>
            <a:ext cx="7476000" cy="6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2"/>
                </a:solidFill>
              </a:rPr>
              <a:t>Data is described using attribute values</a:t>
            </a:r>
            <a:endParaRPr sz="17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subTitle"/>
          </p:nvPr>
        </p:nvSpPr>
        <p:spPr>
          <a:xfrm>
            <a:off x="311700" y="1826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t>Feature Values</a:t>
            </a:r>
            <a:endParaRPr b="1"/>
          </a:p>
        </p:txBody>
      </p:sp>
      <p:sp>
        <p:nvSpPr>
          <p:cNvPr id="86" name="Google Shape;86;p18"/>
          <p:cNvSpPr txBox="1"/>
          <p:nvPr/>
        </p:nvSpPr>
        <p:spPr>
          <a:xfrm>
            <a:off x="834000" y="726625"/>
            <a:ext cx="7476000" cy="6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2"/>
                </a:solidFill>
              </a:rPr>
              <a:t>Data is described using attribute values</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n-GB" sz="1900">
                <a:solidFill>
                  <a:schemeClr val="dk2"/>
                </a:solidFill>
              </a:rPr>
              <a:t>Attribute values are </a:t>
            </a:r>
            <a:r>
              <a:rPr b="1" lang="en-GB" sz="1900">
                <a:solidFill>
                  <a:srgbClr val="6AA84F"/>
                </a:solidFill>
              </a:rPr>
              <a:t>numbers</a:t>
            </a:r>
            <a:r>
              <a:rPr lang="en-GB" sz="1900">
                <a:solidFill>
                  <a:schemeClr val="dk2"/>
                </a:solidFill>
              </a:rPr>
              <a:t> or </a:t>
            </a:r>
            <a:r>
              <a:rPr b="1" lang="en-GB" sz="1900">
                <a:solidFill>
                  <a:srgbClr val="6AA84F"/>
                </a:solidFill>
              </a:rPr>
              <a:t>symbols</a:t>
            </a:r>
            <a:r>
              <a:rPr lang="en-GB" sz="1900">
                <a:solidFill>
                  <a:schemeClr val="dk2"/>
                </a:solidFill>
              </a:rPr>
              <a:t> assigned to an attribute</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n-GB" sz="1900">
                <a:solidFill>
                  <a:schemeClr val="dk2"/>
                </a:solidFill>
              </a:rPr>
              <a:t>Distinction between attributes and attribute values  </a:t>
            </a:r>
            <a:endParaRPr sz="1900">
              <a:solidFill>
                <a:schemeClr val="dk2"/>
              </a:solidFill>
            </a:endParaRPr>
          </a:p>
          <a:p>
            <a:pPr indent="-349250" lvl="1" marL="914400" rtl="0" algn="l">
              <a:spcBef>
                <a:spcPts val="0"/>
              </a:spcBef>
              <a:spcAft>
                <a:spcPts val="0"/>
              </a:spcAft>
              <a:buClr>
                <a:schemeClr val="dk2"/>
              </a:buClr>
              <a:buSzPts val="1900"/>
              <a:buChar char="○"/>
            </a:pPr>
            <a:r>
              <a:rPr lang="en-GB" sz="1900">
                <a:solidFill>
                  <a:schemeClr val="dk2"/>
                </a:solidFill>
              </a:rPr>
              <a:t>Same attribute can be mapped to different attribute values  </a:t>
            </a:r>
            <a:endParaRPr sz="1900">
              <a:solidFill>
                <a:schemeClr val="dk2"/>
              </a:solidFill>
            </a:endParaRPr>
          </a:p>
          <a:p>
            <a:pPr indent="-336550" lvl="2" marL="1371600" rtl="0" algn="l">
              <a:spcBef>
                <a:spcPts val="0"/>
              </a:spcBef>
              <a:spcAft>
                <a:spcPts val="0"/>
              </a:spcAft>
              <a:buClr>
                <a:schemeClr val="dk2"/>
              </a:buClr>
              <a:buSzPts val="1700"/>
              <a:buChar char="■"/>
            </a:pPr>
            <a:r>
              <a:rPr lang="en-GB" sz="1700">
                <a:solidFill>
                  <a:schemeClr val="dk2"/>
                </a:solidFill>
              </a:rPr>
              <a:t>Example: height can be measured in feet or meters </a:t>
            </a:r>
            <a:endParaRPr sz="1700">
              <a:solidFill>
                <a:schemeClr val="dk2"/>
              </a:solidFill>
            </a:endParaRPr>
          </a:p>
          <a:p>
            <a:pPr indent="0" lvl="0" marL="1371600" rtl="0" algn="l">
              <a:spcBef>
                <a:spcPts val="0"/>
              </a:spcBef>
              <a:spcAft>
                <a:spcPts val="0"/>
              </a:spcAft>
              <a:buNone/>
            </a:pPr>
            <a:r>
              <a:rPr lang="en-GB" sz="1900">
                <a:solidFill>
                  <a:schemeClr val="dk2"/>
                </a:solidFill>
              </a:rPr>
              <a:t> </a:t>
            </a:r>
            <a:endParaRPr sz="1900">
              <a:solidFill>
                <a:schemeClr val="dk2"/>
              </a:solidFill>
            </a:endParaRPr>
          </a:p>
          <a:p>
            <a:pPr indent="-349250" lvl="1" marL="914400" rtl="0" algn="l">
              <a:spcBef>
                <a:spcPts val="0"/>
              </a:spcBef>
              <a:spcAft>
                <a:spcPts val="0"/>
              </a:spcAft>
              <a:buClr>
                <a:schemeClr val="dk2"/>
              </a:buClr>
              <a:buSzPts val="1900"/>
              <a:buChar char="○"/>
            </a:pPr>
            <a:r>
              <a:rPr lang="en-GB" sz="1900">
                <a:solidFill>
                  <a:schemeClr val="dk2"/>
                </a:solidFill>
              </a:rPr>
              <a:t>Different attributes can be mapped to the same set of values  </a:t>
            </a:r>
            <a:endParaRPr sz="1900">
              <a:solidFill>
                <a:schemeClr val="dk2"/>
              </a:solidFill>
            </a:endParaRPr>
          </a:p>
          <a:p>
            <a:pPr indent="-336550" lvl="2" marL="1371600" rtl="0" algn="l">
              <a:spcBef>
                <a:spcPts val="0"/>
              </a:spcBef>
              <a:spcAft>
                <a:spcPts val="0"/>
              </a:spcAft>
              <a:buClr>
                <a:schemeClr val="dk2"/>
              </a:buClr>
              <a:buSzPts val="1700"/>
              <a:buChar char="■"/>
            </a:pPr>
            <a:r>
              <a:rPr lang="en-GB" sz="1700">
                <a:solidFill>
                  <a:schemeClr val="dk2"/>
                </a:solidFill>
              </a:rPr>
              <a:t>Example: Attribute values for ID and age are integers</a:t>
            </a:r>
            <a:endParaRPr sz="1700">
              <a:solidFill>
                <a:schemeClr val="dk2"/>
              </a:solidFill>
            </a:endParaRPr>
          </a:p>
          <a:p>
            <a:pPr indent="-323850" lvl="2" marL="1371600" rtl="0" algn="l">
              <a:spcBef>
                <a:spcPts val="0"/>
              </a:spcBef>
              <a:spcAft>
                <a:spcPts val="0"/>
              </a:spcAft>
              <a:buClr>
                <a:schemeClr val="dk2"/>
              </a:buClr>
              <a:buSzPts val="1500"/>
              <a:buChar char="■"/>
            </a:pPr>
            <a:r>
              <a:rPr lang="en-GB" sz="1700">
                <a:solidFill>
                  <a:schemeClr val="dk2"/>
                </a:solidFill>
              </a:rPr>
              <a:t>But properties of attribute values can be different  ID has no limit but age has a maximum and minimum value</a:t>
            </a:r>
            <a:endParaRPr sz="17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13791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000"/>
              <a:t>Types of Attributes</a:t>
            </a:r>
            <a:endParaRPr sz="3000"/>
          </a:p>
        </p:txBody>
      </p:sp>
      <p:pic>
        <p:nvPicPr>
          <p:cNvPr id="92" name="Google Shape;92;p19"/>
          <p:cNvPicPr preferRelativeResize="0"/>
          <p:nvPr/>
        </p:nvPicPr>
        <p:blipFill rotWithShape="1">
          <a:blip r:embed="rId3">
            <a:alphaModFix/>
          </a:blip>
          <a:srcRect b="0" l="0" r="0" t="11488"/>
          <a:stretch/>
        </p:blipFill>
        <p:spPr>
          <a:xfrm>
            <a:off x="0" y="953250"/>
            <a:ext cx="9144000" cy="36583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8" name="Google Shape;98;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9" name="Google Shape;99;p20"/>
          <p:cNvPicPr preferRelativeResize="0"/>
          <p:nvPr/>
        </p:nvPicPr>
        <p:blipFill>
          <a:blip r:embed="rId3">
            <a:alphaModFix/>
          </a:blip>
          <a:stretch>
            <a:fillRect/>
          </a:stretch>
        </p:blipFill>
        <p:spPr>
          <a:xfrm>
            <a:off x="319274" y="0"/>
            <a:ext cx="8505450" cy="514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200"/>
              <a:t>Discrete and </a:t>
            </a:r>
            <a:r>
              <a:rPr lang="en-GB" sz="3200"/>
              <a:t>Continuous</a:t>
            </a:r>
            <a:r>
              <a:rPr lang="en-GB" sz="3200"/>
              <a:t> Attributes</a:t>
            </a:r>
            <a:endParaRPr sz="3200"/>
          </a:p>
        </p:txBody>
      </p:sp>
      <p:sp>
        <p:nvSpPr>
          <p:cNvPr id="105" name="Google Shape;105;p21"/>
          <p:cNvSpPr txBox="1"/>
          <p:nvPr>
            <p:ph idx="1" type="subTitle"/>
          </p:nvPr>
        </p:nvSpPr>
        <p:spPr>
          <a:xfrm>
            <a:off x="111600" y="1160875"/>
            <a:ext cx="8920800" cy="792600"/>
          </a:xfrm>
          <a:prstGeom prst="rect">
            <a:avLst/>
          </a:prstGeom>
        </p:spPr>
        <p:txBody>
          <a:bodyPr anchorCtr="0" anchor="t" bIns="91425" lIns="91425" spcFirstLastPara="1" rIns="91425" wrap="square" tIns="91425">
            <a:noAutofit/>
          </a:bodyPr>
          <a:lstStyle/>
          <a:p>
            <a:pPr indent="-375285" lvl="0" marL="457200" rtl="0" algn="l">
              <a:lnSpc>
                <a:spcPct val="80000"/>
              </a:lnSpc>
              <a:spcBef>
                <a:spcPts val="0"/>
              </a:spcBef>
              <a:spcAft>
                <a:spcPts val="0"/>
              </a:spcAft>
              <a:buSzPts val="2310"/>
              <a:buChar char="●"/>
            </a:pPr>
            <a:r>
              <a:rPr b="1" lang="en-GB" sz="2310"/>
              <a:t>Discrete Attribute </a:t>
            </a:r>
            <a:endParaRPr b="1" sz="2310"/>
          </a:p>
          <a:p>
            <a:pPr indent="-375285" lvl="1" marL="914400" rtl="0" algn="l">
              <a:lnSpc>
                <a:spcPct val="80000"/>
              </a:lnSpc>
              <a:spcBef>
                <a:spcPts val="0"/>
              </a:spcBef>
              <a:spcAft>
                <a:spcPts val="0"/>
              </a:spcAft>
              <a:buSzPts val="2310"/>
              <a:buChar char="○"/>
            </a:pPr>
            <a:r>
              <a:rPr lang="en-GB" sz="2310"/>
              <a:t>Has only a </a:t>
            </a:r>
            <a:r>
              <a:rPr b="1" lang="en-GB" sz="2310">
                <a:solidFill>
                  <a:srgbClr val="6AA84F"/>
                </a:solidFill>
              </a:rPr>
              <a:t>finite</a:t>
            </a:r>
            <a:r>
              <a:rPr lang="en-GB" sz="2310"/>
              <a:t> or </a:t>
            </a:r>
            <a:r>
              <a:rPr b="1" lang="en-GB" sz="2310">
                <a:solidFill>
                  <a:srgbClr val="6AA84F"/>
                </a:solidFill>
              </a:rPr>
              <a:t>countable</a:t>
            </a:r>
            <a:r>
              <a:rPr lang="en-GB" sz="2310"/>
              <a:t> infinite set of values  </a:t>
            </a:r>
            <a:endParaRPr sz="2310"/>
          </a:p>
          <a:p>
            <a:pPr indent="-362585" lvl="1" marL="914400" rtl="0" algn="l">
              <a:lnSpc>
                <a:spcPct val="80000"/>
              </a:lnSpc>
              <a:spcBef>
                <a:spcPts val="0"/>
              </a:spcBef>
              <a:spcAft>
                <a:spcPts val="0"/>
              </a:spcAft>
              <a:buSzPts val="2110"/>
              <a:buChar char="○"/>
            </a:pPr>
            <a:r>
              <a:rPr lang="en-GB" sz="2110"/>
              <a:t>Examples: zip codes, counts, or the set of words in a collection of documents  Often represented as integer variables.  </a:t>
            </a:r>
            <a:endParaRPr sz="2110"/>
          </a:p>
          <a:p>
            <a:pPr indent="0" lvl="0" marL="45720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b="1" lang="en-GB" sz="2310"/>
              <a:t>Continuous Attribute </a:t>
            </a:r>
            <a:r>
              <a:rPr lang="en-GB" sz="2310"/>
              <a:t> </a:t>
            </a:r>
            <a:endParaRPr sz="2310"/>
          </a:p>
          <a:p>
            <a:pPr indent="-375285" lvl="1" marL="914400" rtl="0" algn="l">
              <a:lnSpc>
                <a:spcPct val="80000"/>
              </a:lnSpc>
              <a:spcBef>
                <a:spcPts val="0"/>
              </a:spcBef>
              <a:spcAft>
                <a:spcPts val="0"/>
              </a:spcAft>
              <a:buSzPts val="2310"/>
              <a:buChar char="○"/>
            </a:pPr>
            <a:r>
              <a:rPr lang="en-GB" sz="2310"/>
              <a:t>Has </a:t>
            </a:r>
            <a:r>
              <a:rPr b="1" lang="en-GB" sz="2310">
                <a:solidFill>
                  <a:srgbClr val="6AA84F"/>
                </a:solidFill>
              </a:rPr>
              <a:t>real numbers</a:t>
            </a:r>
            <a:r>
              <a:rPr lang="en-GB" sz="2310"/>
              <a:t> as attribute values  </a:t>
            </a:r>
            <a:endParaRPr sz="2310"/>
          </a:p>
          <a:p>
            <a:pPr indent="-362585" lvl="1" marL="914400" rtl="0" algn="l">
              <a:lnSpc>
                <a:spcPct val="80000"/>
              </a:lnSpc>
              <a:spcBef>
                <a:spcPts val="0"/>
              </a:spcBef>
              <a:spcAft>
                <a:spcPts val="0"/>
              </a:spcAft>
              <a:buSzPts val="2110"/>
              <a:buChar char="○"/>
            </a:pPr>
            <a:r>
              <a:rPr lang="en-GB" sz="2110"/>
              <a:t>Examples: temperature, height, or weight.  </a:t>
            </a:r>
            <a:endParaRPr sz="2110"/>
          </a:p>
          <a:p>
            <a:pPr indent="-362585" lvl="1" marL="914400" rtl="0" algn="l">
              <a:lnSpc>
                <a:spcPct val="80000"/>
              </a:lnSpc>
              <a:spcBef>
                <a:spcPts val="0"/>
              </a:spcBef>
              <a:spcAft>
                <a:spcPts val="0"/>
              </a:spcAft>
              <a:buSzPts val="2110"/>
              <a:buChar char="○"/>
            </a:pPr>
            <a:r>
              <a:rPr lang="en-GB" sz="2110"/>
              <a:t>Practically, real values can only be measured and represented using a finite number of digits</a:t>
            </a:r>
            <a:endParaRPr sz="211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subTitle"/>
          </p:nvPr>
        </p:nvSpPr>
        <p:spPr>
          <a:xfrm>
            <a:off x="311700" y="1680225"/>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935"/>
              <a:buNone/>
            </a:pPr>
            <a:r>
              <a:rPr lang="en-GB" sz="3180"/>
              <a:t>Data has attribute values </a:t>
            </a:r>
            <a:endParaRPr sz="3180"/>
          </a:p>
          <a:p>
            <a:pPr indent="0" lvl="0" marL="0" rtl="0" algn="ctr">
              <a:lnSpc>
                <a:spcPct val="80000"/>
              </a:lnSpc>
              <a:spcBef>
                <a:spcPts val="0"/>
              </a:spcBef>
              <a:spcAft>
                <a:spcPts val="0"/>
              </a:spcAft>
              <a:buSzPts val="935"/>
              <a:buNone/>
            </a:pPr>
            <a:r>
              <a:rPr lang="en-GB" sz="3180"/>
              <a:t>Then, How good is our data w.r.t. these attribute values?</a:t>
            </a:r>
            <a:endParaRPr sz="318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Data Quality</a:t>
            </a:r>
            <a:endParaRPr/>
          </a:p>
        </p:txBody>
      </p:sp>
      <p:sp>
        <p:nvSpPr>
          <p:cNvPr id="116" name="Google Shape;116;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4"/>
          <p:cNvPicPr preferRelativeResize="0"/>
          <p:nvPr/>
        </p:nvPicPr>
        <p:blipFill>
          <a:blip r:embed="rId3">
            <a:alphaModFix/>
          </a:blip>
          <a:stretch>
            <a:fillRect/>
          </a:stretch>
        </p:blipFill>
        <p:spPr>
          <a:xfrm>
            <a:off x="3474625" y="135100"/>
            <a:ext cx="5524599" cy="4873299"/>
          </a:xfrm>
          <a:prstGeom prst="rect">
            <a:avLst/>
          </a:prstGeom>
          <a:noFill/>
          <a:ln>
            <a:noFill/>
          </a:ln>
        </p:spPr>
      </p:pic>
      <p:sp>
        <p:nvSpPr>
          <p:cNvPr id="122" name="Google Shape;122;p24"/>
          <p:cNvSpPr txBox="1"/>
          <p:nvPr/>
        </p:nvSpPr>
        <p:spPr>
          <a:xfrm>
            <a:off x="540650" y="910750"/>
            <a:ext cx="3351900" cy="31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rPr>
              <a:t>Examples of Data Quality problems:  </a:t>
            </a:r>
            <a:endParaRPr sz="2200">
              <a:solidFill>
                <a:schemeClr val="dk2"/>
              </a:solidFill>
            </a:endParaRPr>
          </a:p>
          <a:p>
            <a:pPr indent="0" lvl="0" marL="0" rtl="0" algn="l">
              <a:spcBef>
                <a:spcPts val="0"/>
              </a:spcBef>
              <a:spcAft>
                <a:spcPts val="0"/>
              </a:spcAft>
              <a:buNone/>
            </a:pPr>
            <a:r>
              <a:t/>
            </a:r>
            <a:endParaRPr sz="2200">
              <a:solidFill>
                <a:schemeClr val="dk2"/>
              </a:solidFill>
            </a:endParaRPr>
          </a:p>
          <a:p>
            <a:pPr indent="-368300" lvl="0" marL="457200" rtl="0" algn="l">
              <a:spcBef>
                <a:spcPts val="0"/>
              </a:spcBef>
              <a:spcAft>
                <a:spcPts val="0"/>
              </a:spcAft>
              <a:buClr>
                <a:schemeClr val="dk2"/>
              </a:buClr>
              <a:buSzPts val="2200"/>
              <a:buChar char="●"/>
            </a:pPr>
            <a:r>
              <a:rPr lang="en-GB" sz="2200">
                <a:solidFill>
                  <a:schemeClr val="dk2"/>
                </a:solidFill>
              </a:rPr>
              <a:t>Noise and outliers  </a:t>
            </a:r>
            <a:endParaRPr sz="2200">
              <a:solidFill>
                <a:schemeClr val="dk2"/>
              </a:solidFill>
            </a:endParaRPr>
          </a:p>
          <a:p>
            <a:pPr indent="-368300" lvl="0" marL="457200" rtl="0" algn="l">
              <a:spcBef>
                <a:spcPts val="0"/>
              </a:spcBef>
              <a:spcAft>
                <a:spcPts val="0"/>
              </a:spcAft>
              <a:buClr>
                <a:schemeClr val="dk2"/>
              </a:buClr>
              <a:buSzPts val="2200"/>
              <a:buChar char="●"/>
            </a:pPr>
            <a:r>
              <a:rPr lang="en-GB" sz="2200">
                <a:solidFill>
                  <a:schemeClr val="dk2"/>
                </a:solidFill>
              </a:rPr>
              <a:t>Missing values  </a:t>
            </a:r>
            <a:endParaRPr sz="2200">
              <a:solidFill>
                <a:schemeClr val="dk2"/>
              </a:solidFill>
            </a:endParaRPr>
          </a:p>
          <a:p>
            <a:pPr indent="-368300" lvl="0" marL="457200" rtl="0" algn="l">
              <a:spcBef>
                <a:spcPts val="0"/>
              </a:spcBef>
              <a:spcAft>
                <a:spcPts val="0"/>
              </a:spcAft>
              <a:buClr>
                <a:schemeClr val="dk2"/>
              </a:buClr>
              <a:buSzPts val="2200"/>
              <a:buChar char="●"/>
            </a:pPr>
            <a:r>
              <a:rPr lang="en-GB" sz="2200">
                <a:solidFill>
                  <a:schemeClr val="dk2"/>
                </a:solidFill>
              </a:rPr>
              <a:t>Duplicate data </a:t>
            </a:r>
            <a:endParaRPr sz="22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idx="1" type="subTitle"/>
          </p:nvPr>
        </p:nvSpPr>
        <p:spPr>
          <a:xfrm>
            <a:off x="655425" y="1512175"/>
            <a:ext cx="8098200" cy="792600"/>
          </a:xfrm>
          <a:prstGeom prst="rect">
            <a:avLst/>
          </a:prstGeom>
        </p:spPr>
        <p:txBody>
          <a:bodyPr anchorCtr="0" anchor="t" bIns="91425" lIns="91425" spcFirstLastPara="1" rIns="91425" wrap="square" tIns="91425">
            <a:noAutofit/>
          </a:bodyPr>
          <a:lstStyle/>
          <a:p>
            <a:pPr indent="-347662" lvl="0" marL="457200" rtl="0" algn="l">
              <a:lnSpc>
                <a:spcPct val="80000"/>
              </a:lnSpc>
              <a:spcBef>
                <a:spcPts val="0"/>
              </a:spcBef>
              <a:spcAft>
                <a:spcPts val="0"/>
              </a:spcAft>
              <a:buClr>
                <a:schemeClr val="dk1"/>
              </a:buClr>
              <a:buSzPts val="1875"/>
              <a:buChar char="●"/>
            </a:pPr>
            <a:r>
              <a:rPr b="1" lang="en-GB" sz="1875">
                <a:solidFill>
                  <a:schemeClr val="dk1"/>
                </a:solidFill>
              </a:rPr>
              <a:t>Random Errors</a:t>
            </a:r>
            <a:r>
              <a:rPr lang="en-GB" sz="1875">
                <a:solidFill>
                  <a:schemeClr val="dk1"/>
                </a:solidFill>
              </a:rPr>
              <a:t> → Mistakes in data collection, entry, or transmission</a:t>
            </a:r>
            <a:endParaRPr sz="1875">
              <a:solidFill>
                <a:schemeClr val="dk1"/>
              </a:solidFill>
            </a:endParaRPr>
          </a:p>
          <a:p>
            <a:pPr indent="-347662" lvl="0" marL="457200" rtl="0" algn="l">
              <a:lnSpc>
                <a:spcPct val="95000"/>
              </a:lnSpc>
              <a:spcBef>
                <a:spcPts val="0"/>
              </a:spcBef>
              <a:spcAft>
                <a:spcPts val="0"/>
              </a:spcAft>
              <a:buClr>
                <a:schemeClr val="dk1"/>
              </a:buClr>
              <a:buSzPts val="1875"/>
              <a:buChar char="●"/>
            </a:pPr>
            <a:r>
              <a:rPr b="1" lang="en-GB" sz="1875">
                <a:solidFill>
                  <a:schemeClr val="dk1"/>
                </a:solidFill>
              </a:rPr>
              <a:t>Irrelevant Information</a:t>
            </a:r>
            <a:r>
              <a:rPr lang="en-GB" sz="1875">
                <a:solidFill>
                  <a:schemeClr val="dk1"/>
                </a:solidFill>
              </a:rPr>
              <a:t> → Data that does not contribute to useful patterns</a:t>
            </a:r>
            <a:endParaRPr sz="1875">
              <a:solidFill>
                <a:schemeClr val="dk1"/>
              </a:solidFill>
            </a:endParaRPr>
          </a:p>
          <a:p>
            <a:pPr indent="-347662" lvl="0" marL="457200" rtl="0" algn="l">
              <a:lnSpc>
                <a:spcPct val="95000"/>
              </a:lnSpc>
              <a:spcBef>
                <a:spcPts val="0"/>
              </a:spcBef>
              <a:spcAft>
                <a:spcPts val="0"/>
              </a:spcAft>
              <a:buClr>
                <a:schemeClr val="dk1"/>
              </a:buClr>
              <a:buSzPts val="1875"/>
              <a:buChar char="●"/>
            </a:pPr>
            <a:r>
              <a:rPr b="1" lang="en-GB" sz="1875">
                <a:solidFill>
                  <a:schemeClr val="dk1"/>
                </a:solidFill>
              </a:rPr>
              <a:t>Inconsistent or Incorrect Labels</a:t>
            </a:r>
            <a:r>
              <a:rPr lang="en-GB" sz="1875">
                <a:solidFill>
                  <a:schemeClr val="dk1"/>
                </a:solidFill>
              </a:rPr>
              <a:t> → Wrong labels in classification tasks</a:t>
            </a:r>
            <a:endParaRPr sz="1675">
              <a:solidFill>
                <a:schemeClr val="dk1"/>
              </a:solidFill>
            </a:endParaRPr>
          </a:p>
          <a:p>
            <a:pPr indent="-347662" lvl="0" marL="457200" rtl="0" algn="l">
              <a:lnSpc>
                <a:spcPct val="95000"/>
              </a:lnSpc>
              <a:spcBef>
                <a:spcPts val="0"/>
              </a:spcBef>
              <a:spcAft>
                <a:spcPts val="0"/>
              </a:spcAft>
              <a:buClr>
                <a:schemeClr val="dk1"/>
              </a:buClr>
              <a:buSzPts val="1875"/>
              <a:buChar char="●"/>
            </a:pPr>
            <a:r>
              <a:rPr b="1" lang="en-GB" sz="1875">
                <a:solidFill>
                  <a:schemeClr val="dk1"/>
                </a:solidFill>
              </a:rPr>
              <a:t>Duplicate or Redundant Data</a:t>
            </a:r>
            <a:r>
              <a:rPr lang="en-GB" sz="1875">
                <a:solidFill>
                  <a:schemeClr val="dk1"/>
                </a:solidFill>
              </a:rPr>
              <a:t> → Repeated or unnecessary records</a:t>
            </a:r>
            <a:endParaRPr sz="1675">
              <a:solidFill>
                <a:schemeClr val="dk1"/>
              </a:solidFill>
            </a:endParaRPr>
          </a:p>
          <a:p>
            <a:pPr indent="0" lvl="0" marL="457200" rtl="0" algn="ctr">
              <a:lnSpc>
                <a:spcPct val="80000"/>
              </a:lnSpc>
              <a:spcBef>
                <a:spcPts val="0"/>
              </a:spcBef>
              <a:spcAft>
                <a:spcPts val="0"/>
              </a:spcAft>
              <a:buNone/>
            </a:pPr>
            <a:r>
              <a:t/>
            </a:r>
            <a:endParaRPr sz="2300"/>
          </a:p>
        </p:txBody>
      </p:sp>
      <p:sp>
        <p:nvSpPr>
          <p:cNvPr id="128" name="Google Shape;128;p25"/>
          <p:cNvSpPr txBox="1"/>
          <p:nvPr/>
        </p:nvSpPr>
        <p:spPr>
          <a:xfrm>
            <a:off x="2517700" y="468800"/>
            <a:ext cx="4959300" cy="7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chemeClr val="dk2"/>
                </a:solidFill>
              </a:rPr>
              <a:t>Data Quality: Noise</a:t>
            </a:r>
            <a:endParaRPr b="1" sz="30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ctrTitle"/>
          </p:nvPr>
        </p:nvSpPr>
        <p:spPr>
          <a:xfrm>
            <a:off x="311700" y="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Outliers</a:t>
            </a:r>
            <a:endParaRPr sz="3900"/>
          </a:p>
        </p:txBody>
      </p:sp>
      <p:sp>
        <p:nvSpPr>
          <p:cNvPr id="134" name="Google Shape;134;p26"/>
          <p:cNvSpPr txBox="1"/>
          <p:nvPr>
            <p:ph idx="1" type="subTitle"/>
          </p:nvPr>
        </p:nvSpPr>
        <p:spPr>
          <a:xfrm>
            <a:off x="441150" y="817175"/>
            <a:ext cx="8261700" cy="792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2310"/>
              <a:t>Outliers are data objects with characteristics that are considerably different than most of the other data objects in the data set</a:t>
            </a:r>
            <a:endParaRPr sz="2110"/>
          </a:p>
        </p:txBody>
      </p:sp>
      <p:pic>
        <p:nvPicPr>
          <p:cNvPr id="135" name="Google Shape;135;p26"/>
          <p:cNvPicPr preferRelativeResize="0"/>
          <p:nvPr/>
        </p:nvPicPr>
        <p:blipFill>
          <a:blip r:embed="rId3">
            <a:alphaModFix/>
          </a:blip>
          <a:stretch>
            <a:fillRect/>
          </a:stretch>
        </p:blipFill>
        <p:spPr>
          <a:xfrm>
            <a:off x="2165600" y="1897175"/>
            <a:ext cx="4660687" cy="3099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Missing Values</a:t>
            </a:r>
            <a:endParaRPr sz="3900"/>
          </a:p>
        </p:txBody>
      </p:sp>
      <p:sp>
        <p:nvSpPr>
          <p:cNvPr id="141" name="Google Shape;141;p27"/>
          <p:cNvSpPr txBox="1"/>
          <p:nvPr>
            <p:ph idx="1" type="subTitle"/>
          </p:nvPr>
        </p:nvSpPr>
        <p:spPr>
          <a:xfrm>
            <a:off x="1049400" y="1332725"/>
            <a:ext cx="7544700" cy="792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GB" sz="2310"/>
              <a:t>Reasons for missing values</a:t>
            </a:r>
            <a:r>
              <a:rPr lang="en-GB" sz="2310"/>
              <a:t>  </a:t>
            </a:r>
            <a:endParaRPr sz="2310"/>
          </a:p>
          <a:p>
            <a:pPr indent="0" lvl="0" marL="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lang="en-GB" sz="2310"/>
              <a:t>Information is </a:t>
            </a:r>
            <a:r>
              <a:rPr b="1" lang="en-GB" sz="2310">
                <a:solidFill>
                  <a:srgbClr val="CC0000"/>
                </a:solidFill>
              </a:rPr>
              <a:t>not collected</a:t>
            </a:r>
            <a:r>
              <a:rPr b="1" lang="en-GB" sz="2310">
                <a:solidFill>
                  <a:srgbClr val="FF0000"/>
                </a:solidFill>
              </a:rPr>
              <a:t> </a:t>
            </a:r>
            <a:r>
              <a:rPr lang="en-GB" sz="2310"/>
              <a:t>(e.g., people decline to give their age and weight) </a:t>
            </a:r>
            <a:endParaRPr sz="2310"/>
          </a:p>
          <a:p>
            <a:pPr indent="0" lvl="0" marL="457200" rtl="0" algn="l">
              <a:lnSpc>
                <a:spcPct val="80000"/>
              </a:lnSpc>
              <a:spcBef>
                <a:spcPts val="0"/>
              </a:spcBef>
              <a:spcAft>
                <a:spcPts val="0"/>
              </a:spcAft>
              <a:buNone/>
            </a:pPr>
            <a:r>
              <a:rPr lang="en-GB" sz="2310"/>
              <a:t> </a:t>
            </a:r>
            <a:endParaRPr sz="2310"/>
          </a:p>
          <a:p>
            <a:pPr indent="-375285" lvl="0" marL="457200" rtl="0" algn="l">
              <a:lnSpc>
                <a:spcPct val="80000"/>
              </a:lnSpc>
              <a:spcBef>
                <a:spcPts val="0"/>
              </a:spcBef>
              <a:spcAft>
                <a:spcPts val="0"/>
              </a:spcAft>
              <a:buSzPts val="2310"/>
              <a:buChar char="●"/>
            </a:pPr>
            <a:r>
              <a:rPr lang="en-GB" sz="2310"/>
              <a:t>Attributes may </a:t>
            </a:r>
            <a:r>
              <a:rPr b="1" lang="en-GB" sz="2310">
                <a:solidFill>
                  <a:srgbClr val="CC0000"/>
                </a:solidFill>
              </a:rPr>
              <a:t>not be applicable</a:t>
            </a:r>
            <a:r>
              <a:rPr lang="en-GB" sz="2310"/>
              <a:t> to all cases (e.g., annual income is not applicable to children)  </a:t>
            </a:r>
            <a:endParaRPr sz="2310"/>
          </a:p>
          <a:p>
            <a:pPr indent="0" lvl="0" marL="0" rtl="0" algn="l">
              <a:lnSpc>
                <a:spcPct val="80000"/>
              </a:lnSpc>
              <a:spcBef>
                <a:spcPts val="0"/>
              </a:spcBef>
              <a:spcAft>
                <a:spcPts val="0"/>
              </a:spcAft>
              <a:buNone/>
            </a:pPr>
            <a:r>
              <a:t/>
            </a:r>
            <a:endParaRPr sz="211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Missing Values</a:t>
            </a:r>
            <a:endParaRPr sz="3900"/>
          </a:p>
        </p:txBody>
      </p:sp>
      <p:sp>
        <p:nvSpPr>
          <p:cNvPr id="147" name="Google Shape;147;p28"/>
          <p:cNvSpPr txBox="1"/>
          <p:nvPr>
            <p:ph idx="1" type="subTitle"/>
          </p:nvPr>
        </p:nvSpPr>
        <p:spPr>
          <a:xfrm>
            <a:off x="828425" y="1185425"/>
            <a:ext cx="7152000" cy="792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2310"/>
          </a:p>
          <a:p>
            <a:pPr indent="0" lvl="0" marL="0" rtl="0" algn="l">
              <a:lnSpc>
                <a:spcPct val="80000"/>
              </a:lnSpc>
              <a:spcBef>
                <a:spcPts val="0"/>
              </a:spcBef>
              <a:spcAft>
                <a:spcPts val="0"/>
              </a:spcAft>
              <a:buNone/>
            </a:pPr>
            <a:r>
              <a:rPr b="1" lang="en-GB" sz="2310"/>
              <a:t>Handling missing values  </a:t>
            </a:r>
            <a:endParaRPr b="1" sz="2310"/>
          </a:p>
          <a:p>
            <a:pPr indent="0" lvl="0" marL="0" rtl="0" algn="l">
              <a:lnSpc>
                <a:spcPct val="80000"/>
              </a:lnSpc>
              <a:spcBef>
                <a:spcPts val="0"/>
              </a:spcBef>
              <a:spcAft>
                <a:spcPts val="0"/>
              </a:spcAft>
              <a:buNone/>
            </a:pPr>
            <a:r>
              <a:t/>
            </a:r>
            <a:endParaRPr b="1" sz="2310"/>
          </a:p>
          <a:p>
            <a:pPr indent="-375285" lvl="0" marL="457200" rtl="0" algn="l">
              <a:lnSpc>
                <a:spcPct val="80000"/>
              </a:lnSpc>
              <a:spcBef>
                <a:spcPts val="0"/>
              </a:spcBef>
              <a:spcAft>
                <a:spcPts val="0"/>
              </a:spcAft>
              <a:buSzPts val="2310"/>
              <a:buChar char="●"/>
            </a:pPr>
            <a:r>
              <a:rPr lang="en-GB" sz="2310"/>
              <a:t>Eliminate Data Objects  </a:t>
            </a:r>
            <a:endParaRPr sz="2310"/>
          </a:p>
          <a:p>
            <a:pPr indent="-375285" lvl="0" marL="457200" rtl="0" algn="l">
              <a:lnSpc>
                <a:spcPct val="80000"/>
              </a:lnSpc>
              <a:spcBef>
                <a:spcPts val="0"/>
              </a:spcBef>
              <a:spcAft>
                <a:spcPts val="0"/>
              </a:spcAft>
              <a:buSzPts val="2310"/>
              <a:buChar char="●"/>
            </a:pPr>
            <a:r>
              <a:rPr lang="en-GB" sz="2310"/>
              <a:t>Estimate Missing Values  </a:t>
            </a:r>
            <a:endParaRPr sz="2310"/>
          </a:p>
          <a:p>
            <a:pPr indent="-375285" lvl="0" marL="457200" rtl="0" algn="l">
              <a:lnSpc>
                <a:spcPct val="80000"/>
              </a:lnSpc>
              <a:spcBef>
                <a:spcPts val="0"/>
              </a:spcBef>
              <a:spcAft>
                <a:spcPts val="0"/>
              </a:spcAft>
              <a:buSzPts val="2310"/>
              <a:buChar char="●"/>
            </a:pPr>
            <a:r>
              <a:rPr lang="en-GB" sz="2310"/>
              <a:t>Ignore the Missing Value During Analysis  </a:t>
            </a:r>
            <a:endParaRPr sz="2310"/>
          </a:p>
          <a:p>
            <a:pPr indent="-375285" lvl="0" marL="457200" rtl="0" algn="l">
              <a:lnSpc>
                <a:spcPct val="80000"/>
              </a:lnSpc>
              <a:spcBef>
                <a:spcPts val="0"/>
              </a:spcBef>
              <a:spcAft>
                <a:spcPts val="0"/>
              </a:spcAft>
              <a:buSzPts val="2310"/>
              <a:buChar char="●"/>
            </a:pPr>
            <a:r>
              <a:rPr lang="en-GB" sz="2310"/>
              <a:t>Replace with all possible values (weighted by their probabilities)</a:t>
            </a:r>
            <a:endParaRPr sz="211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Duplicate Values</a:t>
            </a:r>
            <a:endParaRPr sz="3900"/>
          </a:p>
        </p:txBody>
      </p:sp>
      <p:sp>
        <p:nvSpPr>
          <p:cNvPr id="153" name="Google Shape;153;p29"/>
          <p:cNvSpPr txBox="1"/>
          <p:nvPr>
            <p:ph idx="1" type="subTitle"/>
          </p:nvPr>
        </p:nvSpPr>
        <p:spPr>
          <a:xfrm>
            <a:off x="828425" y="1185425"/>
            <a:ext cx="7458900" cy="792600"/>
          </a:xfrm>
          <a:prstGeom prst="rect">
            <a:avLst/>
          </a:prstGeom>
        </p:spPr>
        <p:txBody>
          <a:bodyPr anchorCtr="0" anchor="t" bIns="91425" lIns="91425" spcFirstLastPara="1" rIns="91425" wrap="square" tIns="91425">
            <a:noAutofit/>
          </a:bodyPr>
          <a:lstStyle/>
          <a:p>
            <a:pPr indent="-375285" lvl="0" marL="457200" rtl="0" algn="l">
              <a:lnSpc>
                <a:spcPct val="80000"/>
              </a:lnSpc>
              <a:spcBef>
                <a:spcPts val="0"/>
              </a:spcBef>
              <a:spcAft>
                <a:spcPts val="0"/>
              </a:spcAft>
              <a:buSzPts val="2310"/>
              <a:buChar char="●"/>
            </a:pPr>
            <a:r>
              <a:rPr lang="en-GB" sz="2310"/>
              <a:t>Data set may include data objects that are duplicates, or almost duplicates of one another  </a:t>
            </a:r>
            <a:endParaRPr sz="2310"/>
          </a:p>
          <a:p>
            <a:pPr indent="-375285" lvl="0" marL="457200" rtl="0" algn="l">
              <a:lnSpc>
                <a:spcPct val="80000"/>
              </a:lnSpc>
              <a:spcBef>
                <a:spcPts val="0"/>
              </a:spcBef>
              <a:spcAft>
                <a:spcPts val="0"/>
              </a:spcAft>
              <a:buSzPts val="2310"/>
              <a:buChar char="●"/>
            </a:pPr>
            <a:r>
              <a:rPr lang="en-GB" sz="2310"/>
              <a:t>Major issue when merging data from </a:t>
            </a:r>
            <a:r>
              <a:rPr lang="en-GB" sz="2310"/>
              <a:t>heterogeneous</a:t>
            </a:r>
            <a:r>
              <a:rPr lang="en-GB" sz="2310"/>
              <a:t> sources</a:t>
            </a:r>
            <a:endParaRPr sz="2310"/>
          </a:p>
          <a:p>
            <a:pPr indent="0" lvl="0" marL="457200" rtl="0" algn="l">
              <a:lnSpc>
                <a:spcPct val="80000"/>
              </a:lnSpc>
              <a:spcBef>
                <a:spcPts val="0"/>
              </a:spcBef>
              <a:spcAft>
                <a:spcPts val="0"/>
              </a:spcAft>
              <a:buNone/>
            </a:pPr>
            <a:r>
              <a:t/>
            </a:r>
            <a:endParaRPr sz="2310"/>
          </a:p>
          <a:p>
            <a:pPr indent="-375285" lvl="1" marL="914400" rtl="0" algn="l">
              <a:lnSpc>
                <a:spcPct val="80000"/>
              </a:lnSpc>
              <a:spcBef>
                <a:spcPts val="0"/>
              </a:spcBef>
              <a:spcAft>
                <a:spcPts val="0"/>
              </a:spcAft>
              <a:buSzPts val="2310"/>
              <a:buChar char="○"/>
            </a:pPr>
            <a:r>
              <a:rPr lang="en-GB" sz="2010"/>
              <a:t>Examples:  Same person with multiple email addresses </a:t>
            </a:r>
            <a:r>
              <a:rPr lang="en-GB" sz="2310"/>
              <a:t> </a:t>
            </a:r>
            <a:endParaRPr sz="2310"/>
          </a:p>
          <a:p>
            <a:pPr indent="0" lvl="0" marL="45720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lang="en-GB" sz="2310"/>
              <a:t>Data cleaning: Process of dealing with duplicate data issues</a:t>
            </a:r>
            <a:endParaRPr sz="211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a:t>
            </a:r>
            <a:endParaRPr sz="3900"/>
          </a:p>
        </p:txBody>
      </p:sp>
      <p:sp>
        <p:nvSpPr>
          <p:cNvPr id="159" name="Google Shape;159;p30"/>
          <p:cNvSpPr txBox="1"/>
          <p:nvPr>
            <p:ph idx="1" type="subTitle"/>
          </p:nvPr>
        </p:nvSpPr>
        <p:spPr>
          <a:xfrm>
            <a:off x="670700" y="1087200"/>
            <a:ext cx="8082900" cy="792600"/>
          </a:xfrm>
          <a:prstGeom prst="rect">
            <a:avLst/>
          </a:prstGeom>
        </p:spPr>
        <p:txBody>
          <a:bodyPr anchorCtr="0" anchor="t" bIns="91425" lIns="91425" spcFirstLastPara="1" rIns="91425" wrap="square" tIns="91425">
            <a:noAutofit/>
          </a:bodyPr>
          <a:lstStyle/>
          <a:p>
            <a:pPr indent="-375285" lvl="0" marL="457200" rtl="0" algn="l">
              <a:lnSpc>
                <a:spcPct val="80000"/>
              </a:lnSpc>
              <a:spcBef>
                <a:spcPts val="0"/>
              </a:spcBef>
              <a:spcAft>
                <a:spcPts val="0"/>
              </a:spcAft>
              <a:buClr>
                <a:srgbClr val="38761D"/>
              </a:buClr>
              <a:buSzPts val="2310"/>
              <a:buChar char="●"/>
            </a:pPr>
            <a:r>
              <a:rPr b="1" lang="en-GB" sz="2310">
                <a:solidFill>
                  <a:srgbClr val="38761D"/>
                </a:solidFill>
              </a:rPr>
              <a:t>Binning  </a:t>
            </a:r>
            <a:endParaRPr b="1" sz="2310">
              <a:solidFill>
                <a:srgbClr val="38761D"/>
              </a:solidFill>
            </a:endParaRPr>
          </a:p>
          <a:p>
            <a:pPr indent="-375285" lvl="1" marL="914400" rtl="0" algn="l">
              <a:lnSpc>
                <a:spcPct val="80000"/>
              </a:lnSpc>
              <a:spcBef>
                <a:spcPts val="0"/>
              </a:spcBef>
              <a:spcAft>
                <a:spcPts val="0"/>
              </a:spcAft>
              <a:buSzPts val="2310"/>
              <a:buChar char="○"/>
            </a:pPr>
            <a:r>
              <a:rPr lang="en-GB" sz="2310"/>
              <a:t>Sort data and partition into (equi-depth) bins  smooth by bin means, bin median, bin boundaries, etc.  </a:t>
            </a:r>
            <a:endParaRPr sz="2310"/>
          </a:p>
          <a:p>
            <a:pPr indent="0" lvl="0" marL="45720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b="1" lang="en-GB" sz="2310">
                <a:solidFill>
                  <a:srgbClr val="38761D"/>
                </a:solidFill>
              </a:rPr>
              <a:t>Regression </a:t>
            </a:r>
            <a:r>
              <a:rPr lang="en-GB" sz="2310"/>
              <a:t> </a:t>
            </a:r>
            <a:endParaRPr sz="2310"/>
          </a:p>
          <a:p>
            <a:pPr indent="-375285" lvl="1" marL="914400" rtl="0" algn="l">
              <a:lnSpc>
                <a:spcPct val="80000"/>
              </a:lnSpc>
              <a:spcBef>
                <a:spcPts val="0"/>
              </a:spcBef>
              <a:spcAft>
                <a:spcPts val="0"/>
              </a:spcAft>
              <a:buSzPts val="2310"/>
              <a:buChar char="○"/>
            </a:pPr>
            <a:r>
              <a:rPr lang="en-GB" sz="2310"/>
              <a:t>Smooth by fitting a regression function </a:t>
            </a:r>
            <a:endParaRPr sz="2310"/>
          </a:p>
          <a:p>
            <a:pPr indent="0" lvl="0" marL="91440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b="1" lang="en-GB" sz="2310">
                <a:solidFill>
                  <a:srgbClr val="38761D"/>
                </a:solidFill>
              </a:rPr>
              <a:t>Clustering</a:t>
            </a:r>
            <a:r>
              <a:rPr lang="en-GB" sz="2310">
                <a:solidFill>
                  <a:srgbClr val="38761D"/>
                </a:solidFill>
              </a:rPr>
              <a:t> </a:t>
            </a:r>
            <a:r>
              <a:rPr lang="en-GB" sz="2310"/>
              <a:t> </a:t>
            </a:r>
            <a:endParaRPr sz="2310"/>
          </a:p>
          <a:p>
            <a:pPr indent="-375285" lvl="1" marL="914400" rtl="0" algn="l">
              <a:lnSpc>
                <a:spcPct val="80000"/>
              </a:lnSpc>
              <a:spcBef>
                <a:spcPts val="0"/>
              </a:spcBef>
              <a:spcAft>
                <a:spcPts val="0"/>
              </a:spcAft>
              <a:buSzPts val="2310"/>
              <a:buChar char="○"/>
            </a:pPr>
            <a:r>
              <a:rPr lang="en-GB" sz="2310"/>
              <a:t>Detect and remove outliers  </a:t>
            </a:r>
            <a:endParaRPr sz="2310"/>
          </a:p>
          <a:p>
            <a:pPr indent="0" lvl="0" marL="914400" rtl="0" algn="l">
              <a:lnSpc>
                <a:spcPct val="80000"/>
              </a:lnSpc>
              <a:spcBef>
                <a:spcPts val="0"/>
              </a:spcBef>
              <a:spcAft>
                <a:spcPts val="0"/>
              </a:spcAft>
              <a:buNone/>
            </a:pPr>
            <a:r>
              <a:t/>
            </a:r>
            <a:endParaRPr sz="2310"/>
          </a:p>
          <a:p>
            <a:pPr indent="-375285" lvl="0" marL="457200" rtl="0" algn="l">
              <a:lnSpc>
                <a:spcPct val="80000"/>
              </a:lnSpc>
              <a:spcBef>
                <a:spcPts val="0"/>
              </a:spcBef>
              <a:spcAft>
                <a:spcPts val="0"/>
              </a:spcAft>
              <a:buSzPts val="2310"/>
              <a:buChar char="●"/>
            </a:pPr>
            <a:r>
              <a:rPr b="1" lang="en-GB" sz="2310">
                <a:solidFill>
                  <a:srgbClr val="38761D"/>
                </a:solidFill>
              </a:rPr>
              <a:t>Combined computer and human inspection </a:t>
            </a:r>
            <a:r>
              <a:rPr lang="en-GB" sz="2310"/>
              <a:t> </a:t>
            </a:r>
            <a:endParaRPr sz="2310"/>
          </a:p>
          <a:p>
            <a:pPr indent="-375285" lvl="1" marL="914400" rtl="0" algn="l">
              <a:lnSpc>
                <a:spcPct val="80000"/>
              </a:lnSpc>
              <a:spcBef>
                <a:spcPts val="0"/>
              </a:spcBef>
              <a:spcAft>
                <a:spcPts val="0"/>
              </a:spcAft>
              <a:buSzPts val="2310"/>
              <a:buChar char="○"/>
            </a:pPr>
            <a:r>
              <a:rPr lang="en-GB" sz="2310"/>
              <a:t>Detect suspicious values automatically and check by human</a:t>
            </a:r>
            <a:endParaRPr sz="211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(Binning)</a:t>
            </a:r>
            <a:endParaRPr sz="3900"/>
          </a:p>
        </p:txBody>
      </p:sp>
      <p:pic>
        <p:nvPicPr>
          <p:cNvPr id="165" name="Google Shape;165;p31"/>
          <p:cNvPicPr preferRelativeResize="0"/>
          <p:nvPr/>
        </p:nvPicPr>
        <p:blipFill>
          <a:blip r:embed="rId3">
            <a:alphaModFix/>
          </a:blip>
          <a:stretch>
            <a:fillRect/>
          </a:stretch>
        </p:blipFill>
        <p:spPr>
          <a:xfrm>
            <a:off x="938025" y="1308225"/>
            <a:ext cx="6988901" cy="2389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(Binning)</a:t>
            </a:r>
            <a:endParaRPr sz="3900"/>
          </a:p>
        </p:txBody>
      </p:sp>
      <p:pic>
        <p:nvPicPr>
          <p:cNvPr id="171" name="Google Shape;171;p32"/>
          <p:cNvPicPr preferRelativeResize="0"/>
          <p:nvPr/>
        </p:nvPicPr>
        <p:blipFill>
          <a:blip r:embed="rId3">
            <a:alphaModFix/>
          </a:blip>
          <a:stretch>
            <a:fillRect/>
          </a:stretch>
        </p:blipFill>
        <p:spPr>
          <a:xfrm>
            <a:off x="220950" y="1450900"/>
            <a:ext cx="8822948" cy="2835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(Binning)</a:t>
            </a:r>
            <a:endParaRPr sz="3900"/>
          </a:p>
        </p:txBody>
      </p:sp>
      <p:pic>
        <p:nvPicPr>
          <p:cNvPr id="177" name="Google Shape;177;p33"/>
          <p:cNvPicPr preferRelativeResize="0"/>
          <p:nvPr/>
        </p:nvPicPr>
        <p:blipFill>
          <a:blip r:embed="rId3">
            <a:alphaModFix/>
          </a:blip>
          <a:stretch>
            <a:fillRect/>
          </a:stretch>
        </p:blipFill>
        <p:spPr>
          <a:xfrm>
            <a:off x="676325" y="1179425"/>
            <a:ext cx="8391425" cy="2161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(Binning)</a:t>
            </a:r>
            <a:endParaRPr b="1" sz="3010">
              <a:solidFill>
                <a:schemeClr val="dk2"/>
              </a:solidFill>
            </a:endParaRPr>
          </a:p>
        </p:txBody>
      </p:sp>
      <p:pic>
        <p:nvPicPr>
          <p:cNvPr id="183" name="Google Shape;183;p34"/>
          <p:cNvPicPr preferRelativeResize="0"/>
          <p:nvPr/>
        </p:nvPicPr>
        <p:blipFill>
          <a:blip r:embed="rId3">
            <a:alphaModFix/>
          </a:blip>
          <a:stretch>
            <a:fillRect/>
          </a:stretch>
        </p:blipFill>
        <p:spPr>
          <a:xfrm>
            <a:off x="152400" y="1534250"/>
            <a:ext cx="8839200" cy="24847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(Binning)</a:t>
            </a:r>
            <a:endParaRPr b="1" sz="3010">
              <a:solidFill>
                <a:schemeClr val="dk2"/>
              </a:solidFill>
            </a:endParaRPr>
          </a:p>
        </p:txBody>
      </p:sp>
      <p:pic>
        <p:nvPicPr>
          <p:cNvPr id="189" name="Google Shape;189;p35"/>
          <p:cNvPicPr preferRelativeResize="0"/>
          <p:nvPr/>
        </p:nvPicPr>
        <p:blipFill>
          <a:blip r:embed="rId3">
            <a:alphaModFix/>
          </a:blip>
          <a:stretch>
            <a:fillRect/>
          </a:stretch>
        </p:blipFill>
        <p:spPr>
          <a:xfrm>
            <a:off x="803025" y="927650"/>
            <a:ext cx="7427182" cy="4063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ctrTitle"/>
          </p:nvPr>
        </p:nvSpPr>
        <p:spPr>
          <a:xfrm>
            <a:off x="311700" y="135050"/>
            <a:ext cx="8520600" cy="792600"/>
          </a:xfrm>
          <a:prstGeom prst="rect">
            <a:avLst/>
          </a:prstGeom>
        </p:spPr>
        <p:txBody>
          <a:bodyPr anchorCtr="0" anchor="b" bIns="91425" lIns="91425" spcFirstLastPara="1" rIns="91425" wrap="square" tIns="91425">
            <a:normAutofit/>
          </a:bodyPr>
          <a:lstStyle/>
          <a:p>
            <a:pPr indent="0" lvl="0" marL="457200" rtl="0" algn="ctr">
              <a:lnSpc>
                <a:spcPct val="80000"/>
              </a:lnSpc>
              <a:spcBef>
                <a:spcPts val="0"/>
              </a:spcBef>
              <a:spcAft>
                <a:spcPts val="0"/>
              </a:spcAft>
              <a:buNone/>
            </a:pPr>
            <a:r>
              <a:rPr b="1" lang="en-GB" sz="3010">
                <a:solidFill>
                  <a:schemeClr val="dk2"/>
                </a:solidFill>
              </a:rPr>
              <a:t>Data Quality: Handle Noise (Regression)</a:t>
            </a:r>
            <a:endParaRPr b="1" sz="3010">
              <a:solidFill>
                <a:schemeClr val="dk2"/>
              </a:solidFill>
            </a:endParaRPr>
          </a:p>
        </p:txBody>
      </p:sp>
      <p:pic>
        <p:nvPicPr>
          <p:cNvPr id="195" name="Google Shape;195;p36"/>
          <p:cNvPicPr preferRelativeResize="0"/>
          <p:nvPr/>
        </p:nvPicPr>
        <p:blipFill>
          <a:blip r:embed="rId3">
            <a:alphaModFix/>
          </a:blip>
          <a:stretch>
            <a:fillRect/>
          </a:stretch>
        </p:blipFill>
        <p:spPr>
          <a:xfrm>
            <a:off x="4166525" y="1030950"/>
            <a:ext cx="4806350" cy="3911049"/>
          </a:xfrm>
          <a:prstGeom prst="rect">
            <a:avLst/>
          </a:prstGeom>
          <a:noFill/>
          <a:ln>
            <a:noFill/>
          </a:ln>
        </p:spPr>
      </p:pic>
      <p:sp>
        <p:nvSpPr>
          <p:cNvPr id="196" name="Google Shape;196;p36"/>
          <p:cNvSpPr txBox="1"/>
          <p:nvPr/>
        </p:nvSpPr>
        <p:spPr>
          <a:xfrm>
            <a:off x="564700" y="1204000"/>
            <a:ext cx="30000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800">
                <a:solidFill>
                  <a:schemeClr val="dk1"/>
                </a:solidFill>
              </a:rPr>
              <a:t>Regression helps smooth noisy data by </a:t>
            </a:r>
            <a:r>
              <a:rPr b="1" lang="en-GB" sz="1800">
                <a:solidFill>
                  <a:schemeClr val="dk1"/>
                </a:solidFill>
              </a:rPr>
              <a:t>fitting a mathematical function</a:t>
            </a:r>
            <a:r>
              <a:rPr lang="en-GB" sz="1800">
                <a:solidFill>
                  <a:schemeClr val="dk1"/>
                </a:solidFill>
              </a:rPr>
              <a:t> (e.g., linear or polynomial regression). The function predicts values, reducing fluctuations.</a:t>
            </a:r>
            <a:endParaRPr sz="1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nvSpPr>
        <p:spPr>
          <a:xfrm>
            <a:off x="1078950" y="560425"/>
            <a:ext cx="6986100" cy="177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solidFill>
                  <a:schemeClr val="dk1"/>
                </a:solidFill>
              </a:rPr>
              <a:t>Raw Data (with noise):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(1, 100), (2, 102), (3, </a:t>
            </a:r>
            <a:r>
              <a:rPr b="1" lang="en-GB" sz="1700">
                <a:solidFill>
                  <a:srgbClr val="FF0000"/>
                </a:solidFill>
              </a:rPr>
              <a:t>250</a:t>
            </a:r>
            <a:r>
              <a:rPr lang="en-GB" sz="1700">
                <a:solidFill>
                  <a:schemeClr val="dk1"/>
                </a:solidFill>
              </a:rPr>
              <a:t>), (4, 108), (5, 110)</a:t>
            </a:r>
            <a:endParaRPr sz="1700">
              <a:solidFill>
                <a:schemeClr val="dk1"/>
              </a:solidFill>
            </a:endParaRPr>
          </a:p>
          <a:p>
            <a:pPr indent="0" lvl="0" marL="0" rtl="0" algn="l">
              <a:lnSpc>
                <a:spcPct val="115000"/>
              </a:lnSpc>
              <a:spcBef>
                <a:spcPts val="1200"/>
              </a:spcBef>
              <a:spcAft>
                <a:spcPts val="0"/>
              </a:spcAft>
              <a:buNone/>
            </a:pPr>
            <a:r>
              <a:rPr b="1" lang="en-GB" sz="1700">
                <a:solidFill>
                  <a:schemeClr val="dk1"/>
                </a:solidFill>
              </a:rPr>
              <a:t>Fit a regression function (y = 2x + 98)</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Predicted values: (1, 100), (2, 102), </a:t>
            </a:r>
            <a:r>
              <a:rPr b="1" lang="en-GB" sz="1700">
                <a:solidFill>
                  <a:schemeClr val="dk1"/>
                </a:solidFill>
              </a:rPr>
              <a:t>(3, 104)</a:t>
            </a:r>
            <a:r>
              <a:rPr lang="en-GB" sz="1700">
                <a:solidFill>
                  <a:schemeClr val="dk1"/>
                </a:solidFill>
              </a:rPr>
              <a:t>, (4, 106), (5, 108)</a:t>
            </a:r>
            <a:endParaRPr sz="17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nvSpPr>
        <p:spPr>
          <a:xfrm>
            <a:off x="1078950" y="560425"/>
            <a:ext cx="6986100" cy="177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solidFill>
                  <a:schemeClr val="dk1"/>
                </a:solidFill>
              </a:rPr>
              <a:t>Raw Data (with noise):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(1, 100), (2, 102), (3, </a:t>
            </a:r>
            <a:r>
              <a:rPr b="1" lang="en-GB" sz="1700">
                <a:solidFill>
                  <a:srgbClr val="FF0000"/>
                </a:solidFill>
              </a:rPr>
              <a:t>250</a:t>
            </a:r>
            <a:r>
              <a:rPr lang="en-GB" sz="1700">
                <a:solidFill>
                  <a:schemeClr val="dk1"/>
                </a:solidFill>
              </a:rPr>
              <a:t>), (4, 108), (5, 110)</a:t>
            </a:r>
            <a:endParaRPr sz="1700">
              <a:solidFill>
                <a:schemeClr val="dk1"/>
              </a:solidFill>
            </a:endParaRPr>
          </a:p>
          <a:p>
            <a:pPr indent="0" lvl="0" marL="0" rtl="0" algn="l">
              <a:lnSpc>
                <a:spcPct val="115000"/>
              </a:lnSpc>
              <a:spcBef>
                <a:spcPts val="1200"/>
              </a:spcBef>
              <a:spcAft>
                <a:spcPts val="0"/>
              </a:spcAft>
              <a:buNone/>
            </a:pPr>
            <a:r>
              <a:rPr b="1" lang="en-GB" sz="1700">
                <a:solidFill>
                  <a:schemeClr val="dk1"/>
                </a:solidFill>
              </a:rPr>
              <a:t>Fit a regression function (y = 2x + 98)</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Predicted values: (1, 100), (2, 102), </a:t>
            </a:r>
            <a:r>
              <a:rPr b="1" lang="en-GB" sz="1700">
                <a:solidFill>
                  <a:schemeClr val="dk1"/>
                </a:solidFill>
              </a:rPr>
              <a:t>(3, 104)</a:t>
            </a:r>
            <a:r>
              <a:rPr lang="en-GB" sz="1700">
                <a:solidFill>
                  <a:schemeClr val="dk1"/>
                </a:solidFill>
              </a:rPr>
              <a:t>, (4, 106), (5, 108)</a:t>
            </a:r>
            <a:endParaRPr sz="1700">
              <a:solidFill>
                <a:schemeClr val="dk1"/>
              </a:solidFill>
            </a:endParaRPr>
          </a:p>
        </p:txBody>
      </p:sp>
      <p:pic>
        <p:nvPicPr>
          <p:cNvPr id="207" name="Google Shape;207;p38"/>
          <p:cNvPicPr preferRelativeResize="0"/>
          <p:nvPr/>
        </p:nvPicPr>
        <p:blipFill>
          <a:blip r:embed="rId3">
            <a:alphaModFix/>
          </a:blip>
          <a:stretch>
            <a:fillRect/>
          </a:stretch>
        </p:blipFill>
        <p:spPr>
          <a:xfrm>
            <a:off x="1078950" y="3208600"/>
            <a:ext cx="6416250" cy="969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ctrTitle"/>
          </p:nvPr>
        </p:nvSpPr>
        <p:spPr>
          <a:xfrm>
            <a:off x="311708" y="14024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How c</a:t>
            </a:r>
            <a:r>
              <a:rPr lang="en-GB"/>
              <a:t>an we compare these attribute values? </a:t>
            </a:r>
            <a:endParaRPr/>
          </a:p>
        </p:txBody>
      </p:sp>
      <p:sp>
        <p:nvSpPr>
          <p:cNvPr id="213" name="Google Shape;213;p3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ctrTitle"/>
          </p:nvPr>
        </p:nvSpPr>
        <p:spPr>
          <a:xfrm>
            <a:off x="474983"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Data Transformation</a:t>
            </a:r>
            <a:endParaRPr/>
          </a:p>
        </p:txBody>
      </p:sp>
      <p:sp>
        <p:nvSpPr>
          <p:cNvPr id="219" name="Google Shape;219;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41"/>
          <p:cNvPicPr preferRelativeResize="0"/>
          <p:nvPr/>
        </p:nvPicPr>
        <p:blipFill>
          <a:blip r:embed="rId3">
            <a:alphaModFix/>
          </a:blip>
          <a:stretch>
            <a:fillRect/>
          </a:stretch>
        </p:blipFill>
        <p:spPr>
          <a:xfrm>
            <a:off x="348800" y="276775"/>
            <a:ext cx="8294425" cy="4787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ctrTitle"/>
          </p:nvPr>
        </p:nvSpPr>
        <p:spPr>
          <a:xfrm>
            <a:off x="311708" y="1935300"/>
            <a:ext cx="8520600" cy="20526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40740"/>
              <a:buFont typeface="Arial"/>
              <a:buNone/>
            </a:pPr>
            <a:r>
              <a:rPr b="1" lang="en-GB" sz="2700"/>
              <a:t>Normalization (Scaling Data within a Range)</a:t>
            </a:r>
            <a:endParaRPr b="1" sz="2700"/>
          </a:p>
          <a:p>
            <a:pPr indent="0" lvl="0" marL="0" rtl="0" algn="l">
              <a:lnSpc>
                <a:spcPct val="115000"/>
              </a:lnSpc>
              <a:spcBef>
                <a:spcPts val="1200"/>
              </a:spcBef>
              <a:spcAft>
                <a:spcPts val="0"/>
              </a:spcAft>
              <a:buNone/>
            </a:pPr>
            <a:r>
              <a:rPr lang="en-GB" sz="2077"/>
              <a:t>Normalization transforms data so that values fall within a </a:t>
            </a:r>
            <a:r>
              <a:rPr b="1" lang="en-GB" sz="2077"/>
              <a:t>specific range</a:t>
            </a:r>
            <a:r>
              <a:rPr lang="en-GB" sz="2077"/>
              <a:t> (e.g., [0,1] or [-1,1]). </a:t>
            </a:r>
            <a:endParaRPr sz="2077"/>
          </a:p>
          <a:p>
            <a:pPr indent="0" lvl="0" marL="0" rtl="0" algn="l">
              <a:lnSpc>
                <a:spcPct val="115000"/>
              </a:lnSpc>
              <a:spcBef>
                <a:spcPts val="1200"/>
              </a:spcBef>
              <a:spcAft>
                <a:spcPts val="0"/>
              </a:spcAft>
              <a:buNone/>
            </a:pPr>
            <a:r>
              <a:t/>
            </a:r>
            <a:endParaRPr sz="2077"/>
          </a:p>
          <a:p>
            <a:pPr indent="0" lvl="0" marL="0" rtl="0" algn="l">
              <a:lnSpc>
                <a:spcPct val="115000"/>
              </a:lnSpc>
              <a:spcBef>
                <a:spcPts val="1200"/>
              </a:spcBef>
              <a:spcAft>
                <a:spcPts val="0"/>
              </a:spcAft>
              <a:buClr>
                <a:schemeClr val="dk1"/>
              </a:buClr>
              <a:buSzPct val="52941"/>
              <a:buFont typeface="Arial"/>
              <a:buNone/>
            </a:pPr>
            <a:r>
              <a:rPr lang="en-GB" sz="2077"/>
              <a:t>Crucial for </a:t>
            </a:r>
            <a:r>
              <a:rPr b="1" lang="en-GB" sz="2077"/>
              <a:t>machine learning models</a:t>
            </a:r>
            <a:r>
              <a:rPr lang="en-GB" sz="2077"/>
              <a:t>, as some models (like gradient-based algorithms) are sensitive to varying feature magnitudes.</a:t>
            </a:r>
            <a:endParaRPr sz="2077"/>
          </a:p>
          <a:p>
            <a:pPr indent="0" lvl="0" marL="0" rtl="0" algn="ctr">
              <a:spcBef>
                <a:spcPts val="12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43"/>
          <p:cNvPicPr preferRelativeResize="0"/>
          <p:nvPr/>
        </p:nvPicPr>
        <p:blipFill>
          <a:blip r:embed="rId3">
            <a:alphaModFix/>
          </a:blip>
          <a:stretch>
            <a:fillRect/>
          </a:stretch>
        </p:blipFill>
        <p:spPr>
          <a:xfrm>
            <a:off x="416212" y="272063"/>
            <a:ext cx="8458926" cy="4771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4"/>
          <p:cNvSpPr txBox="1"/>
          <p:nvPr>
            <p:ph idx="1" type="subTitle"/>
          </p:nvPr>
        </p:nvSpPr>
        <p:spPr>
          <a:xfrm>
            <a:off x="311700" y="2266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Min-Max Normalization</a:t>
            </a:r>
            <a:endParaRPr/>
          </a:p>
        </p:txBody>
      </p:sp>
      <p:pic>
        <p:nvPicPr>
          <p:cNvPr id="240" name="Google Shape;240;p44"/>
          <p:cNvPicPr preferRelativeResize="0"/>
          <p:nvPr/>
        </p:nvPicPr>
        <p:blipFill>
          <a:blip r:embed="rId3">
            <a:alphaModFix/>
          </a:blip>
          <a:stretch>
            <a:fillRect/>
          </a:stretch>
        </p:blipFill>
        <p:spPr>
          <a:xfrm>
            <a:off x="1821925" y="1252500"/>
            <a:ext cx="5231725" cy="3016675"/>
          </a:xfrm>
          <a:prstGeom prst="rect">
            <a:avLst/>
          </a:prstGeom>
          <a:noFill/>
          <a:ln>
            <a:noFill/>
          </a:ln>
        </p:spPr>
      </p:pic>
      <p:sp>
        <p:nvSpPr>
          <p:cNvPr id="241" name="Google Shape;241;p44"/>
          <p:cNvSpPr txBox="1"/>
          <p:nvPr/>
        </p:nvSpPr>
        <p:spPr>
          <a:xfrm>
            <a:off x="6961475" y="1315850"/>
            <a:ext cx="1804500" cy="7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rPr>
              <a:t>Range [0,1]</a:t>
            </a:r>
            <a:endParaRPr b="1" sz="20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ctrTitle"/>
          </p:nvPr>
        </p:nvSpPr>
        <p:spPr>
          <a:xfrm>
            <a:off x="121721" y="12724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rPr lang="en-GB" sz="1900"/>
              <a:t>Converts data into a range </a:t>
            </a:r>
            <a:r>
              <a:rPr b="1" lang="en-GB" sz="1900"/>
              <a:t>[new min, new max]</a:t>
            </a:r>
            <a:r>
              <a:rPr lang="en-GB" sz="1900"/>
              <a:t> (commonly [0,1] or [-1,1]).</a:t>
            </a:r>
            <a:endParaRPr sz="6000"/>
          </a:p>
        </p:txBody>
      </p:sp>
      <p:pic>
        <p:nvPicPr>
          <p:cNvPr id="247" name="Google Shape;247;p45"/>
          <p:cNvPicPr preferRelativeResize="0"/>
          <p:nvPr/>
        </p:nvPicPr>
        <p:blipFill>
          <a:blip r:embed="rId3">
            <a:alphaModFix/>
          </a:blip>
          <a:stretch>
            <a:fillRect/>
          </a:stretch>
        </p:blipFill>
        <p:spPr>
          <a:xfrm>
            <a:off x="183088" y="1470225"/>
            <a:ext cx="8839200" cy="1239644"/>
          </a:xfrm>
          <a:prstGeom prst="rect">
            <a:avLst/>
          </a:prstGeom>
          <a:noFill/>
          <a:ln>
            <a:noFill/>
          </a:ln>
        </p:spPr>
      </p:pic>
      <p:pic>
        <p:nvPicPr>
          <p:cNvPr id="248" name="Google Shape;248;p45"/>
          <p:cNvPicPr preferRelativeResize="0"/>
          <p:nvPr/>
        </p:nvPicPr>
        <p:blipFill>
          <a:blip r:embed="rId4">
            <a:alphaModFix/>
          </a:blip>
          <a:stretch>
            <a:fillRect/>
          </a:stretch>
        </p:blipFill>
        <p:spPr>
          <a:xfrm>
            <a:off x="152400" y="3477425"/>
            <a:ext cx="8839202" cy="35990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6"/>
          <p:cNvSpPr txBox="1"/>
          <p:nvPr>
            <p:ph idx="1" type="subTitle"/>
          </p:nvPr>
        </p:nvSpPr>
        <p:spPr>
          <a:xfrm>
            <a:off x="311700" y="2266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Standardization (Z-Score Normalization)</a:t>
            </a:r>
            <a:endParaRPr/>
          </a:p>
        </p:txBody>
      </p:sp>
      <p:pic>
        <p:nvPicPr>
          <p:cNvPr id="254" name="Google Shape;254;p46"/>
          <p:cNvPicPr preferRelativeResize="0"/>
          <p:nvPr/>
        </p:nvPicPr>
        <p:blipFill rotWithShape="1">
          <a:blip r:embed="rId3">
            <a:alphaModFix/>
          </a:blip>
          <a:srcRect b="0" l="0" r="0" t="13741"/>
          <a:stretch/>
        </p:blipFill>
        <p:spPr>
          <a:xfrm>
            <a:off x="582050" y="1242200"/>
            <a:ext cx="6257751" cy="3294700"/>
          </a:xfrm>
          <a:prstGeom prst="rect">
            <a:avLst/>
          </a:prstGeom>
          <a:noFill/>
          <a:ln>
            <a:noFill/>
          </a:ln>
        </p:spPr>
      </p:pic>
      <p:pic>
        <p:nvPicPr>
          <p:cNvPr id="255" name="Google Shape;255;p46"/>
          <p:cNvPicPr preferRelativeResize="0"/>
          <p:nvPr/>
        </p:nvPicPr>
        <p:blipFill>
          <a:blip r:embed="rId4">
            <a:alphaModFix/>
          </a:blip>
          <a:stretch>
            <a:fillRect/>
          </a:stretch>
        </p:blipFill>
        <p:spPr>
          <a:xfrm>
            <a:off x="5958200" y="2106113"/>
            <a:ext cx="2874107" cy="9312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nvSpPr>
        <p:spPr>
          <a:xfrm>
            <a:off x="724275" y="1374875"/>
            <a:ext cx="7378800" cy="1800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SzPts val="2100"/>
              <a:buChar char="●"/>
            </a:pPr>
            <a:r>
              <a:rPr lang="en-GB" sz="2100"/>
              <a:t>Converts data into a standard normal distribution with mean = 0 and standard deviation = 1.</a:t>
            </a:r>
            <a:endParaRPr sz="2100"/>
          </a:p>
          <a:p>
            <a:pPr indent="-361950" lvl="0" marL="457200" rtl="0" algn="l">
              <a:spcBef>
                <a:spcPts val="0"/>
              </a:spcBef>
              <a:spcAft>
                <a:spcPts val="0"/>
              </a:spcAft>
              <a:buSzPts val="2100"/>
              <a:buChar char="●"/>
            </a:pPr>
            <a:r>
              <a:rPr lang="en-GB" sz="2100"/>
              <a:t>Useful when data has different scales and distributions.</a:t>
            </a:r>
            <a:endParaRPr sz="2100"/>
          </a:p>
          <a:p>
            <a:pPr indent="-361950" lvl="0" marL="457200" rtl="0" algn="l">
              <a:spcBef>
                <a:spcPts val="0"/>
              </a:spcBef>
              <a:spcAft>
                <a:spcPts val="0"/>
              </a:spcAft>
              <a:buSzPts val="2100"/>
              <a:buChar char="●"/>
            </a:pPr>
            <a:r>
              <a:rPr lang="en-GB" sz="2100"/>
              <a:t>Less sensitive to outliers compared to min-max normalization.</a:t>
            </a:r>
            <a:endParaRPr sz="2100"/>
          </a:p>
        </p:txBody>
      </p:sp>
      <p:pic>
        <p:nvPicPr>
          <p:cNvPr id="261" name="Google Shape;261;p47"/>
          <p:cNvPicPr preferRelativeResize="0"/>
          <p:nvPr/>
        </p:nvPicPr>
        <p:blipFill>
          <a:blip r:embed="rId3">
            <a:alphaModFix/>
          </a:blip>
          <a:stretch>
            <a:fillRect/>
          </a:stretch>
        </p:blipFill>
        <p:spPr>
          <a:xfrm>
            <a:off x="348800" y="3359074"/>
            <a:ext cx="8306701" cy="482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8"/>
          <p:cNvSpPr txBox="1"/>
          <p:nvPr>
            <p:ph idx="1" type="subTitle"/>
          </p:nvPr>
        </p:nvSpPr>
        <p:spPr>
          <a:xfrm>
            <a:off x="311700" y="2266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Decimal Scaling Normalization</a:t>
            </a:r>
            <a:endParaRPr/>
          </a:p>
        </p:txBody>
      </p:sp>
      <p:sp>
        <p:nvSpPr>
          <p:cNvPr id="267" name="Google Shape;267;p48"/>
          <p:cNvSpPr txBox="1"/>
          <p:nvPr/>
        </p:nvSpPr>
        <p:spPr>
          <a:xfrm>
            <a:off x="311700" y="1190750"/>
            <a:ext cx="82137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1"/>
                </a:solidFill>
              </a:rPr>
              <a:t>Moves the </a:t>
            </a:r>
            <a:r>
              <a:rPr b="1" lang="en-GB" sz="1500">
                <a:solidFill>
                  <a:schemeClr val="dk1"/>
                </a:solidFill>
              </a:rPr>
              <a:t>decimal point</a:t>
            </a:r>
            <a:r>
              <a:rPr lang="en-GB" sz="1500">
                <a:solidFill>
                  <a:schemeClr val="dk1"/>
                </a:solidFill>
              </a:rPr>
              <a:t> to scale values within </a:t>
            </a:r>
            <a:r>
              <a:rPr b="1" lang="en-GB" sz="1500">
                <a:solidFill>
                  <a:schemeClr val="dk1"/>
                </a:solidFill>
              </a:rPr>
              <a:t>(-1,1)</a:t>
            </a:r>
            <a:r>
              <a:rPr lang="en-GB" sz="1500">
                <a:solidFill>
                  <a:schemeClr val="dk1"/>
                </a:solidFill>
              </a:rPr>
              <a:t>.</a:t>
            </a:r>
            <a:endParaRPr sz="1500">
              <a:solidFill>
                <a:schemeClr val="dk1"/>
              </a:solidFill>
            </a:endParaRPr>
          </a:p>
          <a:p>
            <a:pPr indent="0" lvl="0" marL="0" rtl="0" algn="l">
              <a:spcBef>
                <a:spcPts val="0"/>
              </a:spcBef>
              <a:spcAft>
                <a:spcPts val="0"/>
              </a:spcAft>
              <a:buNone/>
            </a:pPr>
            <a:r>
              <a:rPr lang="en-GB" sz="1500">
                <a:solidFill>
                  <a:schemeClr val="dk1"/>
                </a:solidFill>
              </a:rPr>
              <a:t>The choice of </a:t>
            </a:r>
            <a:r>
              <a:rPr b="1" i="1" lang="en-GB" sz="1500">
                <a:solidFill>
                  <a:schemeClr val="dk1"/>
                </a:solidFill>
              </a:rPr>
              <a:t>j</a:t>
            </a:r>
            <a:r>
              <a:rPr lang="en-GB" sz="1500">
                <a:solidFill>
                  <a:schemeClr val="dk1"/>
                </a:solidFill>
              </a:rPr>
              <a:t> depends on the maximum absolute value in the dataset.</a:t>
            </a:r>
            <a:endParaRPr sz="1500">
              <a:solidFill>
                <a:schemeClr val="dk1"/>
              </a:solidFill>
            </a:endParaRPr>
          </a:p>
          <a:p>
            <a:pPr indent="0" lvl="0" marL="0" rtl="0" algn="l">
              <a:spcBef>
                <a:spcPts val="0"/>
              </a:spcBef>
              <a:spcAft>
                <a:spcPts val="0"/>
              </a:spcAft>
              <a:buNone/>
            </a:pPr>
            <a:r>
              <a:rPr lang="en-GB" sz="1500">
                <a:solidFill>
                  <a:schemeClr val="dk1"/>
                </a:solidFill>
              </a:rPr>
              <a:t>Simple but not commonly used in ML.</a:t>
            </a:r>
            <a:endParaRPr sz="1500">
              <a:solidFill>
                <a:schemeClr val="dk1"/>
              </a:solidFill>
            </a:endParaRPr>
          </a:p>
        </p:txBody>
      </p:sp>
      <p:pic>
        <p:nvPicPr>
          <p:cNvPr id="268" name="Google Shape;268;p48"/>
          <p:cNvPicPr preferRelativeResize="0"/>
          <p:nvPr/>
        </p:nvPicPr>
        <p:blipFill>
          <a:blip r:embed="rId3">
            <a:alphaModFix/>
          </a:blip>
          <a:stretch>
            <a:fillRect/>
          </a:stretch>
        </p:blipFill>
        <p:spPr>
          <a:xfrm>
            <a:off x="2988075" y="2006200"/>
            <a:ext cx="2000250" cy="1466850"/>
          </a:xfrm>
          <a:prstGeom prst="rect">
            <a:avLst/>
          </a:prstGeom>
          <a:noFill/>
          <a:ln>
            <a:noFill/>
          </a:ln>
        </p:spPr>
      </p:pic>
      <p:pic>
        <p:nvPicPr>
          <p:cNvPr id="269" name="Google Shape;269;p48"/>
          <p:cNvPicPr preferRelativeResize="0"/>
          <p:nvPr/>
        </p:nvPicPr>
        <p:blipFill>
          <a:blip r:embed="rId4">
            <a:alphaModFix/>
          </a:blip>
          <a:stretch>
            <a:fillRect/>
          </a:stretch>
        </p:blipFill>
        <p:spPr>
          <a:xfrm>
            <a:off x="6196450" y="2654500"/>
            <a:ext cx="1820725" cy="473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idx="1" type="subTitle"/>
          </p:nvPr>
        </p:nvSpPr>
        <p:spPr>
          <a:xfrm>
            <a:off x="311700" y="2266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Decimal Scaling Normalization</a:t>
            </a:r>
            <a:endParaRPr/>
          </a:p>
        </p:txBody>
      </p:sp>
      <p:pic>
        <p:nvPicPr>
          <p:cNvPr id="275" name="Google Shape;275;p49"/>
          <p:cNvPicPr preferRelativeResize="0"/>
          <p:nvPr/>
        </p:nvPicPr>
        <p:blipFill>
          <a:blip r:embed="rId3">
            <a:alphaModFix/>
          </a:blip>
          <a:stretch>
            <a:fillRect/>
          </a:stretch>
        </p:blipFill>
        <p:spPr>
          <a:xfrm>
            <a:off x="1005850" y="1092913"/>
            <a:ext cx="5900137" cy="968937"/>
          </a:xfrm>
          <a:prstGeom prst="rect">
            <a:avLst/>
          </a:prstGeom>
          <a:noFill/>
          <a:ln>
            <a:noFill/>
          </a:ln>
        </p:spPr>
      </p:pic>
      <p:pic>
        <p:nvPicPr>
          <p:cNvPr id="276" name="Google Shape;276;p49"/>
          <p:cNvPicPr preferRelativeResize="0"/>
          <p:nvPr/>
        </p:nvPicPr>
        <p:blipFill>
          <a:blip r:embed="rId4">
            <a:alphaModFix/>
          </a:blip>
          <a:stretch>
            <a:fillRect/>
          </a:stretch>
        </p:blipFill>
        <p:spPr>
          <a:xfrm>
            <a:off x="1005850" y="2214250"/>
            <a:ext cx="1695450" cy="1009650"/>
          </a:xfrm>
          <a:prstGeom prst="rect">
            <a:avLst/>
          </a:prstGeom>
          <a:noFill/>
          <a:ln>
            <a:noFill/>
          </a:ln>
        </p:spPr>
      </p:pic>
      <p:pic>
        <p:nvPicPr>
          <p:cNvPr id="277" name="Google Shape;277;p49"/>
          <p:cNvPicPr preferRelativeResize="0"/>
          <p:nvPr/>
        </p:nvPicPr>
        <p:blipFill>
          <a:blip r:embed="rId5">
            <a:alphaModFix/>
          </a:blip>
          <a:stretch>
            <a:fillRect/>
          </a:stretch>
        </p:blipFill>
        <p:spPr>
          <a:xfrm>
            <a:off x="2853700" y="2214250"/>
            <a:ext cx="4953000" cy="704850"/>
          </a:xfrm>
          <a:prstGeom prst="rect">
            <a:avLst/>
          </a:prstGeom>
          <a:noFill/>
          <a:ln>
            <a:noFill/>
          </a:ln>
        </p:spPr>
      </p:pic>
      <p:pic>
        <p:nvPicPr>
          <p:cNvPr id="278" name="Google Shape;278;p49"/>
          <p:cNvPicPr preferRelativeResize="0"/>
          <p:nvPr/>
        </p:nvPicPr>
        <p:blipFill>
          <a:blip r:embed="rId6">
            <a:alphaModFix/>
          </a:blip>
          <a:stretch>
            <a:fillRect/>
          </a:stretch>
        </p:blipFill>
        <p:spPr>
          <a:xfrm>
            <a:off x="1005850" y="3646350"/>
            <a:ext cx="5603774" cy="389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0"/>
          <p:cNvSpPr txBox="1"/>
          <p:nvPr>
            <p:ph type="ctrTitle"/>
          </p:nvPr>
        </p:nvSpPr>
        <p:spPr>
          <a:xfrm>
            <a:off x="311708" y="26310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3600"/>
              <a:t>Data Transformation: Aggregation</a:t>
            </a:r>
            <a:endParaRPr sz="3600"/>
          </a:p>
          <a:p>
            <a:pPr indent="0" lvl="0" marL="0" rtl="0" algn="l">
              <a:spcBef>
                <a:spcPts val="0"/>
              </a:spcBef>
              <a:spcAft>
                <a:spcPts val="0"/>
              </a:spcAft>
              <a:buNone/>
            </a:pPr>
            <a:r>
              <a:rPr lang="en-GB" sz="2500"/>
              <a:t> </a:t>
            </a:r>
            <a:endParaRPr sz="2500"/>
          </a:p>
          <a:p>
            <a:pPr indent="0" lvl="0" marL="0" rtl="0" algn="l">
              <a:spcBef>
                <a:spcPts val="0"/>
              </a:spcBef>
              <a:spcAft>
                <a:spcPts val="0"/>
              </a:spcAft>
              <a:buNone/>
            </a:pPr>
            <a:r>
              <a:rPr lang="en-GB" sz="2500"/>
              <a:t>Combining two or more attributes (or objects) into a single attribute (or object) </a:t>
            </a:r>
            <a:endParaRPr sz="2500"/>
          </a:p>
          <a:p>
            <a:pPr indent="0" lvl="0" marL="0" rtl="0" algn="l">
              <a:spcBef>
                <a:spcPts val="0"/>
              </a:spcBef>
              <a:spcAft>
                <a:spcPts val="0"/>
              </a:spcAft>
              <a:buNone/>
            </a:pPr>
            <a:r>
              <a:rPr lang="en-GB" sz="2500"/>
              <a:t> </a:t>
            </a:r>
            <a:endParaRPr sz="2500"/>
          </a:p>
          <a:p>
            <a:pPr indent="0" lvl="0" marL="0" rtl="0" algn="l">
              <a:spcBef>
                <a:spcPts val="0"/>
              </a:spcBef>
              <a:spcAft>
                <a:spcPts val="0"/>
              </a:spcAft>
              <a:buNone/>
            </a:pPr>
            <a:r>
              <a:rPr b="1" lang="en-GB" sz="2500"/>
              <a:t>Purpose</a:t>
            </a:r>
            <a:r>
              <a:rPr lang="en-GB" sz="2500"/>
              <a:t>  </a:t>
            </a:r>
            <a:endParaRPr sz="2500"/>
          </a:p>
          <a:p>
            <a:pPr indent="-371475" lvl="0" marL="457200" rtl="0" algn="l">
              <a:spcBef>
                <a:spcPts val="0"/>
              </a:spcBef>
              <a:spcAft>
                <a:spcPts val="0"/>
              </a:spcAft>
              <a:buSzPct val="100000"/>
              <a:buChar char="●"/>
            </a:pPr>
            <a:r>
              <a:rPr lang="en-GB" sz="2500"/>
              <a:t>Data reduction  </a:t>
            </a:r>
            <a:endParaRPr sz="2500"/>
          </a:p>
          <a:p>
            <a:pPr indent="-371475" lvl="1" marL="914400" rtl="0" algn="l">
              <a:spcBef>
                <a:spcPts val="0"/>
              </a:spcBef>
              <a:spcAft>
                <a:spcPts val="0"/>
              </a:spcAft>
              <a:buSzPct val="100000"/>
              <a:buChar char="○"/>
            </a:pPr>
            <a:r>
              <a:rPr lang="en-GB" sz="2500"/>
              <a:t>Reduce the number of attributes or objects  </a:t>
            </a:r>
            <a:endParaRPr sz="2500"/>
          </a:p>
          <a:p>
            <a:pPr indent="-371475" lvl="0" marL="457200" rtl="0" algn="l">
              <a:spcBef>
                <a:spcPts val="0"/>
              </a:spcBef>
              <a:spcAft>
                <a:spcPts val="0"/>
              </a:spcAft>
              <a:buSzPct val="100000"/>
              <a:buChar char="●"/>
            </a:pPr>
            <a:r>
              <a:rPr lang="en-GB" sz="2500"/>
              <a:t>Change of Scale</a:t>
            </a:r>
            <a:endParaRPr sz="2500"/>
          </a:p>
          <a:p>
            <a:pPr indent="-371475" lvl="1" marL="914400" rtl="0" algn="l">
              <a:spcBef>
                <a:spcPts val="0"/>
              </a:spcBef>
              <a:spcAft>
                <a:spcPts val="0"/>
              </a:spcAft>
              <a:buSzPct val="100000"/>
              <a:buChar char="○"/>
            </a:pPr>
            <a:r>
              <a:rPr lang="en-GB" sz="2500"/>
              <a:t>Cities aggregated into regions, states, countries, etc </a:t>
            </a:r>
            <a:endParaRPr sz="2500"/>
          </a:p>
          <a:p>
            <a:pPr indent="-371475" lvl="0" marL="457200" rtl="0" algn="l">
              <a:spcBef>
                <a:spcPts val="0"/>
              </a:spcBef>
              <a:spcAft>
                <a:spcPts val="0"/>
              </a:spcAft>
              <a:buSzPct val="100000"/>
              <a:buChar char="●"/>
            </a:pPr>
            <a:r>
              <a:rPr lang="en-GB" sz="2500"/>
              <a:t>More “stable” data  </a:t>
            </a:r>
            <a:endParaRPr sz="2500"/>
          </a:p>
          <a:p>
            <a:pPr indent="-371475" lvl="1" marL="914400" rtl="0" algn="l">
              <a:spcBef>
                <a:spcPts val="0"/>
              </a:spcBef>
              <a:spcAft>
                <a:spcPts val="0"/>
              </a:spcAft>
              <a:buSzPct val="100000"/>
              <a:buChar char="○"/>
            </a:pPr>
            <a:r>
              <a:rPr lang="en-GB" sz="2500"/>
              <a:t>Aggregated data tends to have less variability </a:t>
            </a:r>
            <a:endParaRPr sz="2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Discretization</a:t>
            </a:r>
            <a:endParaRPr/>
          </a:p>
        </p:txBody>
      </p:sp>
      <p:sp>
        <p:nvSpPr>
          <p:cNvPr id="289" name="Google Shape;289;p5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Discretization is the process of converting continuous numerical data into discrete categories or bins.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52"/>
          <p:cNvPicPr preferRelativeResize="0"/>
          <p:nvPr/>
        </p:nvPicPr>
        <p:blipFill>
          <a:blip r:embed="rId3">
            <a:alphaModFix/>
          </a:blip>
          <a:stretch>
            <a:fillRect/>
          </a:stretch>
        </p:blipFill>
        <p:spPr>
          <a:xfrm>
            <a:off x="690475" y="1114825"/>
            <a:ext cx="7946801" cy="31142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00" name="Google Shape;300;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01" name="Google Shape;301;p53"/>
          <p:cNvPicPr preferRelativeResize="0"/>
          <p:nvPr/>
        </p:nvPicPr>
        <p:blipFill>
          <a:blip r:embed="rId3">
            <a:alphaModFix/>
          </a:blip>
          <a:stretch>
            <a:fillRect/>
          </a:stretch>
        </p:blipFill>
        <p:spPr>
          <a:xfrm>
            <a:off x="422250" y="280474"/>
            <a:ext cx="8299501" cy="45825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07" name="Google Shape;307;p54"/>
          <p:cNvPicPr preferRelativeResize="0"/>
          <p:nvPr/>
        </p:nvPicPr>
        <p:blipFill>
          <a:blip r:embed="rId3">
            <a:alphaModFix/>
          </a:blip>
          <a:stretch>
            <a:fillRect/>
          </a:stretch>
        </p:blipFill>
        <p:spPr>
          <a:xfrm>
            <a:off x="444625" y="638613"/>
            <a:ext cx="8387675" cy="4561425"/>
          </a:xfrm>
          <a:prstGeom prst="rect">
            <a:avLst/>
          </a:prstGeom>
          <a:noFill/>
          <a:ln>
            <a:noFill/>
          </a:ln>
        </p:spPr>
      </p:pic>
      <p:sp>
        <p:nvSpPr>
          <p:cNvPr id="308" name="Google Shape;308;p54"/>
          <p:cNvSpPr txBox="1"/>
          <p:nvPr/>
        </p:nvSpPr>
        <p:spPr>
          <a:xfrm>
            <a:off x="1412875" y="125100"/>
            <a:ext cx="6788400" cy="9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300">
                <a:solidFill>
                  <a:schemeClr val="dk2"/>
                </a:solidFill>
              </a:rPr>
              <a:t>Simple Discretization Methods: Binning</a:t>
            </a:r>
            <a:endParaRPr b="1" sz="23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14" name="Google Shape;314;p55"/>
          <p:cNvSpPr txBox="1"/>
          <p:nvPr/>
        </p:nvSpPr>
        <p:spPr>
          <a:xfrm>
            <a:off x="2878500" y="138500"/>
            <a:ext cx="6788400" cy="9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300">
                <a:solidFill>
                  <a:schemeClr val="dk2"/>
                </a:solidFill>
              </a:rPr>
              <a:t>Information/Entropy</a:t>
            </a:r>
            <a:endParaRPr b="1" sz="2300">
              <a:solidFill>
                <a:schemeClr val="dk2"/>
              </a:solidFill>
            </a:endParaRPr>
          </a:p>
        </p:txBody>
      </p:sp>
      <p:pic>
        <p:nvPicPr>
          <p:cNvPr id="315" name="Google Shape;315;p55"/>
          <p:cNvPicPr preferRelativeResize="0"/>
          <p:nvPr/>
        </p:nvPicPr>
        <p:blipFill>
          <a:blip r:embed="rId3">
            <a:alphaModFix/>
          </a:blip>
          <a:stretch>
            <a:fillRect/>
          </a:stretch>
        </p:blipFill>
        <p:spPr>
          <a:xfrm>
            <a:off x="428625" y="1314450"/>
            <a:ext cx="8286750" cy="2514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21" name="Google Shape;321;p56"/>
          <p:cNvSpPr txBox="1"/>
          <p:nvPr/>
        </p:nvSpPr>
        <p:spPr>
          <a:xfrm>
            <a:off x="2878500" y="138500"/>
            <a:ext cx="6788400" cy="9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300">
                <a:solidFill>
                  <a:schemeClr val="dk2"/>
                </a:solidFill>
              </a:rPr>
              <a:t>Information/Entropy</a:t>
            </a:r>
            <a:endParaRPr b="1" sz="2300">
              <a:solidFill>
                <a:schemeClr val="dk2"/>
              </a:solidFill>
            </a:endParaRPr>
          </a:p>
        </p:txBody>
      </p:sp>
      <p:pic>
        <p:nvPicPr>
          <p:cNvPr id="322" name="Google Shape;322;p56"/>
          <p:cNvPicPr preferRelativeResize="0"/>
          <p:nvPr/>
        </p:nvPicPr>
        <p:blipFill>
          <a:blip r:embed="rId3">
            <a:alphaModFix/>
          </a:blip>
          <a:stretch>
            <a:fillRect/>
          </a:stretch>
        </p:blipFill>
        <p:spPr>
          <a:xfrm>
            <a:off x="428625" y="1314450"/>
            <a:ext cx="8286750" cy="2514600"/>
          </a:xfrm>
          <a:prstGeom prst="rect">
            <a:avLst/>
          </a:prstGeom>
          <a:noFill/>
          <a:ln>
            <a:noFill/>
          </a:ln>
        </p:spPr>
      </p:pic>
      <p:sp>
        <p:nvSpPr>
          <p:cNvPr id="323" name="Google Shape;323;p56"/>
          <p:cNvSpPr txBox="1"/>
          <p:nvPr/>
        </p:nvSpPr>
        <p:spPr>
          <a:xfrm>
            <a:off x="311700" y="3829050"/>
            <a:ext cx="8403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Entropy measures the amount of randomness or surprise or uncertainty.  Only takes into account non-zero probabilities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29" name="Google Shape;329;p57"/>
          <p:cNvSpPr txBox="1"/>
          <p:nvPr/>
        </p:nvSpPr>
        <p:spPr>
          <a:xfrm>
            <a:off x="2878500" y="138500"/>
            <a:ext cx="6788400" cy="9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300">
                <a:solidFill>
                  <a:schemeClr val="dk2"/>
                </a:solidFill>
              </a:rPr>
              <a:t>Information/Entropy</a:t>
            </a:r>
            <a:endParaRPr b="1" sz="2300">
              <a:solidFill>
                <a:schemeClr val="dk2"/>
              </a:solidFill>
            </a:endParaRPr>
          </a:p>
        </p:txBody>
      </p:sp>
      <p:pic>
        <p:nvPicPr>
          <p:cNvPr id="330" name="Google Shape;330;p57"/>
          <p:cNvPicPr preferRelativeResize="0"/>
          <p:nvPr/>
        </p:nvPicPr>
        <p:blipFill>
          <a:blip r:embed="rId3">
            <a:alphaModFix/>
          </a:blip>
          <a:stretch>
            <a:fillRect/>
          </a:stretch>
        </p:blipFill>
        <p:spPr>
          <a:xfrm>
            <a:off x="311700" y="1213906"/>
            <a:ext cx="8520599" cy="186593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36" name="Google Shape;336;p58"/>
          <p:cNvSpPr txBox="1"/>
          <p:nvPr/>
        </p:nvSpPr>
        <p:spPr>
          <a:xfrm>
            <a:off x="2878500" y="138500"/>
            <a:ext cx="6788400" cy="9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300">
                <a:solidFill>
                  <a:schemeClr val="dk2"/>
                </a:solidFill>
              </a:rPr>
              <a:t>Information/Entropy</a:t>
            </a:r>
            <a:endParaRPr b="1" sz="2300">
              <a:solidFill>
                <a:schemeClr val="dk2"/>
              </a:solidFill>
            </a:endParaRPr>
          </a:p>
        </p:txBody>
      </p:sp>
      <p:pic>
        <p:nvPicPr>
          <p:cNvPr id="337" name="Google Shape;337;p58"/>
          <p:cNvPicPr preferRelativeResize="0"/>
          <p:nvPr/>
        </p:nvPicPr>
        <p:blipFill>
          <a:blip r:embed="rId3">
            <a:alphaModFix/>
          </a:blip>
          <a:stretch>
            <a:fillRect/>
          </a:stretch>
        </p:blipFill>
        <p:spPr>
          <a:xfrm>
            <a:off x="365975" y="739850"/>
            <a:ext cx="7986449" cy="2009600"/>
          </a:xfrm>
          <a:prstGeom prst="rect">
            <a:avLst/>
          </a:prstGeom>
          <a:noFill/>
          <a:ln>
            <a:noFill/>
          </a:ln>
        </p:spPr>
      </p:pic>
      <p:pic>
        <p:nvPicPr>
          <p:cNvPr id="338" name="Google Shape;338;p58"/>
          <p:cNvPicPr preferRelativeResize="0"/>
          <p:nvPr/>
        </p:nvPicPr>
        <p:blipFill>
          <a:blip r:embed="rId4">
            <a:alphaModFix/>
          </a:blip>
          <a:stretch>
            <a:fillRect/>
          </a:stretch>
        </p:blipFill>
        <p:spPr>
          <a:xfrm>
            <a:off x="2108075" y="2834125"/>
            <a:ext cx="4663292" cy="1162050"/>
          </a:xfrm>
          <a:prstGeom prst="rect">
            <a:avLst/>
          </a:prstGeom>
          <a:noFill/>
          <a:ln>
            <a:noFill/>
          </a:ln>
        </p:spPr>
      </p:pic>
      <p:pic>
        <p:nvPicPr>
          <p:cNvPr id="339" name="Google Shape;339;p58"/>
          <p:cNvPicPr preferRelativeResize="0"/>
          <p:nvPr/>
        </p:nvPicPr>
        <p:blipFill>
          <a:blip r:embed="rId5">
            <a:alphaModFix/>
          </a:blip>
          <a:stretch>
            <a:fillRect/>
          </a:stretch>
        </p:blipFill>
        <p:spPr>
          <a:xfrm>
            <a:off x="311700" y="4295676"/>
            <a:ext cx="9007065" cy="7926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graphicFrame>
        <p:nvGraphicFramePr>
          <p:cNvPr id="344" name="Google Shape;344;p59"/>
          <p:cNvGraphicFramePr/>
          <p:nvPr/>
        </p:nvGraphicFramePr>
        <p:xfrm>
          <a:off x="952500" y="384875"/>
          <a:ext cx="3000000" cy="3000000"/>
        </p:xfrm>
        <a:graphic>
          <a:graphicData uri="http://schemas.openxmlformats.org/drawingml/2006/table">
            <a:tbl>
              <a:tblPr>
                <a:noFill/>
                <a:tableStyleId>{71FA0E1F-98ED-4E6B-A55F-B6CA2B5AA33A}</a:tableStyleId>
              </a:tblPr>
              <a:tblGrid>
                <a:gridCol w="3619500"/>
                <a:gridCol w="3619500"/>
              </a:tblGrid>
              <a:tr h="381000">
                <a:tc>
                  <a:txBody>
                    <a:bodyPr/>
                    <a:lstStyle/>
                    <a:p>
                      <a:pPr indent="0" lvl="0" marL="0" rtl="0" algn="l">
                        <a:spcBef>
                          <a:spcPts val="0"/>
                        </a:spcBef>
                        <a:spcAft>
                          <a:spcPts val="0"/>
                        </a:spcAft>
                        <a:buNone/>
                      </a:pPr>
                      <a:r>
                        <a:rPr b="1" lang="en-GB"/>
                        <a:t>Age</a:t>
                      </a:r>
                      <a:endParaRPr b="1"/>
                    </a:p>
                  </a:txBody>
                  <a:tcPr marT="91425" marB="91425" marR="91425" marL="91425"/>
                </a:tc>
                <a:tc>
                  <a:txBody>
                    <a:bodyPr/>
                    <a:lstStyle/>
                    <a:p>
                      <a:pPr indent="0" lvl="0" marL="0" rtl="0" algn="l">
                        <a:spcBef>
                          <a:spcPts val="0"/>
                        </a:spcBef>
                        <a:spcAft>
                          <a:spcPts val="0"/>
                        </a:spcAft>
                        <a:buNone/>
                      </a:pPr>
                      <a:r>
                        <a:rPr b="1" lang="en-GB"/>
                        <a:t>Loan Approved</a:t>
                      </a:r>
                      <a:endParaRPr b="1"/>
                    </a:p>
                  </a:txBody>
                  <a:tcPr marT="91425" marB="91425" marR="91425" marL="91425"/>
                </a:tc>
              </a:tr>
              <a:tr h="381000">
                <a:tc>
                  <a:txBody>
                    <a:bodyPr/>
                    <a:lstStyle/>
                    <a:p>
                      <a:pPr indent="0" lvl="0" marL="0" rtl="0" algn="l">
                        <a:spcBef>
                          <a:spcPts val="0"/>
                        </a:spcBef>
                        <a:spcAft>
                          <a:spcPts val="0"/>
                        </a:spcAft>
                        <a:buNone/>
                      </a:pPr>
                      <a:r>
                        <a:rPr lang="en-GB"/>
                        <a:t>22</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r>
              <a:tr h="381000">
                <a:tc>
                  <a:txBody>
                    <a:bodyPr/>
                    <a:lstStyle/>
                    <a:p>
                      <a:pPr indent="0" lvl="0" marL="0" rtl="0" algn="l">
                        <a:spcBef>
                          <a:spcPts val="0"/>
                        </a:spcBef>
                        <a:spcAft>
                          <a:spcPts val="0"/>
                        </a:spcAft>
                        <a:buNone/>
                      </a:pPr>
                      <a:r>
                        <a:rPr lang="en-GB"/>
                        <a:t>25</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r>
              <a:tr h="381000">
                <a:tc>
                  <a:txBody>
                    <a:bodyPr/>
                    <a:lstStyle/>
                    <a:p>
                      <a:pPr indent="0" lvl="0" marL="0" rtl="0" algn="l">
                        <a:spcBef>
                          <a:spcPts val="0"/>
                        </a:spcBef>
                        <a:spcAft>
                          <a:spcPts val="0"/>
                        </a:spcAft>
                        <a:buNone/>
                      </a:pPr>
                      <a:r>
                        <a:rPr lang="en-GB"/>
                        <a:t>47</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381000">
                <a:tc>
                  <a:txBody>
                    <a:bodyPr/>
                    <a:lstStyle/>
                    <a:p>
                      <a:pPr indent="0" lvl="0" marL="0" rtl="0" algn="l">
                        <a:spcBef>
                          <a:spcPts val="0"/>
                        </a:spcBef>
                        <a:spcAft>
                          <a:spcPts val="0"/>
                        </a:spcAft>
                        <a:buNone/>
                      </a:pPr>
                      <a:r>
                        <a:rPr lang="en-GB"/>
                        <a:t>51</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381000">
                <a:tc>
                  <a:txBody>
                    <a:bodyPr/>
                    <a:lstStyle/>
                    <a:p>
                      <a:pPr indent="0" lvl="0" marL="0" rtl="0" algn="l">
                        <a:spcBef>
                          <a:spcPts val="0"/>
                        </a:spcBef>
                        <a:spcAft>
                          <a:spcPts val="0"/>
                        </a:spcAft>
                        <a:buNone/>
                      </a:pPr>
                      <a:r>
                        <a:rPr lang="en-GB"/>
                        <a:t>56</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bl>
          </a:graphicData>
        </a:graphic>
      </p:graphicFrame>
      <p:pic>
        <p:nvPicPr>
          <p:cNvPr id="345" name="Google Shape;345;p59"/>
          <p:cNvPicPr preferRelativeResize="0"/>
          <p:nvPr/>
        </p:nvPicPr>
        <p:blipFill rotWithShape="1">
          <a:blip r:embed="rId3">
            <a:alphaModFix/>
          </a:blip>
          <a:srcRect b="0" l="4306" r="0" t="0"/>
          <a:stretch/>
        </p:blipFill>
        <p:spPr>
          <a:xfrm>
            <a:off x="4825500" y="3167250"/>
            <a:ext cx="1691371" cy="952875"/>
          </a:xfrm>
          <a:prstGeom prst="rect">
            <a:avLst/>
          </a:prstGeom>
          <a:noFill/>
          <a:ln>
            <a:noFill/>
          </a:ln>
        </p:spPr>
      </p:pic>
      <p:pic>
        <p:nvPicPr>
          <p:cNvPr id="346" name="Google Shape;346;p59"/>
          <p:cNvPicPr preferRelativeResize="0"/>
          <p:nvPr/>
        </p:nvPicPr>
        <p:blipFill rotWithShape="1">
          <a:blip r:embed="rId4">
            <a:alphaModFix/>
          </a:blip>
          <a:srcRect b="0" l="0" r="3707" t="0"/>
          <a:stretch/>
        </p:blipFill>
        <p:spPr>
          <a:xfrm>
            <a:off x="952500" y="3167259"/>
            <a:ext cx="2096475" cy="47024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graphicFrame>
        <p:nvGraphicFramePr>
          <p:cNvPr id="351" name="Google Shape;351;p60"/>
          <p:cNvGraphicFramePr/>
          <p:nvPr/>
        </p:nvGraphicFramePr>
        <p:xfrm>
          <a:off x="952500" y="384875"/>
          <a:ext cx="3000000" cy="3000000"/>
        </p:xfrm>
        <a:graphic>
          <a:graphicData uri="http://schemas.openxmlformats.org/drawingml/2006/table">
            <a:tbl>
              <a:tblPr>
                <a:noFill/>
                <a:tableStyleId>{71FA0E1F-98ED-4E6B-A55F-B6CA2B5AA33A}</a:tableStyleId>
              </a:tblPr>
              <a:tblGrid>
                <a:gridCol w="3619500"/>
                <a:gridCol w="3619500"/>
              </a:tblGrid>
              <a:tr h="381000">
                <a:tc>
                  <a:txBody>
                    <a:bodyPr/>
                    <a:lstStyle/>
                    <a:p>
                      <a:pPr indent="0" lvl="0" marL="0" rtl="0" algn="ctr">
                        <a:spcBef>
                          <a:spcPts val="0"/>
                        </a:spcBef>
                        <a:spcAft>
                          <a:spcPts val="0"/>
                        </a:spcAft>
                        <a:buNone/>
                      </a:pPr>
                      <a:r>
                        <a:rPr b="1" lang="en-GB"/>
                        <a:t>Age</a:t>
                      </a:r>
                      <a:endParaRPr b="1"/>
                    </a:p>
                  </a:txBody>
                  <a:tcPr marT="91425" marB="91425" marR="91425" marL="91425"/>
                </a:tc>
                <a:tc>
                  <a:txBody>
                    <a:bodyPr/>
                    <a:lstStyle/>
                    <a:p>
                      <a:pPr indent="0" lvl="0" marL="0" rtl="0" algn="ctr">
                        <a:spcBef>
                          <a:spcPts val="0"/>
                        </a:spcBef>
                        <a:spcAft>
                          <a:spcPts val="0"/>
                        </a:spcAft>
                        <a:buNone/>
                      </a:pPr>
                      <a:r>
                        <a:rPr b="1" lang="en-GB"/>
                        <a:t>Loan Approved</a:t>
                      </a:r>
                      <a:endParaRPr b="1"/>
                    </a:p>
                  </a:txBody>
                  <a:tcPr marT="91425" marB="91425" marR="91425" marL="91425"/>
                </a:tc>
              </a:tr>
              <a:tr h="381000">
                <a:tc>
                  <a:txBody>
                    <a:bodyPr/>
                    <a:lstStyle/>
                    <a:p>
                      <a:pPr indent="0" lvl="0" marL="0" rtl="0" algn="ctr">
                        <a:spcBef>
                          <a:spcPts val="0"/>
                        </a:spcBef>
                        <a:spcAft>
                          <a:spcPts val="0"/>
                        </a:spcAft>
                        <a:buNone/>
                      </a:pPr>
                      <a:r>
                        <a:rPr lang="en-GB"/>
                        <a:t>22</a:t>
                      </a:r>
                      <a:endParaRPr/>
                    </a:p>
                  </a:txBody>
                  <a:tcPr marT="91425" marB="91425" marR="91425" marL="91425"/>
                </a:tc>
                <a:tc>
                  <a:txBody>
                    <a:bodyPr/>
                    <a:lstStyle/>
                    <a:p>
                      <a:pPr indent="0" lvl="0" marL="0" rtl="0" algn="ctr">
                        <a:spcBef>
                          <a:spcPts val="0"/>
                        </a:spcBef>
                        <a:spcAft>
                          <a:spcPts val="0"/>
                        </a:spcAft>
                        <a:buNone/>
                      </a:pPr>
                      <a:r>
                        <a:rPr lang="en-GB"/>
                        <a:t>Yes</a:t>
                      </a:r>
                      <a:endParaRPr/>
                    </a:p>
                  </a:txBody>
                  <a:tcPr marT="91425" marB="91425" marR="91425" marL="91425"/>
                </a:tc>
              </a:tr>
              <a:tr h="381000">
                <a:tc>
                  <a:txBody>
                    <a:bodyPr/>
                    <a:lstStyle/>
                    <a:p>
                      <a:pPr indent="0" lvl="0" marL="0" rtl="0" algn="ctr">
                        <a:spcBef>
                          <a:spcPts val="0"/>
                        </a:spcBef>
                        <a:spcAft>
                          <a:spcPts val="0"/>
                        </a:spcAft>
                        <a:buNone/>
                      </a:pPr>
                      <a:r>
                        <a:rPr lang="en-GB"/>
                        <a:t>25</a:t>
                      </a:r>
                      <a:endParaRPr/>
                    </a:p>
                  </a:txBody>
                  <a:tcPr marT="91425" marB="91425" marR="91425" marL="91425"/>
                </a:tc>
                <a:tc>
                  <a:txBody>
                    <a:bodyPr/>
                    <a:lstStyle/>
                    <a:p>
                      <a:pPr indent="0" lvl="0" marL="0" rtl="0" algn="ctr">
                        <a:spcBef>
                          <a:spcPts val="0"/>
                        </a:spcBef>
                        <a:spcAft>
                          <a:spcPts val="0"/>
                        </a:spcAft>
                        <a:buNone/>
                      </a:pPr>
                      <a:r>
                        <a:rPr lang="en-GB"/>
                        <a:t>Yes</a:t>
                      </a:r>
                      <a:endParaRPr/>
                    </a:p>
                  </a:txBody>
                  <a:tcPr marT="91425" marB="91425" marR="91425" marL="91425"/>
                </a:tc>
              </a:tr>
              <a:tr h="381000">
                <a:tc>
                  <a:txBody>
                    <a:bodyPr/>
                    <a:lstStyle/>
                    <a:p>
                      <a:pPr indent="0" lvl="0" marL="0" rtl="0" algn="ctr">
                        <a:spcBef>
                          <a:spcPts val="0"/>
                        </a:spcBef>
                        <a:spcAft>
                          <a:spcPts val="0"/>
                        </a:spcAft>
                        <a:buNone/>
                      </a:pPr>
                      <a:r>
                        <a:rPr lang="en-GB"/>
                        <a:t>47</a:t>
                      </a:r>
                      <a:endParaRPr/>
                    </a:p>
                  </a:txBody>
                  <a:tcPr marT="91425" marB="91425" marR="91425" marL="91425"/>
                </a:tc>
                <a:tc>
                  <a:txBody>
                    <a:bodyPr/>
                    <a:lstStyle/>
                    <a:p>
                      <a:pPr indent="0" lvl="0" marL="0" rtl="0" algn="ctr">
                        <a:spcBef>
                          <a:spcPts val="0"/>
                        </a:spcBef>
                        <a:spcAft>
                          <a:spcPts val="0"/>
                        </a:spcAft>
                        <a:buNone/>
                      </a:pPr>
                      <a:r>
                        <a:rPr lang="en-GB"/>
                        <a:t>No</a:t>
                      </a:r>
                      <a:endParaRPr/>
                    </a:p>
                  </a:txBody>
                  <a:tcPr marT="91425" marB="91425" marR="91425" marL="91425"/>
                </a:tc>
              </a:tr>
              <a:tr h="381000">
                <a:tc>
                  <a:txBody>
                    <a:bodyPr/>
                    <a:lstStyle/>
                    <a:p>
                      <a:pPr indent="0" lvl="0" marL="0" rtl="0" algn="ctr">
                        <a:spcBef>
                          <a:spcPts val="0"/>
                        </a:spcBef>
                        <a:spcAft>
                          <a:spcPts val="0"/>
                        </a:spcAft>
                        <a:buNone/>
                      </a:pPr>
                      <a:r>
                        <a:rPr lang="en-GB"/>
                        <a:t>51</a:t>
                      </a:r>
                      <a:endParaRPr/>
                    </a:p>
                  </a:txBody>
                  <a:tcPr marT="91425" marB="91425" marR="91425" marL="91425"/>
                </a:tc>
                <a:tc>
                  <a:txBody>
                    <a:bodyPr/>
                    <a:lstStyle/>
                    <a:p>
                      <a:pPr indent="0" lvl="0" marL="0" rtl="0" algn="ctr">
                        <a:spcBef>
                          <a:spcPts val="0"/>
                        </a:spcBef>
                        <a:spcAft>
                          <a:spcPts val="0"/>
                        </a:spcAft>
                        <a:buNone/>
                      </a:pPr>
                      <a:r>
                        <a:rPr lang="en-GB"/>
                        <a:t>No</a:t>
                      </a:r>
                      <a:endParaRPr/>
                    </a:p>
                  </a:txBody>
                  <a:tcPr marT="91425" marB="91425" marR="91425" marL="91425"/>
                </a:tc>
              </a:tr>
              <a:tr h="381000">
                <a:tc>
                  <a:txBody>
                    <a:bodyPr/>
                    <a:lstStyle/>
                    <a:p>
                      <a:pPr indent="0" lvl="0" marL="0" rtl="0" algn="ctr">
                        <a:spcBef>
                          <a:spcPts val="0"/>
                        </a:spcBef>
                        <a:spcAft>
                          <a:spcPts val="0"/>
                        </a:spcAft>
                        <a:buNone/>
                      </a:pPr>
                      <a:r>
                        <a:rPr lang="en-GB"/>
                        <a:t>56</a:t>
                      </a:r>
                      <a:endParaRPr/>
                    </a:p>
                  </a:txBody>
                  <a:tcPr marT="91425" marB="91425" marR="91425" marL="91425"/>
                </a:tc>
                <a:tc>
                  <a:txBody>
                    <a:bodyPr/>
                    <a:lstStyle/>
                    <a:p>
                      <a:pPr indent="0" lvl="0" marL="0" rtl="0" algn="ctr">
                        <a:spcBef>
                          <a:spcPts val="0"/>
                        </a:spcBef>
                        <a:spcAft>
                          <a:spcPts val="0"/>
                        </a:spcAft>
                        <a:buNone/>
                      </a:pPr>
                      <a:r>
                        <a:rPr lang="en-GB"/>
                        <a:t>No</a:t>
                      </a:r>
                      <a:endParaRPr/>
                    </a:p>
                  </a:txBody>
                  <a:tcPr marT="91425" marB="91425" marR="91425" marL="91425"/>
                </a:tc>
              </a:tr>
            </a:tbl>
          </a:graphicData>
        </a:graphic>
      </p:graphicFrame>
      <p:pic>
        <p:nvPicPr>
          <p:cNvPr id="352" name="Google Shape;352;p60"/>
          <p:cNvPicPr preferRelativeResize="0"/>
          <p:nvPr/>
        </p:nvPicPr>
        <p:blipFill>
          <a:blip r:embed="rId3">
            <a:alphaModFix/>
          </a:blip>
          <a:stretch>
            <a:fillRect/>
          </a:stretch>
        </p:blipFill>
        <p:spPr>
          <a:xfrm>
            <a:off x="1969200" y="3074050"/>
            <a:ext cx="4895850" cy="1238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61"/>
          <p:cNvPicPr preferRelativeResize="0"/>
          <p:nvPr/>
        </p:nvPicPr>
        <p:blipFill>
          <a:blip r:embed="rId3">
            <a:alphaModFix/>
          </a:blip>
          <a:stretch>
            <a:fillRect/>
          </a:stretch>
        </p:blipFill>
        <p:spPr>
          <a:xfrm>
            <a:off x="2298763" y="593375"/>
            <a:ext cx="4791963" cy="1211975"/>
          </a:xfrm>
          <a:prstGeom prst="rect">
            <a:avLst/>
          </a:prstGeom>
          <a:noFill/>
          <a:ln>
            <a:noFill/>
          </a:ln>
        </p:spPr>
      </p:pic>
      <p:pic>
        <p:nvPicPr>
          <p:cNvPr id="358" name="Google Shape;358;p61"/>
          <p:cNvPicPr preferRelativeResize="0"/>
          <p:nvPr/>
        </p:nvPicPr>
        <p:blipFill>
          <a:blip r:embed="rId4">
            <a:alphaModFix/>
          </a:blip>
          <a:stretch>
            <a:fillRect/>
          </a:stretch>
        </p:blipFill>
        <p:spPr>
          <a:xfrm>
            <a:off x="1818200" y="3299425"/>
            <a:ext cx="5753100" cy="1333500"/>
          </a:xfrm>
          <a:prstGeom prst="rect">
            <a:avLst/>
          </a:prstGeom>
          <a:noFill/>
          <a:ln>
            <a:noFill/>
          </a:ln>
        </p:spPr>
      </p:pic>
      <p:pic>
        <p:nvPicPr>
          <p:cNvPr id="359" name="Google Shape;359;p61"/>
          <p:cNvPicPr preferRelativeResize="0"/>
          <p:nvPr/>
        </p:nvPicPr>
        <p:blipFill>
          <a:blip r:embed="rId5">
            <a:alphaModFix/>
          </a:blip>
          <a:stretch>
            <a:fillRect/>
          </a:stretch>
        </p:blipFill>
        <p:spPr>
          <a:xfrm>
            <a:off x="2690738" y="2026313"/>
            <a:ext cx="3894837" cy="1052160"/>
          </a:xfrm>
          <a:prstGeom prst="rect">
            <a:avLst/>
          </a:prstGeom>
          <a:noFill/>
          <a:ln cap="flat" cmpd="sng" w="28575">
            <a:solidFill>
              <a:srgbClr val="990000"/>
            </a:solidFill>
            <a:prstDash val="solid"/>
            <a:round/>
            <a:headEnd len="sm" w="sm" type="none"/>
            <a:tailEnd len="sm" w="sm" type="none"/>
          </a:ln>
        </p:spPr>
      </p:pic>
      <p:sp>
        <p:nvSpPr>
          <p:cNvPr id="360" name="Google Shape;360;p61"/>
          <p:cNvSpPr txBox="1"/>
          <p:nvPr/>
        </p:nvSpPr>
        <p:spPr>
          <a:xfrm>
            <a:off x="2298763" y="272425"/>
            <a:ext cx="49716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100">
                <a:solidFill>
                  <a:schemeClr val="dk1"/>
                </a:solidFill>
              </a:rPr>
              <a:t>Entropy of the entire dataset </a:t>
            </a:r>
            <a:r>
              <a:rPr b="1" lang="en-GB" sz="2100">
                <a:solidFill>
                  <a:srgbClr val="990000"/>
                </a:solidFill>
              </a:rPr>
              <a:t>S</a:t>
            </a:r>
            <a:endParaRPr b="1" sz="2800">
              <a:solidFill>
                <a:srgbClr val="99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2"/>
          <p:cNvSpPr txBox="1"/>
          <p:nvPr/>
        </p:nvSpPr>
        <p:spPr>
          <a:xfrm>
            <a:off x="2298763" y="272425"/>
            <a:ext cx="4971600" cy="62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dk1"/>
                </a:solidFill>
              </a:rPr>
              <a:t>Entropy of the partition </a:t>
            </a:r>
            <a:r>
              <a:rPr b="1" lang="en-GB" sz="2100">
                <a:solidFill>
                  <a:srgbClr val="990000"/>
                </a:solidFill>
              </a:rPr>
              <a:t>S1</a:t>
            </a:r>
            <a:endParaRPr b="1" sz="2100">
              <a:solidFill>
                <a:srgbClr val="990000"/>
              </a:solidFill>
            </a:endParaRPr>
          </a:p>
          <a:p>
            <a:pPr indent="0" lvl="0" marL="0" rtl="0" algn="ctr">
              <a:spcBef>
                <a:spcPts val="0"/>
              </a:spcBef>
              <a:spcAft>
                <a:spcPts val="0"/>
              </a:spcAft>
              <a:buNone/>
            </a:pPr>
            <a:r>
              <a:rPr b="1" lang="en-GB" sz="2100">
                <a:solidFill>
                  <a:srgbClr val="990000"/>
                </a:solidFill>
              </a:rPr>
              <a:t>S</a:t>
            </a:r>
            <a:r>
              <a:rPr b="1" lang="en-GB" sz="2100">
                <a:solidFill>
                  <a:srgbClr val="990000"/>
                </a:solidFill>
              </a:rPr>
              <a:t>plit at Age = 35</a:t>
            </a:r>
            <a:endParaRPr b="1" sz="2100">
              <a:solidFill>
                <a:srgbClr val="990000"/>
              </a:solidFill>
            </a:endParaRPr>
          </a:p>
        </p:txBody>
      </p:sp>
      <p:graphicFrame>
        <p:nvGraphicFramePr>
          <p:cNvPr id="366" name="Google Shape;366;p62"/>
          <p:cNvGraphicFramePr/>
          <p:nvPr/>
        </p:nvGraphicFramePr>
        <p:xfrm>
          <a:off x="952500" y="1133675"/>
          <a:ext cx="3000000" cy="3000000"/>
        </p:xfrm>
        <a:graphic>
          <a:graphicData uri="http://schemas.openxmlformats.org/drawingml/2006/table">
            <a:tbl>
              <a:tblPr>
                <a:noFill/>
                <a:tableStyleId>{71FA0E1F-98ED-4E6B-A55F-B6CA2B5AA33A}</a:tableStyleId>
              </a:tblPr>
              <a:tblGrid>
                <a:gridCol w="3619500"/>
                <a:gridCol w="3619500"/>
              </a:tblGrid>
              <a:tr h="381000">
                <a:tc>
                  <a:txBody>
                    <a:bodyPr/>
                    <a:lstStyle/>
                    <a:p>
                      <a:pPr indent="0" lvl="0" marL="0" rtl="0" algn="ctr">
                        <a:spcBef>
                          <a:spcPts val="0"/>
                        </a:spcBef>
                        <a:spcAft>
                          <a:spcPts val="0"/>
                        </a:spcAft>
                        <a:buNone/>
                      </a:pPr>
                      <a:r>
                        <a:rPr b="1" lang="en-GB"/>
                        <a:t>Age</a:t>
                      </a:r>
                      <a:endParaRPr b="1"/>
                    </a:p>
                  </a:txBody>
                  <a:tcPr marT="91425" marB="91425" marR="91425" marL="91425"/>
                </a:tc>
                <a:tc>
                  <a:txBody>
                    <a:bodyPr/>
                    <a:lstStyle/>
                    <a:p>
                      <a:pPr indent="0" lvl="0" marL="0" rtl="0" algn="ctr">
                        <a:spcBef>
                          <a:spcPts val="0"/>
                        </a:spcBef>
                        <a:spcAft>
                          <a:spcPts val="0"/>
                        </a:spcAft>
                        <a:buNone/>
                      </a:pPr>
                      <a:r>
                        <a:rPr b="1" lang="en-GB"/>
                        <a:t>Loan Approved</a:t>
                      </a:r>
                      <a:endParaRPr b="1"/>
                    </a:p>
                  </a:txBody>
                  <a:tcPr marT="91425" marB="91425" marR="91425" marL="91425"/>
                </a:tc>
              </a:tr>
              <a:tr h="381000">
                <a:tc>
                  <a:txBody>
                    <a:bodyPr/>
                    <a:lstStyle/>
                    <a:p>
                      <a:pPr indent="0" lvl="0" marL="0" rtl="0" algn="ctr">
                        <a:spcBef>
                          <a:spcPts val="0"/>
                        </a:spcBef>
                        <a:spcAft>
                          <a:spcPts val="0"/>
                        </a:spcAft>
                        <a:buNone/>
                      </a:pPr>
                      <a:r>
                        <a:rPr lang="en-GB"/>
                        <a:t>22</a:t>
                      </a:r>
                      <a:endParaRPr/>
                    </a:p>
                  </a:txBody>
                  <a:tcPr marT="91425" marB="91425" marR="91425" marL="91425"/>
                </a:tc>
                <a:tc>
                  <a:txBody>
                    <a:bodyPr/>
                    <a:lstStyle/>
                    <a:p>
                      <a:pPr indent="0" lvl="0" marL="0" rtl="0" algn="ctr">
                        <a:spcBef>
                          <a:spcPts val="0"/>
                        </a:spcBef>
                        <a:spcAft>
                          <a:spcPts val="0"/>
                        </a:spcAft>
                        <a:buNone/>
                      </a:pPr>
                      <a:r>
                        <a:rPr lang="en-GB"/>
                        <a:t>Yes</a:t>
                      </a:r>
                      <a:endParaRPr/>
                    </a:p>
                  </a:txBody>
                  <a:tcPr marT="91425" marB="91425" marR="91425" marL="91425"/>
                </a:tc>
              </a:tr>
              <a:tr h="381000">
                <a:tc>
                  <a:txBody>
                    <a:bodyPr/>
                    <a:lstStyle/>
                    <a:p>
                      <a:pPr indent="0" lvl="0" marL="0" rtl="0" algn="ctr">
                        <a:spcBef>
                          <a:spcPts val="0"/>
                        </a:spcBef>
                        <a:spcAft>
                          <a:spcPts val="0"/>
                        </a:spcAft>
                        <a:buNone/>
                      </a:pPr>
                      <a:r>
                        <a:rPr lang="en-GB"/>
                        <a:t>25</a:t>
                      </a:r>
                      <a:endParaRPr/>
                    </a:p>
                  </a:txBody>
                  <a:tcPr marT="91425" marB="91425" marR="91425" marL="91425"/>
                </a:tc>
                <a:tc>
                  <a:txBody>
                    <a:bodyPr/>
                    <a:lstStyle/>
                    <a:p>
                      <a:pPr indent="0" lvl="0" marL="0" rtl="0" algn="ctr">
                        <a:spcBef>
                          <a:spcPts val="0"/>
                        </a:spcBef>
                        <a:spcAft>
                          <a:spcPts val="0"/>
                        </a:spcAft>
                        <a:buNone/>
                      </a:pPr>
                      <a:r>
                        <a:rPr lang="en-GB"/>
                        <a:t>Yes</a:t>
                      </a:r>
                      <a:endParaRPr/>
                    </a:p>
                  </a:txBody>
                  <a:tcPr marT="91425" marB="91425" marR="91425" marL="91425"/>
                </a:tc>
              </a:tr>
            </a:tbl>
          </a:graphicData>
        </a:graphic>
      </p:graphicFrame>
      <p:pic>
        <p:nvPicPr>
          <p:cNvPr id="367" name="Google Shape;367;p62"/>
          <p:cNvPicPr preferRelativeResize="0"/>
          <p:nvPr/>
        </p:nvPicPr>
        <p:blipFill>
          <a:blip r:embed="rId3">
            <a:alphaModFix/>
          </a:blip>
          <a:stretch>
            <a:fillRect/>
          </a:stretch>
        </p:blipFill>
        <p:spPr>
          <a:xfrm>
            <a:off x="1134450" y="3039375"/>
            <a:ext cx="6724650" cy="12001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3"/>
          <p:cNvSpPr txBox="1"/>
          <p:nvPr>
            <p:ph type="ctrTitle"/>
          </p:nvPr>
        </p:nvSpPr>
        <p:spPr>
          <a:xfrm>
            <a:off x="311708" y="-5278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300"/>
              <a:t>A (detailed) data preprocessing example</a:t>
            </a:r>
            <a:endParaRPr sz="3300"/>
          </a:p>
        </p:txBody>
      </p:sp>
      <p:sp>
        <p:nvSpPr>
          <p:cNvPr id="373" name="Google Shape;373;p63"/>
          <p:cNvSpPr txBox="1"/>
          <p:nvPr>
            <p:ph idx="1" type="subTitle"/>
          </p:nvPr>
        </p:nvSpPr>
        <p:spPr>
          <a:xfrm>
            <a:off x="311700" y="204850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Suppose we want to mine the comments/reviews of people on </a:t>
            </a:r>
            <a:r>
              <a:rPr lang="en-GB" u="sng">
                <a:solidFill>
                  <a:schemeClr val="hlink"/>
                </a:solidFill>
                <a:hlinkClick r:id="rId3"/>
              </a:rPr>
              <a:t>Zomato</a:t>
            </a:r>
            <a:r>
              <a:rPr lang="en-GB"/>
              <a:t>.</a:t>
            </a:r>
            <a:endParaRPr/>
          </a:p>
        </p:txBody>
      </p:sp>
      <p:pic>
        <p:nvPicPr>
          <p:cNvPr id="374" name="Google Shape;374;p63"/>
          <p:cNvPicPr preferRelativeResize="0"/>
          <p:nvPr/>
        </p:nvPicPr>
        <p:blipFill>
          <a:blip r:embed="rId4">
            <a:alphaModFix/>
          </a:blip>
          <a:stretch>
            <a:fillRect/>
          </a:stretch>
        </p:blipFill>
        <p:spPr>
          <a:xfrm>
            <a:off x="3573200" y="2981225"/>
            <a:ext cx="1997600" cy="1997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80" name="Google Shape;380;p6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81" name="Google Shape;381;p64"/>
          <p:cNvPicPr preferRelativeResize="0"/>
          <p:nvPr/>
        </p:nvPicPr>
        <p:blipFill rotWithShape="1">
          <a:blip r:embed="rId3">
            <a:alphaModFix/>
          </a:blip>
          <a:srcRect b="0" l="0" r="0" t="1234"/>
          <a:stretch/>
        </p:blipFill>
        <p:spPr>
          <a:xfrm>
            <a:off x="353650" y="31863"/>
            <a:ext cx="8436699" cy="5079775"/>
          </a:xfrm>
          <a:prstGeom prst="rect">
            <a:avLst/>
          </a:prstGeom>
          <a:noFill/>
          <a:ln>
            <a:noFill/>
          </a:ln>
        </p:spPr>
      </p:pic>
      <p:pic>
        <p:nvPicPr>
          <p:cNvPr id="382" name="Google Shape;382;p64"/>
          <p:cNvPicPr preferRelativeResize="0"/>
          <p:nvPr/>
        </p:nvPicPr>
        <p:blipFill>
          <a:blip r:embed="rId4">
            <a:alphaModFix/>
          </a:blip>
          <a:stretch>
            <a:fillRect/>
          </a:stretch>
        </p:blipFill>
        <p:spPr>
          <a:xfrm>
            <a:off x="558625" y="2471155"/>
            <a:ext cx="8436700" cy="264049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5"/>
          <p:cNvSpPr txBox="1"/>
          <p:nvPr/>
        </p:nvSpPr>
        <p:spPr>
          <a:xfrm>
            <a:off x="589225" y="744575"/>
            <a:ext cx="7747200" cy="221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700"/>
              <a:t>Example: Mining Task  </a:t>
            </a:r>
            <a:endParaRPr b="1" sz="2700"/>
          </a:p>
          <a:p>
            <a:pPr indent="0" lvl="0" marL="0" rtl="0" algn="l">
              <a:spcBef>
                <a:spcPts val="0"/>
              </a:spcBef>
              <a:spcAft>
                <a:spcPts val="0"/>
              </a:spcAft>
              <a:buNone/>
            </a:pPr>
            <a:r>
              <a:t/>
            </a:r>
            <a:endParaRPr b="1" sz="2100"/>
          </a:p>
          <a:p>
            <a:pPr indent="0" lvl="0" marL="0" rtl="0" algn="l">
              <a:spcBef>
                <a:spcPts val="0"/>
              </a:spcBef>
              <a:spcAft>
                <a:spcPts val="0"/>
              </a:spcAft>
              <a:buNone/>
            </a:pPr>
            <a:r>
              <a:rPr lang="en-GB" sz="2100"/>
              <a:t>Collect all reviews for the top-10 most reviewed places in Bangalore on Zomato</a:t>
            </a:r>
            <a:endParaRPr sz="2100"/>
          </a:p>
          <a:p>
            <a:pPr indent="0" lvl="0" marL="0" rtl="0" algn="l">
              <a:spcBef>
                <a:spcPts val="0"/>
              </a:spcBef>
              <a:spcAft>
                <a:spcPts val="0"/>
              </a:spcAft>
              <a:buNone/>
            </a:pPr>
            <a:r>
              <a:rPr lang="en-GB" sz="2100"/>
              <a:t>Find few terms that best describe the restaurants.  </a:t>
            </a:r>
            <a:endParaRPr sz="2100"/>
          </a:p>
          <a:p>
            <a:pPr indent="0" lvl="0" marL="0" rtl="0" algn="l">
              <a:spcBef>
                <a:spcPts val="0"/>
              </a:spcBef>
              <a:spcAft>
                <a:spcPts val="0"/>
              </a:spcAft>
              <a:buNone/>
            </a:pPr>
            <a:r>
              <a:rPr lang="en-GB" sz="2100"/>
              <a:t>What Algorithm?</a:t>
            </a:r>
            <a:endParaRPr sz="21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93" name="Google Shape;393;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94" name="Google Shape;394;p66"/>
          <p:cNvPicPr preferRelativeResize="0"/>
          <p:nvPr/>
        </p:nvPicPr>
        <p:blipFill rotWithShape="1">
          <a:blip r:embed="rId3">
            <a:alphaModFix/>
          </a:blip>
          <a:srcRect b="1279" l="0" r="0" t="-1280"/>
          <a:stretch/>
        </p:blipFill>
        <p:spPr>
          <a:xfrm>
            <a:off x="1051275" y="107475"/>
            <a:ext cx="7041450" cy="48058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00" name="Google Shape;400;p6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01" name="Google Shape;401;p67"/>
          <p:cNvPicPr preferRelativeResize="0"/>
          <p:nvPr/>
        </p:nvPicPr>
        <p:blipFill>
          <a:blip r:embed="rId3">
            <a:alphaModFix/>
          </a:blip>
          <a:stretch>
            <a:fillRect/>
          </a:stretch>
        </p:blipFill>
        <p:spPr>
          <a:xfrm>
            <a:off x="1051275" y="168850"/>
            <a:ext cx="7041450" cy="4805801"/>
          </a:xfrm>
          <a:prstGeom prst="rect">
            <a:avLst/>
          </a:prstGeom>
          <a:noFill/>
          <a:ln>
            <a:noFill/>
          </a:ln>
        </p:spPr>
      </p:pic>
      <p:pic>
        <p:nvPicPr>
          <p:cNvPr id="402" name="Google Shape;402;p67"/>
          <p:cNvPicPr preferRelativeResize="0"/>
          <p:nvPr/>
        </p:nvPicPr>
        <p:blipFill rotWithShape="1">
          <a:blip r:embed="rId4">
            <a:alphaModFix/>
          </a:blip>
          <a:srcRect b="0" l="0" r="0" t="2818"/>
          <a:stretch/>
        </p:blipFill>
        <p:spPr>
          <a:xfrm>
            <a:off x="977625" y="921900"/>
            <a:ext cx="7819338" cy="40527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08" name="Google Shape;408;p6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09" name="Google Shape;409;p68"/>
          <p:cNvPicPr preferRelativeResize="0"/>
          <p:nvPr/>
        </p:nvPicPr>
        <p:blipFill>
          <a:blip r:embed="rId3">
            <a:alphaModFix/>
          </a:blip>
          <a:stretch>
            <a:fillRect/>
          </a:stretch>
        </p:blipFill>
        <p:spPr>
          <a:xfrm>
            <a:off x="621000" y="474500"/>
            <a:ext cx="7902001" cy="44825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pic>
        <p:nvPicPr>
          <p:cNvPr id="415" name="Google Shape;415;p69"/>
          <p:cNvPicPr preferRelativeResize="0"/>
          <p:nvPr/>
        </p:nvPicPr>
        <p:blipFill rotWithShape="1">
          <a:blip r:embed="rId3">
            <a:alphaModFix/>
          </a:blip>
          <a:srcRect b="1756" l="0" r="0" t="1746"/>
          <a:stretch/>
        </p:blipFill>
        <p:spPr>
          <a:xfrm>
            <a:off x="971375" y="744575"/>
            <a:ext cx="7860924" cy="395935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21" name="Google Shape;421;p70"/>
          <p:cNvSpPr txBox="1"/>
          <p:nvPr>
            <p:ph idx="1" type="subTitle"/>
          </p:nvPr>
        </p:nvSpPr>
        <p:spPr>
          <a:xfrm>
            <a:off x="311700" y="3912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t>Term Frequency (TF)</a:t>
            </a:r>
            <a:endParaRPr b="1" sz="3000"/>
          </a:p>
        </p:txBody>
      </p:sp>
      <p:pic>
        <p:nvPicPr>
          <p:cNvPr id="422" name="Google Shape;422;p70"/>
          <p:cNvPicPr preferRelativeResize="0"/>
          <p:nvPr/>
        </p:nvPicPr>
        <p:blipFill>
          <a:blip r:embed="rId3">
            <a:alphaModFix/>
          </a:blip>
          <a:stretch>
            <a:fillRect/>
          </a:stretch>
        </p:blipFill>
        <p:spPr>
          <a:xfrm>
            <a:off x="1416775" y="2072800"/>
            <a:ext cx="6699528" cy="1211975"/>
          </a:xfrm>
          <a:prstGeom prst="rect">
            <a:avLst/>
          </a:prstGeom>
          <a:noFill/>
          <a:ln>
            <a:noFill/>
          </a:ln>
        </p:spPr>
      </p:pic>
      <p:pic>
        <p:nvPicPr>
          <p:cNvPr id="423" name="Google Shape;423;p70"/>
          <p:cNvPicPr preferRelativeResize="0"/>
          <p:nvPr/>
        </p:nvPicPr>
        <p:blipFill>
          <a:blip r:embed="rId4">
            <a:alphaModFix/>
          </a:blip>
          <a:stretch>
            <a:fillRect/>
          </a:stretch>
        </p:blipFill>
        <p:spPr>
          <a:xfrm>
            <a:off x="152388" y="4012350"/>
            <a:ext cx="8839200" cy="7157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29" name="Google Shape;429;p7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30" name="Google Shape;430;p71"/>
          <p:cNvPicPr preferRelativeResize="0"/>
          <p:nvPr/>
        </p:nvPicPr>
        <p:blipFill>
          <a:blip r:embed="rId3">
            <a:alphaModFix/>
          </a:blip>
          <a:stretch>
            <a:fillRect/>
          </a:stretch>
        </p:blipFill>
        <p:spPr>
          <a:xfrm>
            <a:off x="766200" y="1802750"/>
            <a:ext cx="7719349" cy="1211975"/>
          </a:xfrm>
          <a:prstGeom prst="rect">
            <a:avLst/>
          </a:prstGeom>
          <a:noFill/>
          <a:ln>
            <a:noFill/>
          </a:ln>
        </p:spPr>
      </p:pic>
      <p:pic>
        <p:nvPicPr>
          <p:cNvPr id="431" name="Google Shape;431;p71"/>
          <p:cNvPicPr preferRelativeResize="0"/>
          <p:nvPr/>
        </p:nvPicPr>
        <p:blipFill>
          <a:blip r:embed="rId4">
            <a:alphaModFix/>
          </a:blip>
          <a:stretch>
            <a:fillRect/>
          </a:stretch>
        </p:blipFill>
        <p:spPr>
          <a:xfrm>
            <a:off x="206275" y="4092900"/>
            <a:ext cx="8839199" cy="432084"/>
          </a:xfrm>
          <a:prstGeom prst="rect">
            <a:avLst/>
          </a:prstGeom>
          <a:noFill/>
          <a:ln>
            <a:noFill/>
          </a:ln>
        </p:spPr>
      </p:pic>
      <p:sp>
        <p:nvSpPr>
          <p:cNvPr id="432" name="Google Shape;432;p71"/>
          <p:cNvSpPr txBox="1"/>
          <p:nvPr>
            <p:ph idx="1" type="subTitle"/>
          </p:nvPr>
        </p:nvSpPr>
        <p:spPr>
          <a:xfrm>
            <a:off x="311700" y="3912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t>Document</a:t>
            </a:r>
            <a:r>
              <a:rPr b="1" lang="en-GB" sz="3000"/>
              <a:t> Frequency (DF)</a:t>
            </a:r>
            <a:endParaRPr b="1" sz="3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72"/>
          <p:cNvPicPr preferRelativeResize="0"/>
          <p:nvPr/>
        </p:nvPicPr>
        <p:blipFill>
          <a:blip r:embed="rId3">
            <a:alphaModFix/>
          </a:blip>
          <a:stretch>
            <a:fillRect/>
          </a:stretch>
        </p:blipFill>
        <p:spPr>
          <a:xfrm>
            <a:off x="187263" y="571999"/>
            <a:ext cx="8769478" cy="792600"/>
          </a:xfrm>
          <a:prstGeom prst="rect">
            <a:avLst/>
          </a:prstGeom>
          <a:noFill/>
          <a:ln>
            <a:noFill/>
          </a:ln>
        </p:spPr>
      </p:pic>
      <p:pic>
        <p:nvPicPr>
          <p:cNvPr id="438" name="Google Shape;438;p72"/>
          <p:cNvPicPr preferRelativeResize="0"/>
          <p:nvPr/>
        </p:nvPicPr>
        <p:blipFill>
          <a:blip r:embed="rId4">
            <a:alphaModFix/>
          </a:blip>
          <a:stretch>
            <a:fillRect/>
          </a:stretch>
        </p:blipFill>
        <p:spPr>
          <a:xfrm>
            <a:off x="790575" y="3123225"/>
            <a:ext cx="7562850" cy="1524000"/>
          </a:xfrm>
          <a:prstGeom prst="rect">
            <a:avLst/>
          </a:prstGeom>
          <a:noFill/>
          <a:ln>
            <a:noFill/>
          </a:ln>
        </p:spPr>
      </p:pic>
      <p:pic>
        <p:nvPicPr>
          <p:cNvPr id="439" name="Google Shape;439;p72"/>
          <p:cNvPicPr preferRelativeResize="0"/>
          <p:nvPr/>
        </p:nvPicPr>
        <p:blipFill>
          <a:blip r:embed="rId5">
            <a:alphaModFix/>
          </a:blip>
          <a:stretch>
            <a:fillRect/>
          </a:stretch>
        </p:blipFill>
        <p:spPr>
          <a:xfrm>
            <a:off x="2237525" y="1525713"/>
            <a:ext cx="5086350" cy="16573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45" name="Google Shape;445;p7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46" name="Google Shape;446;p73"/>
          <p:cNvPicPr preferRelativeResize="0"/>
          <p:nvPr/>
        </p:nvPicPr>
        <p:blipFill>
          <a:blip r:embed="rId3">
            <a:alphaModFix/>
          </a:blip>
          <a:stretch>
            <a:fillRect/>
          </a:stretch>
        </p:blipFill>
        <p:spPr>
          <a:xfrm>
            <a:off x="733425" y="257175"/>
            <a:ext cx="7677150" cy="46291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4"/>
          <p:cNvSpPr txBox="1"/>
          <p:nvPr>
            <p:ph type="ctrTitle"/>
          </p:nvPr>
        </p:nvSpPr>
        <p:spPr>
          <a:xfrm>
            <a:off x="311700" y="151625"/>
            <a:ext cx="8520600" cy="61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3600"/>
              <a:t>Ordered by TF-IDF</a:t>
            </a:r>
            <a:endParaRPr sz="3600"/>
          </a:p>
        </p:txBody>
      </p:sp>
      <p:sp>
        <p:nvSpPr>
          <p:cNvPr id="452" name="Google Shape;452;p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53" name="Google Shape;453;p74"/>
          <p:cNvPicPr preferRelativeResize="0"/>
          <p:nvPr/>
        </p:nvPicPr>
        <p:blipFill>
          <a:blip r:embed="rId3">
            <a:alphaModFix/>
          </a:blip>
          <a:stretch>
            <a:fillRect/>
          </a:stretch>
        </p:blipFill>
        <p:spPr>
          <a:xfrm>
            <a:off x="510375" y="670925"/>
            <a:ext cx="8321924" cy="44725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type="ctrTitle"/>
          </p:nvPr>
        </p:nvSpPr>
        <p:spPr>
          <a:xfrm>
            <a:off x="311700" y="151625"/>
            <a:ext cx="8520600" cy="61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3600"/>
              <a:t>Ordered by TF-IDF</a:t>
            </a:r>
            <a:endParaRPr sz="3600"/>
          </a:p>
        </p:txBody>
      </p:sp>
      <p:sp>
        <p:nvSpPr>
          <p:cNvPr id="459" name="Google Shape;459;p7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60" name="Google Shape;460;p75"/>
          <p:cNvPicPr preferRelativeResize="0"/>
          <p:nvPr/>
        </p:nvPicPr>
        <p:blipFill>
          <a:blip r:embed="rId3">
            <a:alphaModFix/>
          </a:blip>
          <a:stretch>
            <a:fillRect/>
          </a:stretch>
        </p:blipFill>
        <p:spPr>
          <a:xfrm>
            <a:off x="510375" y="670925"/>
            <a:ext cx="8321924" cy="4472575"/>
          </a:xfrm>
          <a:prstGeom prst="rect">
            <a:avLst/>
          </a:prstGeom>
          <a:noFill/>
          <a:ln>
            <a:noFill/>
          </a:ln>
        </p:spPr>
      </p:pic>
      <p:sp>
        <p:nvSpPr>
          <p:cNvPr id="461" name="Google Shape;461;p75"/>
          <p:cNvSpPr txBox="1"/>
          <p:nvPr/>
        </p:nvSpPr>
        <p:spPr>
          <a:xfrm>
            <a:off x="98200" y="55325"/>
            <a:ext cx="252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The </a:t>
            </a:r>
            <a:r>
              <a:rPr lang="en-GB"/>
              <a:t>higher TF-IDF score, more important the word</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6"/>
          <p:cNvSpPr txBox="1"/>
          <p:nvPr>
            <p:ph type="ctrTitle"/>
          </p:nvPr>
        </p:nvSpPr>
        <p:spPr>
          <a:xfrm>
            <a:off x="311708" y="1383250"/>
            <a:ext cx="8520600" cy="2052600"/>
          </a:xfrm>
          <a:prstGeom prst="rect">
            <a:avLst/>
          </a:prstGeom>
        </p:spPr>
        <p:txBody>
          <a:bodyPr anchorCtr="0" anchor="b" bIns="91425" lIns="91425" spcFirstLastPara="1" rIns="91425" wrap="square" tIns="91425">
            <a:noAutofit/>
          </a:bodyPr>
          <a:lstStyle/>
          <a:p>
            <a:pPr indent="-431800" lvl="0" marL="457200" rtl="0" algn="l">
              <a:spcBef>
                <a:spcPts val="0"/>
              </a:spcBef>
              <a:spcAft>
                <a:spcPts val="0"/>
              </a:spcAft>
              <a:buSzPts val="3200"/>
              <a:buChar char="●"/>
            </a:pPr>
            <a:r>
              <a:rPr lang="en-GB" sz="3200"/>
              <a:t>TF-IDF takes care of stop words as well  </a:t>
            </a:r>
            <a:endParaRPr sz="3200"/>
          </a:p>
          <a:p>
            <a:pPr indent="-431800" lvl="0" marL="457200" rtl="0" algn="l">
              <a:spcBef>
                <a:spcPts val="0"/>
              </a:spcBef>
              <a:spcAft>
                <a:spcPts val="0"/>
              </a:spcAft>
              <a:buSzPts val="3200"/>
              <a:buChar char="●"/>
            </a:pPr>
            <a:r>
              <a:rPr lang="en-GB" sz="3200"/>
              <a:t>We do not need to remove the stop words since they will get IDF(w) = 0</a:t>
            </a:r>
            <a:endParaRPr sz="32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7"/>
          <p:cNvSpPr txBox="1"/>
          <p:nvPr>
            <p:ph type="ctrTitle"/>
          </p:nvPr>
        </p:nvSpPr>
        <p:spPr>
          <a:xfrm>
            <a:off x="311708" y="2205375"/>
            <a:ext cx="8520600" cy="2052600"/>
          </a:xfrm>
          <a:prstGeom prst="rect">
            <a:avLst/>
          </a:prstGeom>
        </p:spPr>
        <p:txBody>
          <a:bodyPr anchorCtr="0" anchor="b" bIns="91425" lIns="91425" spcFirstLastPara="1" rIns="91425" wrap="square" tIns="91425">
            <a:noAutofit/>
          </a:bodyPr>
          <a:lstStyle/>
          <a:p>
            <a:pPr indent="0" lvl="0" marL="457200" rtl="0" algn="l">
              <a:spcBef>
                <a:spcPts val="0"/>
              </a:spcBef>
              <a:spcAft>
                <a:spcPts val="0"/>
              </a:spcAft>
              <a:buNone/>
            </a:pPr>
            <a:r>
              <a:rPr lang="en-GB" sz="2100"/>
              <a:t>Mining real data you often need to make some </a:t>
            </a:r>
            <a:r>
              <a:rPr lang="en-GB" sz="2100"/>
              <a:t>decisions</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GB" sz="2100"/>
              <a:t>What data should we collect? How much? For how long?  </a:t>
            </a:r>
            <a:endParaRPr sz="2100"/>
          </a:p>
          <a:p>
            <a:pPr indent="-361950" lvl="0" marL="457200" rtl="0" algn="l">
              <a:spcBef>
                <a:spcPts val="0"/>
              </a:spcBef>
              <a:spcAft>
                <a:spcPts val="0"/>
              </a:spcAft>
              <a:buSzPts val="2100"/>
              <a:buChar char="●"/>
            </a:pPr>
            <a:r>
              <a:rPr lang="en-GB" sz="2100"/>
              <a:t>Should we throw out some data that does not seem to be useful?  Too frequent data (stop words), too infrequent (errors?), erroneous data, missing data, outliers  How should we weight the different pieces of data?  </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GB" sz="2100"/>
              <a:t>Most decisions are application dependent. Some information may be lost but we can usually live with it (most of the times)  </a:t>
            </a:r>
            <a:endParaRPr sz="2100"/>
          </a:p>
          <a:p>
            <a:pPr indent="-361950" lvl="0" marL="457200" rtl="0" algn="l">
              <a:spcBef>
                <a:spcPts val="0"/>
              </a:spcBef>
              <a:spcAft>
                <a:spcPts val="0"/>
              </a:spcAft>
              <a:buSzPts val="2100"/>
              <a:buChar char="●"/>
            </a:pPr>
            <a:r>
              <a:rPr lang="en-GB" sz="2100"/>
              <a:t>Dealing with real data is difficult</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