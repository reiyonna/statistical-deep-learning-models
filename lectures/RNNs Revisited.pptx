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AAB3B7-93D0-401D-A790-BD69C9C78D68}">
  <a:tblStyle styleId="{5FAAB3B7-93D0-401D-A790-BD69C9C78D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3142b1dc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3142b1dc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3142b1d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3142b1d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3142b1d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3142b1d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3142b1dc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3142b1dc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3142b1dc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3142b1dc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3142b1dc4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3142b1dc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3142b1dc4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3142b1dc4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3142b1dc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3142b1dc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3142b1dc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3142b1dc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3142b1dc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3142b1dc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3142b1dc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33142b1dc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3142b1dc4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33142b1dc4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3142b1dc4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3142b1dc4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33142b1dc4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33142b1dc4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33142b1dc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33142b1dc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33142b1dc4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33142b1dc4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33142b1dc4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33142b1dc4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33142b1dc4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33142b1dc4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33142b1dc4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33142b1dc4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33142b1dc4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33142b1dc4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33142b1dc4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33142b1dc4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33142b1dc4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33142b1dc4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33142b1dc4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33142b1dc4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33142b1dc4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33142b1dc4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33142b1dc4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33142b1dc4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33142b1dc4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33142b1dc4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33142b1dc4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33142b1dc4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33142b1dc4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33142b1dc4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33142b1dc4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33142b1dc4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33142b1dc4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33142b1dc4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33142b1dc4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33142b1dc4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33142b1dc4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33142b1dc4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33142b1dc4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33142b1dc4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33142b1dc4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33142b1dc4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33142b1dc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33142b1dc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33142b1dc4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33142b1dc4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33142b1dc4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33142b1dc4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33142b1dc4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33142b1dc4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33142b1dc4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33142b1dc4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33142b1dc4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33142b1dc4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33142b1dc4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33142b1dc4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33142b1dc4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33142b1dc4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33142b1dc4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33142b1dc4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33142b1dc4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33142b1dc4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33142b1dc4_0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33142b1dc4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33142b1dc4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33142b1dc4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33142b1dc4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33142b1dc4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33142b1dc4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33142b1dc4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33142b1dc4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33142b1dc4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33142b1dc4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33142b1dc4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33142b1dc4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33142b1dc4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33142b1dc4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33142b1dc4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33142b1dc4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33142b1dc4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33142b1dc4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33142b1dc4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5" Type="http://schemas.openxmlformats.org/officeDocument/2006/relationships/image" Target="../media/image2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2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Recurrent Neural Networks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(RNNs)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1926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59074"/>
              <a:buChar char="●"/>
            </a:pPr>
            <a:r>
              <a:rPr lang="en-GB" sz="3000"/>
              <a:t>Why Recurrent Neural Networks (RNNs)? </a:t>
            </a:r>
            <a:endParaRPr sz="30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59074"/>
              <a:buChar char="●"/>
            </a:pPr>
            <a:r>
              <a:rPr lang="en-GB" sz="3000"/>
              <a:t>The Vanilla RNN unit </a:t>
            </a:r>
            <a:endParaRPr sz="30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59074"/>
              <a:buChar char="●"/>
            </a:pPr>
            <a:r>
              <a:rPr lang="en-GB" sz="3000"/>
              <a:t>The RNN forward pass </a:t>
            </a:r>
            <a:endParaRPr sz="30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59074"/>
              <a:buChar char="●"/>
            </a:pPr>
            <a:r>
              <a:rPr lang="en-GB" sz="3000"/>
              <a:t>Backpropagation refresher </a:t>
            </a:r>
            <a:endParaRPr sz="30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59074"/>
              <a:buChar char="●"/>
            </a:pPr>
            <a:r>
              <a:rPr lang="en-GB" sz="3000"/>
              <a:t>The RNN backward pass </a:t>
            </a:r>
            <a:endParaRPr sz="30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59074"/>
              <a:buChar char="●"/>
            </a:pPr>
            <a:r>
              <a:rPr lang="en-GB" sz="3000"/>
              <a:t>Issues with the Vanilla RNN</a:t>
            </a:r>
            <a:endParaRPr sz="3000"/>
          </a:p>
        </p:txBody>
      </p:sp>
      <p:sp>
        <p:nvSpPr>
          <p:cNvPr id="61" name="Google Shape;61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520"/>
              <a:t>Outline</a:t>
            </a:r>
            <a:endParaRPr sz="35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/>
              <a:t>Motivation</a:t>
            </a:r>
            <a:endParaRPr b="1" sz="27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62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• </a:t>
            </a:r>
            <a:r>
              <a:rPr lang="en-GB">
                <a:solidFill>
                  <a:schemeClr val="dk1"/>
                </a:solidFill>
              </a:rPr>
              <a:t>Not all problems can be converted into one with fixed length inputs and outputs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• Problems such as Speech Recognition or Time-series Prediction require a system to store and use context information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– Simple case: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Output YES if the number of 1s is even, else NO 1000010101 – YES, 100011 – NO, …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• Hard/Impossible to choose a fixed context window – There can always be a new sample longer than anything seen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Recurrent Neural Networks (RNNs)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Recurrent Neural Networks take the previous output or hidden states as inputs. The composite input at time t has some historical information about the happenings at time T &lt; 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• RNNs are useful as their intermediate values (state) can store information about past inputs for a time that is not fixed a priori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Time Series Data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1725850" y="153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{5FAAB3B7-93D0-401D-A790-BD69C9C78D68}</a:tableStyleId>
              </a:tblPr>
              <a:tblGrid>
                <a:gridCol w="3030900"/>
                <a:gridCol w="3030900"/>
              </a:tblGrid>
              <a:tr h="49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Day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Temperature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9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Day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25°C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Day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40</a:t>
                      </a:r>
                      <a:r>
                        <a:rPr lang="en-GB"/>
                        <a:t>°C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Day 3 (Today)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r>
                        <a:rPr lang="en-GB"/>
                        <a:t>°C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Day 4 (Tomorrow)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Time Series Data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1725850" y="124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{5FAAB3B7-93D0-401D-A790-BD69C9C78D68}</a:tableStyleId>
              </a:tblPr>
              <a:tblGrid>
                <a:gridCol w="1723250"/>
                <a:gridCol w="1723250"/>
                <a:gridCol w="1723250"/>
              </a:tblGrid>
              <a:tr h="61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Day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Temperature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Normalized Temperatures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Day 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25°C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Day 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40°C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Day 3 (Today)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12°C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Day 4 (Tomorrow)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9"/>
          <p:cNvGrpSpPr/>
          <p:nvPr/>
        </p:nvGrpSpPr>
        <p:grpSpPr>
          <a:xfrm>
            <a:off x="311700" y="1298125"/>
            <a:ext cx="8624225" cy="1498300"/>
            <a:chOff x="311700" y="1298125"/>
            <a:chExt cx="8624225" cy="1498300"/>
          </a:xfrm>
        </p:grpSpPr>
        <p:sp>
          <p:nvSpPr>
            <p:cNvPr id="94" name="Google Shape;94;p19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9"/>
            <p:cNvSpPr txBox="1"/>
            <p:nvPr/>
          </p:nvSpPr>
          <p:spPr>
            <a:xfrm>
              <a:off x="311700" y="1549038"/>
              <a:ext cx="8226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Input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6" name="Google Shape;96;p19"/>
            <p:cNvSpPr txBox="1"/>
            <p:nvPr/>
          </p:nvSpPr>
          <p:spPr>
            <a:xfrm>
              <a:off x="1765632" y="1549038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97" name="Google Shape;97;p19"/>
            <p:cNvSpPr txBox="1"/>
            <p:nvPr/>
          </p:nvSpPr>
          <p:spPr>
            <a:xfrm>
              <a:off x="5847825" y="15377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3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98" name="Google Shape;98;p19"/>
            <p:cNvSpPr txBox="1"/>
            <p:nvPr/>
          </p:nvSpPr>
          <p:spPr>
            <a:xfrm>
              <a:off x="6799775" y="1537800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99" name="Google Shape;99;p19"/>
            <p:cNvSpPr txBox="1"/>
            <p:nvPr/>
          </p:nvSpPr>
          <p:spPr>
            <a:xfrm>
              <a:off x="2777427" y="1549051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102" name="Google Shape;102;p19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2693525" y="1975725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105" name="Google Shape;105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6" name="Google Shape;106;p19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1.2</a:t>
              </a:r>
              <a:endParaRPr/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6799775" y="1974150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 txBox="1"/>
            <p:nvPr/>
          </p:nvSpPr>
          <p:spPr>
            <a:xfrm>
              <a:off x="7840325" y="1298125"/>
              <a:ext cx="1095600" cy="4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dk2"/>
                  </a:solidFill>
                </a:rPr>
                <a:t>Predicted Value</a:t>
              </a:r>
              <a:endParaRPr sz="15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311700" y="1298125"/>
            <a:ext cx="8624225" cy="1498300"/>
            <a:chOff x="311700" y="1298125"/>
            <a:chExt cx="8624225" cy="1498300"/>
          </a:xfrm>
        </p:grpSpPr>
        <p:sp>
          <p:nvSpPr>
            <p:cNvPr id="116" name="Google Shape;116;p20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0.5</a:t>
              </a:r>
              <a:endParaRPr/>
            </a:p>
          </p:txBody>
        </p:sp>
        <p:sp>
          <p:nvSpPr>
            <p:cNvPr id="117" name="Google Shape;117;p20"/>
            <p:cNvSpPr txBox="1"/>
            <p:nvPr/>
          </p:nvSpPr>
          <p:spPr>
            <a:xfrm>
              <a:off x="311700" y="1549038"/>
              <a:ext cx="8226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Input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8" name="Google Shape;118;p20"/>
            <p:cNvSpPr txBox="1"/>
            <p:nvPr/>
          </p:nvSpPr>
          <p:spPr>
            <a:xfrm>
              <a:off x="1765632" y="1549038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19" name="Google Shape;119;p20"/>
            <p:cNvSpPr txBox="1"/>
            <p:nvPr/>
          </p:nvSpPr>
          <p:spPr>
            <a:xfrm>
              <a:off x="5847825" y="15377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3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20" name="Google Shape;120;p20"/>
            <p:cNvSpPr txBox="1"/>
            <p:nvPr/>
          </p:nvSpPr>
          <p:spPr>
            <a:xfrm>
              <a:off x="6799775" y="1537800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21" name="Google Shape;121;p20"/>
            <p:cNvSpPr txBox="1"/>
            <p:nvPr/>
          </p:nvSpPr>
          <p:spPr>
            <a:xfrm>
              <a:off x="2777427" y="1549051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22" name="Google Shape;122;p20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124" name="Google Shape;124;p20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2693525" y="1975725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127" name="Google Shape;12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28" name="Google Shape;128;p20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1.2</a:t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>
              <a:off x="6799775" y="1974150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131" name="Google Shape;131;p20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0.456</a:t>
              </a:r>
              <a:endParaRPr/>
            </a:p>
          </p:txBody>
        </p:sp>
        <p:sp>
          <p:nvSpPr>
            <p:cNvPr id="132" name="Google Shape;132;p20"/>
            <p:cNvSpPr txBox="1"/>
            <p:nvPr/>
          </p:nvSpPr>
          <p:spPr>
            <a:xfrm>
              <a:off x="7840325" y="1298125"/>
              <a:ext cx="1095600" cy="4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dk2"/>
                  </a:solidFill>
                </a:rPr>
                <a:t>Predicted Value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sp>
        <p:nvSpPr>
          <p:cNvPr id="133" name="Google Shape;133;p20"/>
          <p:cNvSpPr txBox="1"/>
          <p:nvPr/>
        </p:nvSpPr>
        <p:spPr>
          <a:xfrm>
            <a:off x="2870100" y="3203975"/>
            <a:ext cx="36609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tanh(0.8×0.5 + 0.0)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tanh(0.4)=</a:t>
            </a:r>
            <a:r>
              <a:rPr lang="en-GB" sz="1800">
                <a:solidFill>
                  <a:schemeClr val="dk2"/>
                </a:solidFill>
              </a:rPr>
              <a:t>0.38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7012875" y="3054800"/>
            <a:ext cx="16182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1.2×</a:t>
            </a:r>
            <a:r>
              <a:rPr b="1" lang="en-GB" sz="1800">
                <a:solidFill>
                  <a:schemeClr val="dk2"/>
                </a:solidFill>
              </a:rPr>
              <a:t>0.38</a:t>
            </a:r>
            <a:r>
              <a:rPr lang="en-GB" sz="1800">
                <a:solidFill>
                  <a:schemeClr val="dk2"/>
                </a:solidFill>
              </a:rPr>
              <a:t>+0.0=</a:t>
            </a:r>
            <a:r>
              <a:rPr lang="en-GB" sz="1800">
                <a:solidFill>
                  <a:schemeClr val="dk2"/>
                </a:solidFill>
              </a:rPr>
              <a:t>0.456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249575" y="2571750"/>
            <a:ext cx="1159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Yesterday’s temperature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7610775" y="2496125"/>
            <a:ext cx="1159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Today’s temperature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21"/>
          <p:cNvGrpSpPr/>
          <p:nvPr/>
        </p:nvGrpSpPr>
        <p:grpSpPr>
          <a:xfrm>
            <a:off x="311700" y="1298125"/>
            <a:ext cx="8624225" cy="1498300"/>
            <a:chOff x="311700" y="1298125"/>
            <a:chExt cx="8624225" cy="1498300"/>
          </a:xfrm>
        </p:grpSpPr>
        <p:sp>
          <p:nvSpPr>
            <p:cNvPr id="143" name="Google Shape;143;p21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0.5</a:t>
              </a:r>
              <a:endParaRPr/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311700" y="1549038"/>
              <a:ext cx="8226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Input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45" name="Google Shape;145;p21"/>
            <p:cNvSpPr txBox="1"/>
            <p:nvPr/>
          </p:nvSpPr>
          <p:spPr>
            <a:xfrm>
              <a:off x="1765632" y="1549038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46" name="Google Shape;146;p21"/>
            <p:cNvSpPr txBox="1"/>
            <p:nvPr/>
          </p:nvSpPr>
          <p:spPr>
            <a:xfrm>
              <a:off x="5847825" y="15377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B7B7B7"/>
                  </a:solidFill>
                </a:rPr>
                <a:t>w</a:t>
              </a:r>
              <a:r>
                <a:rPr b="1" baseline="-25000" lang="en-GB" sz="1800">
                  <a:solidFill>
                    <a:srgbClr val="B7B7B7"/>
                  </a:solidFill>
                </a:rPr>
                <a:t>3</a:t>
              </a:r>
              <a:endParaRPr b="1" baseline="-25000" sz="1800">
                <a:solidFill>
                  <a:srgbClr val="B7B7B7"/>
                </a:solidFill>
              </a:endParaRPr>
            </a:p>
          </p:txBody>
        </p:sp>
        <p:sp>
          <p:nvSpPr>
            <p:cNvPr id="147" name="Google Shape;147;p21"/>
            <p:cNvSpPr txBox="1"/>
            <p:nvPr/>
          </p:nvSpPr>
          <p:spPr>
            <a:xfrm>
              <a:off x="6799775" y="1537800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B7B7B7"/>
                  </a:solidFill>
                </a:rPr>
                <a:t>b</a:t>
              </a:r>
              <a:r>
                <a:rPr b="1" baseline="-25000" lang="en-GB" sz="1800">
                  <a:solidFill>
                    <a:srgbClr val="B7B7B7"/>
                  </a:solidFill>
                </a:rPr>
                <a:t>2</a:t>
              </a:r>
              <a:endParaRPr b="1" baseline="-25000" sz="1800">
                <a:solidFill>
                  <a:srgbClr val="B7B7B7"/>
                </a:solidFill>
              </a:endParaRPr>
            </a:p>
          </p:txBody>
        </p:sp>
        <p:sp>
          <p:nvSpPr>
            <p:cNvPr id="148" name="Google Shape;148;p21"/>
            <p:cNvSpPr txBox="1"/>
            <p:nvPr/>
          </p:nvSpPr>
          <p:spPr>
            <a:xfrm>
              <a:off x="2777427" y="1549051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2693525" y="1975725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154" name="Google Shape;154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55" name="Google Shape;155;p21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B7B7B7"/>
                  </a:solidFill>
                </a:rPr>
                <a:t>× 1.2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6799775" y="1974150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B7B7B7"/>
                  </a:solidFill>
                </a:rPr>
                <a:t>+ 0.0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159" name="Google Shape;159;p21"/>
            <p:cNvSpPr txBox="1"/>
            <p:nvPr/>
          </p:nvSpPr>
          <p:spPr>
            <a:xfrm>
              <a:off x="7840325" y="1298125"/>
              <a:ext cx="1095600" cy="4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B7B7B7"/>
                  </a:solidFill>
                </a:rPr>
                <a:t>Predicted Value</a:t>
              </a:r>
              <a:endParaRPr sz="1500">
                <a:solidFill>
                  <a:srgbClr val="B7B7B7"/>
                </a:solidFill>
              </a:endParaRPr>
            </a:p>
          </p:txBody>
        </p:sp>
      </p:grpSp>
      <p:sp>
        <p:nvSpPr>
          <p:cNvPr id="160" name="Google Shape;160;p21"/>
          <p:cNvSpPr txBox="1"/>
          <p:nvPr/>
        </p:nvSpPr>
        <p:spPr>
          <a:xfrm>
            <a:off x="249575" y="2571750"/>
            <a:ext cx="1159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Yesterday’s temperature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7610775" y="2496125"/>
            <a:ext cx="1159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E9E9E"/>
                </a:solidFill>
              </a:rPr>
              <a:t>Today’s</a:t>
            </a:r>
            <a:r>
              <a:rPr lang="en-GB" sz="1100">
                <a:solidFill>
                  <a:srgbClr val="9E9E9E"/>
                </a:solidFill>
              </a:rPr>
              <a:t> temperature</a:t>
            </a:r>
            <a:endParaRPr sz="11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2"/>
          <p:cNvGrpSpPr/>
          <p:nvPr/>
        </p:nvGrpSpPr>
        <p:grpSpPr>
          <a:xfrm>
            <a:off x="311700" y="1298125"/>
            <a:ext cx="8624225" cy="2606350"/>
            <a:chOff x="311700" y="1298125"/>
            <a:chExt cx="8624225" cy="2606350"/>
          </a:xfrm>
        </p:grpSpPr>
        <p:sp>
          <p:nvSpPr>
            <p:cNvPr id="167" name="Google Shape;167;p22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2"/>
            <p:cNvSpPr txBox="1"/>
            <p:nvPr/>
          </p:nvSpPr>
          <p:spPr>
            <a:xfrm>
              <a:off x="311700" y="1549050"/>
              <a:ext cx="8226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Input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69" name="Google Shape;169;p22"/>
            <p:cNvSpPr txBox="1"/>
            <p:nvPr/>
          </p:nvSpPr>
          <p:spPr>
            <a:xfrm>
              <a:off x="1765632" y="1549038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70" name="Google Shape;170;p22"/>
            <p:cNvSpPr txBox="1"/>
            <p:nvPr/>
          </p:nvSpPr>
          <p:spPr>
            <a:xfrm>
              <a:off x="2777427" y="1549051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71" name="Google Shape;171;p22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72" name="Google Shape;172;p22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174" name="Google Shape;174;p22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2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2693525" y="1975725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177" name="Google Shape;177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2700038" y="2505750"/>
              <a:ext cx="1398725" cy="1398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9" name="Google Shape;179;p22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 txBox="1"/>
            <p:nvPr/>
          </p:nvSpPr>
          <p:spPr>
            <a:xfrm>
              <a:off x="7840325" y="1298125"/>
              <a:ext cx="1095600" cy="4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</a:endParaRPr>
            </a:p>
          </p:txBody>
        </p:sp>
      </p:grpSp>
      <p:grpSp>
        <p:nvGrpSpPr>
          <p:cNvPr id="182" name="Google Shape;182;p22"/>
          <p:cNvGrpSpPr/>
          <p:nvPr/>
        </p:nvGrpSpPr>
        <p:grpSpPr>
          <a:xfrm>
            <a:off x="5198325" y="1298125"/>
            <a:ext cx="3737600" cy="1197863"/>
            <a:chOff x="5198325" y="1298125"/>
            <a:chExt cx="3737600" cy="1197863"/>
          </a:xfrm>
        </p:grpSpPr>
        <p:sp>
          <p:nvSpPr>
            <p:cNvPr id="183" name="Google Shape;183;p22"/>
            <p:cNvSpPr txBox="1"/>
            <p:nvPr/>
          </p:nvSpPr>
          <p:spPr>
            <a:xfrm>
              <a:off x="5847825" y="15377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B7B7B7"/>
                  </a:solidFill>
                </a:rPr>
                <a:t>w</a:t>
              </a:r>
              <a:r>
                <a:rPr b="1" baseline="-25000" lang="en-GB" sz="1800">
                  <a:solidFill>
                    <a:srgbClr val="B7B7B7"/>
                  </a:solidFill>
                </a:rPr>
                <a:t>3</a:t>
              </a:r>
              <a:endParaRPr b="1" baseline="-25000" sz="1800">
                <a:solidFill>
                  <a:srgbClr val="B7B7B7"/>
                </a:solidFill>
              </a:endParaRPr>
            </a:p>
          </p:txBody>
        </p:sp>
        <p:sp>
          <p:nvSpPr>
            <p:cNvPr id="184" name="Google Shape;184;p22"/>
            <p:cNvSpPr txBox="1"/>
            <p:nvPr/>
          </p:nvSpPr>
          <p:spPr>
            <a:xfrm>
              <a:off x="6799775" y="1537800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B7B7B7"/>
                  </a:solidFill>
                </a:rPr>
                <a:t>b</a:t>
              </a:r>
              <a:r>
                <a:rPr b="1" baseline="-25000" lang="en-GB" sz="1800">
                  <a:solidFill>
                    <a:srgbClr val="B7B7B7"/>
                  </a:solidFill>
                </a:rPr>
                <a:t>2</a:t>
              </a:r>
              <a:endParaRPr b="1" baseline="-25000" sz="1800">
                <a:solidFill>
                  <a:srgbClr val="B7B7B7"/>
                </a:solidFill>
              </a:endParaRPr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B7B7B7"/>
                  </a:solidFill>
                </a:rPr>
                <a:t>× 1.2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6799775" y="1974150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B7B7B7"/>
                  </a:solidFill>
                </a:rPr>
                <a:t>+ 0.0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189" name="Google Shape;189;p22"/>
            <p:cNvSpPr txBox="1"/>
            <p:nvPr/>
          </p:nvSpPr>
          <p:spPr>
            <a:xfrm>
              <a:off x="7840325" y="1298125"/>
              <a:ext cx="1095600" cy="4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B7B7B7"/>
                  </a:solidFill>
                </a:rPr>
                <a:t>Predicted Value</a:t>
              </a:r>
              <a:endParaRPr sz="1500">
                <a:solidFill>
                  <a:srgbClr val="B7B7B7"/>
                </a:solidFill>
              </a:endParaRPr>
            </a:p>
          </p:txBody>
        </p:sp>
      </p:grpSp>
      <p:sp>
        <p:nvSpPr>
          <p:cNvPr id="190" name="Google Shape;190;p22"/>
          <p:cNvSpPr txBox="1"/>
          <p:nvPr/>
        </p:nvSpPr>
        <p:spPr>
          <a:xfrm>
            <a:off x="7610775" y="2496125"/>
            <a:ext cx="1159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E9E9E"/>
                </a:solidFill>
              </a:rPr>
              <a:t>Today’s temperature</a:t>
            </a:r>
            <a:endParaRPr sz="11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23"/>
          <p:cNvGrpSpPr/>
          <p:nvPr/>
        </p:nvGrpSpPr>
        <p:grpSpPr>
          <a:xfrm>
            <a:off x="311700" y="1298125"/>
            <a:ext cx="8624225" cy="2606350"/>
            <a:chOff x="311700" y="1298125"/>
            <a:chExt cx="8624225" cy="2606350"/>
          </a:xfrm>
        </p:grpSpPr>
        <p:sp>
          <p:nvSpPr>
            <p:cNvPr id="196" name="Google Shape;196;p23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3"/>
            <p:cNvSpPr txBox="1"/>
            <p:nvPr/>
          </p:nvSpPr>
          <p:spPr>
            <a:xfrm>
              <a:off x="311700" y="1549050"/>
              <a:ext cx="8226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Input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8" name="Google Shape;198;p23"/>
            <p:cNvSpPr txBox="1"/>
            <p:nvPr/>
          </p:nvSpPr>
          <p:spPr>
            <a:xfrm>
              <a:off x="1765632" y="1549038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23"/>
            <p:cNvSpPr txBox="1"/>
            <p:nvPr/>
          </p:nvSpPr>
          <p:spPr>
            <a:xfrm>
              <a:off x="2777427" y="1549051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23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23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3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203" name="Google Shape;203;p23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2693525" y="1975725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206" name="Google Shape;20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2700038" y="2505750"/>
              <a:ext cx="1398725" cy="1398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8" name="Google Shape;208;p23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3"/>
            <p:cNvSpPr txBox="1"/>
            <p:nvPr/>
          </p:nvSpPr>
          <p:spPr>
            <a:xfrm>
              <a:off x="7840325" y="1298125"/>
              <a:ext cx="1095600" cy="4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</a:endParaRPr>
            </a:p>
          </p:txBody>
        </p:sp>
      </p:grpSp>
      <p:grpSp>
        <p:nvGrpSpPr>
          <p:cNvPr id="211" name="Google Shape;211;p23"/>
          <p:cNvGrpSpPr/>
          <p:nvPr/>
        </p:nvGrpSpPr>
        <p:grpSpPr>
          <a:xfrm>
            <a:off x="5198325" y="1298125"/>
            <a:ext cx="3737600" cy="1197863"/>
            <a:chOff x="5198325" y="1298125"/>
            <a:chExt cx="3737600" cy="1197863"/>
          </a:xfrm>
        </p:grpSpPr>
        <p:sp>
          <p:nvSpPr>
            <p:cNvPr id="212" name="Google Shape;212;p23"/>
            <p:cNvSpPr txBox="1"/>
            <p:nvPr/>
          </p:nvSpPr>
          <p:spPr>
            <a:xfrm>
              <a:off x="5847825" y="15377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B7B7B7"/>
                  </a:solidFill>
                </a:rPr>
                <a:t>w</a:t>
              </a:r>
              <a:r>
                <a:rPr b="1" baseline="-25000" lang="en-GB" sz="1800">
                  <a:solidFill>
                    <a:srgbClr val="B7B7B7"/>
                  </a:solidFill>
                </a:rPr>
                <a:t>3</a:t>
              </a:r>
              <a:endParaRPr b="1" baseline="-25000" sz="1800">
                <a:solidFill>
                  <a:srgbClr val="B7B7B7"/>
                </a:solidFill>
              </a:endParaRPr>
            </a:p>
          </p:txBody>
        </p:sp>
        <p:sp>
          <p:nvSpPr>
            <p:cNvPr id="213" name="Google Shape;213;p23"/>
            <p:cNvSpPr txBox="1"/>
            <p:nvPr/>
          </p:nvSpPr>
          <p:spPr>
            <a:xfrm>
              <a:off x="6799775" y="1537800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B7B7B7"/>
                  </a:solidFill>
                </a:rPr>
                <a:t>b</a:t>
              </a:r>
              <a:r>
                <a:rPr b="1" baseline="-25000" lang="en-GB" sz="1800">
                  <a:solidFill>
                    <a:srgbClr val="B7B7B7"/>
                  </a:solidFill>
                </a:rPr>
                <a:t>2</a:t>
              </a:r>
              <a:endParaRPr b="1" baseline="-25000" sz="1800">
                <a:solidFill>
                  <a:srgbClr val="B7B7B7"/>
                </a:solidFill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B7B7B7"/>
                  </a:solidFill>
                </a:rPr>
                <a:t>× 1.2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6799775" y="1974150"/>
              <a:ext cx="6579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B7B7B7"/>
                  </a:solidFill>
                </a:rPr>
                <a:t>+ 0.0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7840325" y="1298125"/>
              <a:ext cx="1095600" cy="4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B7B7B7"/>
                  </a:solidFill>
                </a:rPr>
                <a:t>Predicted Value</a:t>
              </a:r>
              <a:endParaRPr sz="1500">
                <a:solidFill>
                  <a:srgbClr val="B7B7B7"/>
                </a:solidFill>
              </a:endParaRPr>
            </a:p>
          </p:txBody>
        </p:sp>
      </p:grpSp>
      <p:sp>
        <p:nvSpPr>
          <p:cNvPr id="219" name="Google Shape;219;p23"/>
          <p:cNvSpPr txBox="1"/>
          <p:nvPr/>
        </p:nvSpPr>
        <p:spPr>
          <a:xfrm>
            <a:off x="7610775" y="2496125"/>
            <a:ext cx="1159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E9E9E"/>
                </a:solidFill>
              </a:rPr>
              <a:t>Today’s temperature</a:t>
            </a:r>
            <a:endParaRPr sz="1100">
              <a:solidFill>
                <a:srgbClr val="9E9E9E"/>
              </a:solidFill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2858525" y="612825"/>
            <a:ext cx="4855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</a:rPr>
              <a:t>(Input for Today </a:t>
            </a:r>
            <a:r>
              <a:rPr lang="en-GB" sz="1700">
                <a:solidFill>
                  <a:schemeClr val="dk1"/>
                </a:solidFill>
              </a:rPr>
              <a:t>× </a:t>
            </a:r>
            <a:r>
              <a:rPr b="1" lang="en-GB" sz="2100">
                <a:solidFill>
                  <a:schemeClr val="dk2"/>
                </a:solidFill>
              </a:rPr>
              <a:t>w</a:t>
            </a:r>
            <a:r>
              <a:rPr b="1" baseline="-25000" lang="en-GB" sz="2100">
                <a:solidFill>
                  <a:schemeClr val="dk2"/>
                </a:solidFill>
              </a:rPr>
              <a:t>1</a:t>
            </a:r>
            <a:r>
              <a:rPr lang="en-GB" sz="2100">
                <a:solidFill>
                  <a:schemeClr val="dk2"/>
                </a:solidFill>
              </a:rPr>
              <a:t>)</a:t>
            </a:r>
            <a:r>
              <a:rPr b="1" lang="en-GB" sz="2100">
                <a:solidFill>
                  <a:schemeClr val="dk2"/>
                </a:solidFill>
              </a:rPr>
              <a:t> + </a:t>
            </a:r>
            <a:r>
              <a:rPr lang="en-GB" sz="2100">
                <a:solidFill>
                  <a:schemeClr val="dk2"/>
                </a:solidFill>
              </a:rPr>
              <a:t> (</a:t>
            </a:r>
            <a:r>
              <a:rPr b="1" lang="en-GB" sz="2100">
                <a:solidFill>
                  <a:schemeClr val="dk2"/>
                </a:solidFill>
              </a:rPr>
              <a:t>y</a:t>
            </a:r>
            <a:r>
              <a:rPr b="1" baseline="-25000" lang="en-GB" sz="2100">
                <a:solidFill>
                  <a:schemeClr val="dk2"/>
                </a:solidFill>
              </a:rPr>
              <a:t>1</a:t>
            </a:r>
            <a:r>
              <a:rPr b="1" lang="en-GB" sz="2100">
                <a:solidFill>
                  <a:schemeClr val="dk2"/>
                </a:solidFill>
              </a:rPr>
              <a:t> × w</a:t>
            </a:r>
            <a:r>
              <a:rPr b="1" baseline="-25000" lang="en-GB" sz="2100">
                <a:solidFill>
                  <a:schemeClr val="dk2"/>
                </a:solidFill>
              </a:rPr>
              <a:t>2</a:t>
            </a:r>
            <a:r>
              <a:rPr b="1" lang="en-GB" sz="2100">
                <a:solidFill>
                  <a:schemeClr val="dk2"/>
                </a:solidFill>
              </a:rPr>
              <a:t>)</a:t>
            </a:r>
            <a:endParaRPr b="1"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052100" y="2936400"/>
            <a:ext cx="1047475" cy="7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122563" y="1339662"/>
            <a:ext cx="998400" cy="76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24"/>
          <p:cNvGrpSpPr/>
          <p:nvPr/>
        </p:nvGrpSpPr>
        <p:grpSpPr>
          <a:xfrm>
            <a:off x="924802" y="3334501"/>
            <a:ext cx="7714751" cy="1106390"/>
            <a:chOff x="221048" y="1051606"/>
            <a:chExt cx="9423172" cy="1744819"/>
          </a:xfrm>
        </p:grpSpPr>
        <p:sp>
          <p:nvSpPr>
            <p:cNvPr id="228" name="Google Shape;228;p24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4"/>
            <p:cNvSpPr txBox="1"/>
            <p:nvPr/>
          </p:nvSpPr>
          <p:spPr>
            <a:xfrm>
              <a:off x="221048" y="1344993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Today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230" name="Google Shape;230;p24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31" name="Google Shape;231;p24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3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32" name="Google Shape;232;p24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33" name="Google Shape;233;p24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236" name="Google Shape;236;p24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239" name="Google Shape;239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0" name="Google Shape;240;p24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1.2</a:t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4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</a:rPr>
                <a:t>Predicted Value for Tomorrow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245" name="Google Shape;245;p24"/>
          <p:cNvGrpSpPr/>
          <p:nvPr/>
        </p:nvGrpSpPr>
        <p:grpSpPr>
          <a:xfrm>
            <a:off x="856652" y="113951"/>
            <a:ext cx="7714751" cy="1497360"/>
            <a:chOff x="221048" y="1051606"/>
            <a:chExt cx="9423172" cy="2361394"/>
          </a:xfrm>
        </p:grpSpPr>
        <p:sp>
          <p:nvSpPr>
            <p:cNvPr id="246" name="Google Shape;246;p24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4"/>
            <p:cNvSpPr txBox="1"/>
            <p:nvPr/>
          </p:nvSpPr>
          <p:spPr>
            <a:xfrm>
              <a:off x="221048" y="1179759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Day before 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248" name="Google Shape;248;p24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49" name="Google Shape;249;p24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w</a:t>
              </a:r>
              <a:r>
                <a:rPr b="1" baseline="-25000" lang="en-GB" sz="1800">
                  <a:solidFill>
                    <a:srgbClr val="9E9E9E"/>
                  </a:solidFill>
                </a:rPr>
                <a:t>3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251" name="Google Shape;251;p24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52" name="Google Shape;252;p24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258" name="Google Shape;258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9" name="Google Shape;259;p24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+ 0.0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Yesterday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grpSp>
        <p:nvGrpSpPr>
          <p:cNvPr id="265" name="Google Shape;265;p24"/>
          <p:cNvGrpSpPr/>
          <p:nvPr/>
        </p:nvGrpSpPr>
        <p:grpSpPr>
          <a:xfrm>
            <a:off x="856652" y="1667251"/>
            <a:ext cx="7714751" cy="1497360"/>
            <a:chOff x="221048" y="1051606"/>
            <a:chExt cx="9423172" cy="2361394"/>
          </a:xfrm>
        </p:grpSpPr>
        <p:sp>
          <p:nvSpPr>
            <p:cNvPr id="266" name="Google Shape;266;p24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4"/>
            <p:cNvSpPr txBox="1"/>
            <p:nvPr/>
          </p:nvSpPr>
          <p:spPr>
            <a:xfrm>
              <a:off x="221048" y="1434845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268" name="Google Shape;268;p24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69" name="Google Shape;269;p24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w</a:t>
              </a:r>
              <a:r>
                <a:rPr b="1" baseline="-25000" lang="en-GB" sz="1800">
                  <a:solidFill>
                    <a:srgbClr val="9E9E9E"/>
                  </a:solidFill>
                </a:rPr>
                <a:t>3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270" name="Google Shape;270;p24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271" name="Google Shape;271;p24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72" name="Google Shape;272;p24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275" name="Google Shape;275;p24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278" name="Google Shape;278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9" name="Google Shape;279;p24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284" name="Google Shape;284;p24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Today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5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052100" y="2936400"/>
            <a:ext cx="1047475" cy="7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122563" y="1339662"/>
            <a:ext cx="998400" cy="76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5"/>
          <p:cNvGrpSpPr/>
          <p:nvPr/>
        </p:nvGrpSpPr>
        <p:grpSpPr>
          <a:xfrm>
            <a:off x="924802" y="3334501"/>
            <a:ext cx="7714751" cy="1106390"/>
            <a:chOff x="221048" y="1051606"/>
            <a:chExt cx="9423172" cy="1744819"/>
          </a:xfrm>
        </p:grpSpPr>
        <p:sp>
          <p:nvSpPr>
            <p:cNvPr id="292" name="Google Shape;292;p25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</a:t>
              </a:r>
              <a:endParaRPr/>
            </a:p>
          </p:txBody>
        </p:sp>
        <p:sp>
          <p:nvSpPr>
            <p:cNvPr id="293" name="Google Shape;293;p25"/>
            <p:cNvSpPr txBox="1"/>
            <p:nvPr/>
          </p:nvSpPr>
          <p:spPr>
            <a:xfrm>
              <a:off x="221048" y="1344993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Today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294" name="Google Shape;294;p25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95" name="Google Shape;295;p25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3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96" name="Google Shape;296;p25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97" name="Google Shape;297;p25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300" name="Google Shape;300;p25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303" name="Google Shape;303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04" name="Google Shape;304;p25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1.2</a:t>
              </a: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</a:rPr>
                <a:t>Predicted Value for Tomorrow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309" name="Google Shape;309;p25"/>
          <p:cNvGrpSpPr/>
          <p:nvPr/>
        </p:nvGrpSpPr>
        <p:grpSpPr>
          <a:xfrm>
            <a:off x="856652" y="113951"/>
            <a:ext cx="7714751" cy="1497360"/>
            <a:chOff x="221048" y="1051606"/>
            <a:chExt cx="9423172" cy="2361394"/>
          </a:xfrm>
        </p:grpSpPr>
        <p:sp>
          <p:nvSpPr>
            <p:cNvPr id="310" name="Google Shape;310;p25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0.5</a:t>
              </a:r>
              <a:endParaRPr/>
            </a:p>
          </p:txBody>
        </p:sp>
        <p:sp>
          <p:nvSpPr>
            <p:cNvPr id="311" name="Google Shape;311;p25"/>
            <p:cNvSpPr txBox="1"/>
            <p:nvPr/>
          </p:nvSpPr>
          <p:spPr>
            <a:xfrm>
              <a:off x="221048" y="1179759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Day before 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312" name="Google Shape;312;p25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13" name="Google Shape;313;p25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w</a:t>
              </a:r>
              <a:r>
                <a:rPr b="1" baseline="-25000" lang="en-GB" sz="1800">
                  <a:solidFill>
                    <a:srgbClr val="9E9E9E"/>
                  </a:solidFill>
                </a:rPr>
                <a:t>3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314" name="Google Shape;314;p25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315" name="Google Shape;315;p25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16" name="Google Shape;316;p25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322" name="Google Shape;322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3" name="Google Shape;323;p25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+ 0.0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7840318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0.772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28" name="Google Shape;328;p25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Yesterday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grpSp>
        <p:nvGrpSpPr>
          <p:cNvPr id="329" name="Google Shape;329;p25"/>
          <p:cNvGrpSpPr/>
          <p:nvPr/>
        </p:nvGrpSpPr>
        <p:grpSpPr>
          <a:xfrm>
            <a:off x="856652" y="1667251"/>
            <a:ext cx="7714751" cy="1497360"/>
            <a:chOff x="221048" y="1051606"/>
            <a:chExt cx="9423172" cy="2361394"/>
          </a:xfrm>
        </p:grpSpPr>
        <p:sp>
          <p:nvSpPr>
            <p:cNvPr id="330" name="Google Shape;330;p25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1</a:t>
              </a:r>
              <a:endParaRPr/>
            </a:p>
          </p:txBody>
        </p:sp>
        <p:sp>
          <p:nvSpPr>
            <p:cNvPr id="331" name="Google Shape;331;p25"/>
            <p:cNvSpPr txBox="1"/>
            <p:nvPr/>
          </p:nvSpPr>
          <p:spPr>
            <a:xfrm>
              <a:off x="221048" y="1434845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332" name="Google Shape;332;p25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33" name="Google Shape;333;p25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w</a:t>
              </a:r>
              <a:r>
                <a:rPr b="1" baseline="-25000" lang="en-GB" sz="1800">
                  <a:solidFill>
                    <a:srgbClr val="9E9E9E"/>
                  </a:solidFill>
                </a:rPr>
                <a:t>3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334" name="Google Shape;334;p25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36" name="Google Shape;336;p25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342" name="Google Shape;342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43" name="Google Shape;343;p25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48" name="Google Shape;348;p25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Today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sp>
        <p:nvSpPr>
          <p:cNvPr id="349" name="Google Shape;349;p25"/>
          <p:cNvSpPr txBox="1"/>
          <p:nvPr/>
        </p:nvSpPr>
        <p:spPr>
          <a:xfrm>
            <a:off x="4752125" y="1611300"/>
            <a:ext cx="2662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tanh</a:t>
            </a:r>
            <a:r>
              <a:rPr lang="en-GB" sz="1500">
                <a:solidFill>
                  <a:schemeClr val="dk2"/>
                </a:solidFill>
              </a:rPr>
              <a:t>(0.8×1+0.3×</a:t>
            </a:r>
            <a:r>
              <a:rPr b="1" lang="en-GB" sz="1500">
                <a:solidFill>
                  <a:schemeClr val="dk2"/>
                </a:solidFill>
              </a:rPr>
              <a:t>0.38</a:t>
            </a:r>
            <a:r>
              <a:rPr lang="en-GB" sz="1500">
                <a:solidFill>
                  <a:schemeClr val="dk2"/>
                </a:solidFill>
              </a:rPr>
              <a:t>+0.0)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6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052100" y="2936400"/>
            <a:ext cx="1047475" cy="7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6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122563" y="1339662"/>
            <a:ext cx="998400" cy="76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26"/>
          <p:cNvGrpSpPr/>
          <p:nvPr/>
        </p:nvGrpSpPr>
        <p:grpSpPr>
          <a:xfrm>
            <a:off x="924802" y="3334501"/>
            <a:ext cx="7714751" cy="1106390"/>
            <a:chOff x="221048" y="1051606"/>
            <a:chExt cx="9423172" cy="1744819"/>
          </a:xfrm>
        </p:grpSpPr>
        <p:sp>
          <p:nvSpPr>
            <p:cNvPr id="357" name="Google Shape;357;p26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</a:t>
              </a:r>
              <a:endParaRPr/>
            </a:p>
          </p:txBody>
        </p:sp>
        <p:sp>
          <p:nvSpPr>
            <p:cNvPr id="358" name="Google Shape;358;p26"/>
            <p:cNvSpPr txBox="1"/>
            <p:nvPr/>
          </p:nvSpPr>
          <p:spPr>
            <a:xfrm>
              <a:off x="221048" y="1344993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Today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359" name="Google Shape;359;p26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60" name="Google Shape;360;p26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3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61" name="Google Shape;361;p26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62" name="Google Shape;362;p26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368" name="Google Shape;36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69" name="Google Shape;369;p26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1.2</a:t>
              </a: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7840318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0.272 </a:t>
              </a:r>
              <a:endParaRPr/>
            </a:p>
          </p:txBody>
        </p:sp>
        <p:sp>
          <p:nvSpPr>
            <p:cNvPr id="373" name="Google Shape;373;p26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</a:rPr>
                <a:t>Predicted Value for Tomorrow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374" name="Google Shape;374;p26"/>
          <p:cNvGrpSpPr/>
          <p:nvPr/>
        </p:nvGrpSpPr>
        <p:grpSpPr>
          <a:xfrm>
            <a:off x="856652" y="113951"/>
            <a:ext cx="7714751" cy="1497360"/>
            <a:chOff x="221048" y="1051606"/>
            <a:chExt cx="9423172" cy="2361394"/>
          </a:xfrm>
        </p:grpSpPr>
        <p:sp>
          <p:nvSpPr>
            <p:cNvPr id="375" name="Google Shape;375;p26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0.5</a:t>
              </a:r>
              <a:endParaRPr/>
            </a:p>
          </p:txBody>
        </p:sp>
        <p:sp>
          <p:nvSpPr>
            <p:cNvPr id="376" name="Google Shape;376;p26"/>
            <p:cNvSpPr txBox="1"/>
            <p:nvPr/>
          </p:nvSpPr>
          <p:spPr>
            <a:xfrm>
              <a:off x="221048" y="1179759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Day before 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78" name="Google Shape;378;p26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w</a:t>
              </a:r>
              <a:r>
                <a:rPr b="1" baseline="-25000" lang="en-GB" sz="1800">
                  <a:solidFill>
                    <a:srgbClr val="9E9E9E"/>
                  </a:solidFill>
                </a:rPr>
                <a:t>3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379" name="Google Shape;379;p26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380" name="Google Shape;380;p26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81" name="Google Shape;381;p26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387" name="Google Shape;38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88" name="Google Shape;388;p26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+ 0.0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7840318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0.772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393" name="Google Shape;393;p26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Yesterday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grpSp>
        <p:nvGrpSpPr>
          <p:cNvPr id="394" name="Google Shape;394;p26"/>
          <p:cNvGrpSpPr/>
          <p:nvPr/>
        </p:nvGrpSpPr>
        <p:grpSpPr>
          <a:xfrm>
            <a:off x="856652" y="1667251"/>
            <a:ext cx="7714751" cy="1497360"/>
            <a:chOff x="221048" y="1051606"/>
            <a:chExt cx="9423172" cy="2361394"/>
          </a:xfrm>
        </p:grpSpPr>
        <p:sp>
          <p:nvSpPr>
            <p:cNvPr id="395" name="Google Shape;395;p26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1</a:t>
              </a:r>
              <a:endParaRPr/>
            </a:p>
          </p:txBody>
        </p:sp>
        <p:sp>
          <p:nvSpPr>
            <p:cNvPr id="396" name="Google Shape;396;p26"/>
            <p:cNvSpPr txBox="1"/>
            <p:nvPr/>
          </p:nvSpPr>
          <p:spPr>
            <a:xfrm>
              <a:off x="221048" y="1434845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26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26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w</a:t>
              </a:r>
              <a:r>
                <a:rPr b="1" baseline="-25000" lang="en-GB" sz="1800">
                  <a:solidFill>
                    <a:srgbClr val="9E9E9E"/>
                  </a:solidFill>
                </a:rPr>
                <a:t>3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399" name="Google Shape;399;p26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400" name="Google Shape;400;p26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01" name="Google Shape;401;p26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407" name="Google Shape;40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08" name="Google Shape;408;p26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7840319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0.92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13" name="Google Shape;413;p26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Today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sp>
        <p:nvSpPr>
          <p:cNvPr id="414" name="Google Shape;414;p26"/>
          <p:cNvSpPr txBox="1"/>
          <p:nvPr/>
        </p:nvSpPr>
        <p:spPr>
          <a:xfrm>
            <a:off x="4752125" y="1611300"/>
            <a:ext cx="2662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tanh(0.8×1+0.3×</a:t>
            </a:r>
            <a:r>
              <a:rPr b="1" lang="en-GB" sz="1500">
                <a:solidFill>
                  <a:schemeClr val="dk2"/>
                </a:solidFill>
              </a:rPr>
              <a:t>0.56</a:t>
            </a:r>
            <a:r>
              <a:rPr lang="en-GB" sz="1500">
                <a:solidFill>
                  <a:schemeClr val="dk2"/>
                </a:solidFill>
              </a:rPr>
              <a:t>+0.0)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15" name="Google Shape;415;p26"/>
          <p:cNvSpPr txBox="1"/>
          <p:nvPr/>
        </p:nvSpPr>
        <p:spPr>
          <a:xfrm>
            <a:off x="4893050" y="3131538"/>
            <a:ext cx="2662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tanh(0.8×0+0.3×</a:t>
            </a:r>
            <a:r>
              <a:rPr b="1" lang="en-GB" sz="1500">
                <a:solidFill>
                  <a:schemeClr val="dk2"/>
                </a:solidFill>
              </a:rPr>
              <a:t>0.767</a:t>
            </a:r>
            <a:r>
              <a:rPr lang="en-GB" sz="1500">
                <a:solidFill>
                  <a:schemeClr val="dk2"/>
                </a:solidFill>
              </a:rPr>
              <a:t>+0.0)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27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052100" y="2936400"/>
            <a:ext cx="1047475" cy="7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7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122563" y="1339662"/>
            <a:ext cx="998400" cy="76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27"/>
          <p:cNvGrpSpPr/>
          <p:nvPr/>
        </p:nvGrpSpPr>
        <p:grpSpPr>
          <a:xfrm>
            <a:off x="924802" y="3334501"/>
            <a:ext cx="7714751" cy="1106390"/>
            <a:chOff x="221048" y="1051606"/>
            <a:chExt cx="9423172" cy="1744819"/>
          </a:xfrm>
        </p:grpSpPr>
        <p:sp>
          <p:nvSpPr>
            <p:cNvPr id="423" name="Google Shape;423;p27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</a:t>
              </a:r>
              <a:endParaRPr/>
            </a:p>
          </p:txBody>
        </p:sp>
        <p:sp>
          <p:nvSpPr>
            <p:cNvPr id="424" name="Google Shape;424;p27"/>
            <p:cNvSpPr txBox="1"/>
            <p:nvPr/>
          </p:nvSpPr>
          <p:spPr>
            <a:xfrm>
              <a:off x="221048" y="1344993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Today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425" name="Google Shape;425;p27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26" name="Google Shape;426;p27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3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27" name="Google Shape;427;p27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28" name="Google Shape;428;p27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434" name="Google Shape;434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35" name="Google Shape;435;p27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1.2</a:t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7840318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0.272 </a:t>
              </a:r>
              <a:endParaRPr/>
            </a:p>
          </p:txBody>
        </p:sp>
        <p:sp>
          <p:nvSpPr>
            <p:cNvPr id="439" name="Google Shape;439;p27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</a:rPr>
                <a:t>Predicted Value for Tomorrow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440" name="Google Shape;440;p27"/>
          <p:cNvGrpSpPr/>
          <p:nvPr/>
        </p:nvGrpSpPr>
        <p:grpSpPr>
          <a:xfrm>
            <a:off x="856652" y="113951"/>
            <a:ext cx="7714751" cy="1497360"/>
            <a:chOff x="221048" y="1051606"/>
            <a:chExt cx="9423172" cy="2361394"/>
          </a:xfrm>
        </p:grpSpPr>
        <p:sp>
          <p:nvSpPr>
            <p:cNvPr id="441" name="Google Shape;441;p27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0.5</a:t>
              </a:r>
              <a:endParaRPr/>
            </a:p>
          </p:txBody>
        </p:sp>
        <p:sp>
          <p:nvSpPr>
            <p:cNvPr id="442" name="Google Shape;442;p27"/>
            <p:cNvSpPr txBox="1"/>
            <p:nvPr/>
          </p:nvSpPr>
          <p:spPr>
            <a:xfrm>
              <a:off x="221048" y="1179759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Day before 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443" name="Google Shape;443;p27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44" name="Google Shape;444;p27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w</a:t>
              </a:r>
              <a:r>
                <a:rPr b="1" baseline="-25000" lang="en-GB" sz="1800">
                  <a:solidFill>
                    <a:srgbClr val="9E9E9E"/>
                  </a:solidFill>
                </a:rPr>
                <a:t>3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445" name="Google Shape;445;p27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446" name="Google Shape;446;p27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47" name="Google Shape;447;p27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453" name="Google Shape;45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54" name="Google Shape;454;p27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+ 0.0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7840318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0.772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59" name="Google Shape;459;p27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Yesterday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grpSp>
        <p:nvGrpSpPr>
          <p:cNvPr id="460" name="Google Shape;460;p27"/>
          <p:cNvGrpSpPr/>
          <p:nvPr/>
        </p:nvGrpSpPr>
        <p:grpSpPr>
          <a:xfrm>
            <a:off x="856652" y="1667251"/>
            <a:ext cx="7714751" cy="1497360"/>
            <a:chOff x="221048" y="1051606"/>
            <a:chExt cx="9423172" cy="2361394"/>
          </a:xfrm>
        </p:grpSpPr>
        <p:sp>
          <p:nvSpPr>
            <p:cNvPr id="461" name="Google Shape;461;p27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1</a:t>
              </a:r>
              <a:endParaRPr/>
            </a:p>
          </p:txBody>
        </p:sp>
        <p:sp>
          <p:nvSpPr>
            <p:cNvPr id="462" name="Google Shape;462;p27"/>
            <p:cNvSpPr txBox="1"/>
            <p:nvPr/>
          </p:nvSpPr>
          <p:spPr>
            <a:xfrm>
              <a:off x="221048" y="1434845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463" name="Google Shape;463;p27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64" name="Google Shape;464;p27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w</a:t>
              </a:r>
              <a:r>
                <a:rPr b="1" baseline="-25000" lang="en-GB" sz="1800">
                  <a:solidFill>
                    <a:srgbClr val="9E9E9E"/>
                  </a:solidFill>
                </a:rPr>
                <a:t>3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465" name="Google Shape;465;p27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466" name="Google Shape;466;p27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67" name="Google Shape;467;p27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w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470" name="Google Shape;470;p27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473" name="Google Shape;47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74" name="Google Shape;474;p27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+ 0.0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7840319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0.92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479" name="Google Shape;479;p27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Today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sp>
        <p:nvSpPr>
          <p:cNvPr id="480" name="Google Shape;480;p27"/>
          <p:cNvSpPr txBox="1"/>
          <p:nvPr/>
        </p:nvSpPr>
        <p:spPr>
          <a:xfrm>
            <a:off x="4752125" y="1611300"/>
            <a:ext cx="2662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tanh(0.8×1+0.3×</a:t>
            </a:r>
            <a:r>
              <a:rPr b="1" lang="en-GB" sz="1500">
                <a:solidFill>
                  <a:schemeClr val="dk2"/>
                </a:solidFill>
              </a:rPr>
              <a:t>0.56</a:t>
            </a:r>
            <a:r>
              <a:rPr lang="en-GB" sz="1500">
                <a:solidFill>
                  <a:schemeClr val="dk2"/>
                </a:solidFill>
              </a:rPr>
              <a:t>+0.0)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81" name="Google Shape;481;p27"/>
          <p:cNvSpPr txBox="1"/>
          <p:nvPr/>
        </p:nvSpPr>
        <p:spPr>
          <a:xfrm>
            <a:off x="4651375" y="3220538"/>
            <a:ext cx="2662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tanh(0.8×0+0.3×</a:t>
            </a:r>
            <a:r>
              <a:rPr b="1" lang="en-GB" sz="1500">
                <a:solidFill>
                  <a:schemeClr val="dk2"/>
                </a:solidFill>
              </a:rPr>
              <a:t>0.767</a:t>
            </a:r>
            <a:r>
              <a:rPr lang="en-GB" sz="1500">
                <a:solidFill>
                  <a:schemeClr val="dk2"/>
                </a:solidFill>
              </a:rPr>
              <a:t>+0.0)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82" name="Google Shape;482;p27"/>
          <p:cNvSpPr txBox="1"/>
          <p:nvPr/>
        </p:nvSpPr>
        <p:spPr>
          <a:xfrm>
            <a:off x="5968575" y="4372050"/>
            <a:ext cx="2364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1.2×0.226 + 0.0 = 0.272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 that the weights are shared over time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• Essentially, copies of the RNN cell are made over time (unrolling/unfolding), with different inputs at different time steps</a:t>
            </a:r>
            <a:endParaRPr/>
          </a:p>
        </p:txBody>
      </p:sp>
      <p:sp>
        <p:nvSpPr>
          <p:cNvPr id="488" name="Google Shape;488;p28"/>
          <p:cNvSpPr txBox="1"/>
          <p:nvPr>
            <p:ph type="title"/>
          </p:nvPr>
        </p:nvSpPr>
        <p:spPr>
          <a:xfrm>
            <a:off x="311700" y="408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Recurrent Neural Networks (RNNs)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9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052100" y="2936400"/>
            <a:ext cx="1047475" cy="7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9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122563" y="1339662"/>
            <a:ext cx="998400" cy="76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5" name="Google Shape;495;p29"/>
          <p:cNvGrpSpPr/>
          <p:nvPr/>
        </p:nvGrpSpPr>
        <p:grpSpPr>
          <a:xfrm>
            <a:off x="924802" y="3334501"/>
            <a:ext cx="7714751" cy="1106390"/>
            <a:chOff x="221048" y="1051606"/>
            <a:chExt cx="9423172" cy="1744819"/>
          </a:xfrm>
        </p:grpSpPr>
        <p:sp>
          <p:nvSpPr>
            <p:cNvPr id="496" name="Google Shape;496;p29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</a:t>
              </a:r>
              <a:endParaRPr/>
            </a:p>
          </p:txBody>
        </p:sp>
        <p:sp>
          <p:nvSpPr>
            <p:cNvPr id="497" name="Google Shape;497;p29"/>
            <p:cNvSpPr txBox="1"/>
            <p:nvPr/>
          </p:nvSpPr>
          <p:spPr>
            <a:xfrm>
              <a:off x="221048" y="1344993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Today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498" name="Google Shape;498;p29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E06666"/>
                  </a:solidFill>
                </a:rPr>
                <a:t>w</a:t>
              </a:r>
              <a:r>
                <a:rPr b="1" baseline="-25000" lang="en-GB" sz="1800">
                  <a:solidFill>
                    <a:srgbClr val="E06666"/>
                  </a:solidFill>
                </a:rPr>
                <a:t>1</a:t>
              </a:r>
              <a:endParaRPr b="1" baseline="-25000" sz="1800">
                <a:solidFill>
                  <a:srgbClr val="E06666"/>
                </a:solidFill>
              </a:endParaRPr>
            </a:p>
          </p:txBody>
        </p:sp>
        <p:sp>
          <p:nvSpPr>
            <p:cNvPr id="499" name="Google Shape;499;p29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C78D8"/>
                  </a:solidFill>
                </a:rPr>
                <a:t>w</a:t>
              </a:r>
              <a:r>
                <a:rPr b="1" baseline="-25000" lang="en-GB" sz="1800">
                  <a:solidFill>
                    <a:srgbClr val="3C78D8"/>
                  </a:solidFill>
                </a:rPr>
                <a:t>3</a:t>
              </a:r>
              <a:endParaRPr b="1" baseline="-25000" sz="1800">
                <a:solidFill>
                  <a:srgbClr val="3C78D8"/>
                </a:solidFill>
              </a:endParaRPr>
            </a:p>
          </p:txBody>
        </p:sp>
        <p:sp>
          <p:nvSpPr>
            <p:cNvPr id="500" name="Google Shape;500;p29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D5A6BD"/>
                  </a:solidFill>
                </a:rPr>
                <a:t>b</a:t>
              </a:r>
              <a:r>
                <a:rPr b="1" baseline="-25000" lang="en-GB" sz="1800">
                  <a:solidFill>
                    <a:srgbClr val="D5A6BD"/>
                  </a:solidFill>
                </a:rPr>
                <a:t>2</a:t>
              </a:r>
              <a:endParaRPr b="1" baseline="-25000" sz="1800">
                <a:solidFill>
                  <a:srgbClr val="D5A6BD"/>
                </a:solidFill>
              </a:endParaRPr>
            </a:p>
          </p:txBody>
        </p:sp>
        <p:sp>
          <p:nvSpPr>
            <p:cNvPr id="501" name="Google Shape;501;p29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6AA84F"/>
                  </a:solidFill>
                </a:rPr>
                <a:t>b</a:t>
              </a:r>
              <a:r>
                <a:rPr b="1" baseline="-25000" lang="en-GB" sz="1800">
                  <a:solidFill>
                    <a:srgbClr val="6AA84F"/>
                  </a:solidFill>
                </a:rPr>
                <a:t>1</a:t>
              </a:r>
              <a:endParaRPr b="1" baseline="-25000" sz="1800">
                <a:solidFill>
                  <a:srgbClr val="6AA84F"/>
                </a:solidFill>
              </a:endParaRPr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507" name="Google Shape;507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08" name="Google Shape;508;p29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1.2</a:t>
              </a: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7840318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0.272 </a:t>
              </a:r>
              <a:endParaRPr/>
            </a:p>
          </p:txBody>
        </p:sp>
        <p:sp>
          <p:nvSpPr>
            <p:cNvPr id="512" name="Google Shape;512;p29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</a:rPr>
                <a:t>Predicted Value for Tomorrow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513" name="Google Shape;513;p29"/>
          <p:cNvGrpSpPr/>
          <p:nvPr/>
        </p:nvGrpSpPr>
        <p:grpSpPr>
          <a:xfrm>
            <a:off x="856652" y="113951"/>
            <a:ext cx="7714751" cy="1497360"/>
            <a:chOff x="221048" y="1051606"/>
            <a:chExt cx="9423172" cy="2361394"/>
          </a:xfrm>
        </p:grpSpPr>
        <p:sp>
          <p:nvSpPr>
            <p:cNvPr id="514" name="Google Shape;514;p29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0.5</a:t>
              </a:r>
              <a:endParaRPr/>
            </a:p>
          </p:txBody>
        </p:sp>
        <p:sp>
          <p:nvSpPr>
            <p:cNvPr id="515" name="Google Shape;515;p29"/>
            <p:cNvSpPr txBox="1"/>
            <p:nvPr/>
          </p:nvSpPr>
          <p:spPr>
            <a:xfrm>
              <a:off x="221048" y="1179759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Day before 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516" name="Google Shape;516;p29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E06666"/>
                  </a:solidFill>
                </a:rPr>
                <a:t>w</a:t>
              </a:r>
              <a:r>
                <a:rPr b="1" baseline="-25000" lang="en-GB" sz="1800">
                  <a:solidFill>
                    <a:srgbClr val="E06666"/>
                  </a:solidFill>
                </a:rPr>
                <a:t>1</a:t>
              </a:r>
              <a:endParaRPr b="1" baseline="-25000" sz="1800">
                <a:solidFill>
                  <a:srgbClr val="E06666"/>
                </a:solidFill>
              </a:endParaRPr>
            </a:p>
          </p:txBody>
        </p:sp>
        <p:sp>
          <p:nvSpPr>
            <p:cNvPr id="517" name="Google Shape;517;p29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D85C6"/>
                  </a:solidFill>
                </a:rPr>
                <a:t>w</a:t>
              </a:r>
              <a:r>
                <a:rPr b="1" baseline="-25000" lang="en-GB" sz="1800">
                  <a:solidFill>
                    <a:srgbClr val="3D85C6"/>
                  </a:solidFill>
                </a:rPr>
                <a:t>3</a:t>
              </a:r>
              <a:endParaRPr b="1" baseline="-25000" sz="1800">
                <a:solidFill>
                  <a:srgbClr val="3D85C6"/>
                </a:solidFill>
              </a:endParaRPr>
            </a:p>
          </p:txBody>
        </p:sp>
        <p:sp>
          <p:nvSpPr>
            <p:cNvPr id="518" name="Google Shape;518;p29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D5A6BD"/>
                  </a:solidFill>
                </a:rPr>
                <a:t>b</a:t>
              </a:r>
              <a:r>
                <a:rPr b="1" baseline="-25000" lang="en-GB" sz="1800">
                  <a:solidFill>
                    <a:srgbClr val="D5A6BD"/>
                  </a:solidFill>
                </a:rPr>
                <a:t>2</a:t>
              </a:r>
              <a:endParaRPr b="1" baseline="-25000" sz="1800">
                <a:solidFill>
                  <a:srgbClr val="D5A6BD"/>
                </a:solidFill>
              </a:endParaRPr>
            </a:p>
          </p:txBody>
        </p:sp>
        <p:sp>
          <p:nvSpPr>
            <p:cNvPr id="519" name="Google Shape;519;p29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6AA84F"/>
                  </a:solidFill>
                </a:rPr>
                <a:t>b</a:t>
              </a:r>
              <a:r>
                <a:rPr b="1" baseline="-25000" lang="en-GB" sz="1800">
                  <a:solidFill>
                    <a:srgbClr val="6AA84F"/>
                  </a:solidFill>
                </a:rPr>
                <a:t>1</a:t>
              </a:r>
              <a:endParaRPr b="1" baseline="-25000" sz="1800">
                <a:solidFill>
                  <a:srgbClr val="6AA84F"/>
                </a:solidFill>
              </a:endParaRPr>
            </a:p>
          </p:txBody>
        </p:sp>
        <p:sp>
          <p:nvSpPr>
            <p:cNvPr id="520" name="Google Shape;520;p29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B45F06"/>
                  </a:solidFill>
                </a:rPr>
                <a:t>w</a:t>
              </a:r>
              <a:r>
                <a:rPr b="1" baseline="-25000" lang="en-GB" sz="1800">
                  <a:solidFill>
                    <a:srgbClr val="B45F06"/>
                  </a:solidFill>
                </a:rPr>
                <a:t>2</a:t>
              </a:r>
              <a:endParaRPr b="1" baseline="-25000" sz="1800">
                <a:solidFill>
                  <a:srgbClr val="B45F06"/>
                </a:solidFill>
              </a:endParaRPr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526" name="Google Shape;526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27" name="Google Shape;527;p29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+ 0.0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7840318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0.772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532" name="Google Shape;532;p29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Yesterday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grpSp>
        <p:nvGrpSpPr>
          <p:cNvPr id="533" name="Google Shape;533;p29"/>
          <p:cNvGrpSpPr/>
          <p:nvPr/>
        </p:nvGrpSpPr>
        <p:grpSpPr>
          <a:xfrm>
            <a:off x="856652" y="1667251"/>
            <a:ext cx="7714751" cy="1497360"/>
            <a:chOff x="221048" y="1051606"/>
            <a:chExt cx="9423172" cy="2361394"/>
          </a:xfrm>
        </p:grpSpPr>
        <p:sp>
          <p:nvSpPr>
            <p:cNvPr id="534" name="Google Shape;534;p29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1</a:t>
              </a:r>
              <a:endParaRPr/>
            </a:p>
          </p:txBody>
        </p:sp>
        <p:sp>
          <p:nvSpPr>
            <p:cNvPr id="535" name="Google Shape;535;p29"/>
            <p:cNvSpPr txBox="1"/>
            <p:nvPr/>
          </p:nvSpPr>
          <p:spPr>
            <a:xfrm>
              <a:off x="221048" y="1434845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536" name="Google Shape;536;p29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E06666"/>
                  </a:solidFill>
                </a:rPr>
                <a:t>w</a:t>
              </a:r>
              <a:r>
                <a:rPr b="1" baseline="-25000" lang="en-GB" sz="1800">
                  <a:solidFill>
                    <a:srgbClr val="E06666"/>
                  </a:solidFill>
                </a:rPr>
                <a:t>1</a:t>
              </a:r>
              <a:endParaRPr b="1" baseline="-25000" sz="1800">
                <a:solidFill>
                  <a:srgbClr val="E06666"/>
                </a:solidFill>
              </a:endParaRPr>
            </a:p>
          </p:txBody>
        </p:sp>
        <p:sp>
          <p:nvSpPr>
            <p:cNvPr id="537" name="Google Shape;537;p29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D85C6"/>
                  </a:solidFill>
                </a:rPr>
                <a:t>w</a:t>
              </a:r>
              <a:r>
                <a:rPr b="1" baseline="-25000" lang="en-GB" sz="1800">
                  <a:solidFill>
                    <a:srgbClr val="3D85C6"/>
                  </a:solidFill>
                </a:rPr>
                <a:t>3</a:t>
              </a:r>
              <a:endParaRPr b="1" baseline="-25000" sz="1800">
                <a:solidFill>
                  <a:srgbClr val="3D85C6"/>
                </a:solidFill>
              </a:endParaRPr>
            </a:p>
          </p:txBody>
        </p:sp>
        <p:sp>
          <p:nvSpPr>
            <p:cNvPr id="538" name="Google Shape;538;p29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D5A6BD"/>
                  </a:solidFill>
                </a:rPr>
                <a:t>b</a:t>
              </a:r>
              <a:r>
                <a:rPr b="1" baseline="-25000" lang="en-GB" sz="1800">
                  <a:solidFill>
                    <a:srgbClr val="D5A6BD"/>
                  </a:solidFill>
                </a:rPr>
                <a:t>2</a:t>
              </a:r>
              <a:endParaRPr b="1" baseline="-25000" sz="1800">
                <a:solidFill>
                  <a:srgbClr val="D5A6BD"/>
                </a:solidFill>
              </a:endParaRPr>
            </a:p>
          </p:txBody>
        </p:sp>
        <p:sp>
          <p:nvSpPr>
            <p:cNvPr id="539" name="Google Shape;539;p29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6AA84F"/>
                  </a:solidFill>
                </a:rPr>
                <a:t>b</a:t>
              </a:r>
              <a:r>
                <a:rPr b="1" baseline="-25000" lang="en-GB" sz="1800">
                  <a:solidFill>
                    <a:srgbClr val="6AA84F"/>
                  </a:solidFill>
                </a:rPr>
                <a:t>1</a:t>
              </a:r>
              <a:endParaRPr b="1" baseline="-25000" sz="1800">
                <a:solidFill>
                  <a:srgbClr val="6AA84F"/>
                </a:solidFill>
              </a:endParaRPr>
            </a:p>
          </p:txBody>
        </p:sp>
        <p:sp>
          <p:nvSpPr>
            <p:cNvPr id="540" name="Google Shape;540;p29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B45F06"/>
                  </a:solidFill>
                </a:rPr>
                <a:t>w</a:t>
              </a:r>
              <a:r>
                <a:rPr b="1" baseline="-25000" lang="en-GB" sz="1800">
                  <a:solidFill>
                    <a:srgbClr val="B45F06"/>
                  </a:solidFill>
                </a:rPr>
                <a:t>2</a:t>
              </a:r>
              <a:endParaRPr b="1" baseline="-25000" sz="1800">
                <a:solidFill>
                  <a:srgbClr val="B45F06"/>
                </a:solidFill>
              </a:endParaRPr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0.8</a:t>
              </a: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pic>
          <p:nvPicPr>
            <p:cNvPr id="546" name="Google Shape;546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47" name="Google Shape;547;p29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× 0.3</a:t>
              </a: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× 1.2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+ 0.0</a:t>
              </a: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7840319" y="1901392"/>
              <a:ext cx="8226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9E9E9E"/>
                  </a:solidFill>
                </a:rPr>
                <a:t>0.92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552" name="Google Shape;552;p29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Today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sp>
        <p:nvSpPr>
          <p:cNvPr id="553" name="Google Shape;553;p29"/>
          <p:cNvSpPr txBox="1"/>
          <p:nvPr/>
        </p:nvSpPr>
        <p:spPr>
          <a:xfrm>
            <a:off x="4752125" y="1611300"/>
            <a:ext cx="2662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tanh(0.8×1+0.3×</a:t>
            </a:r>
            <a:r>
              <a:rPr b="1" lang="en-GB" sz="1500">
                <a:solidFill>
                  <a:schemeClr val="dk2"/>
                </a:solidFill>
              </a:rPr>
              <a:t>0.56</a:t>
            </a:r>
            <a:r>
              <a:rPr lang="en-GB" sz="1500">
                <a:solidFill>
                  <a:schemeClr val="dk2"/>
                </a:solidFill>
              </a:rPr>
              <a:t>+0.0)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54" name="Google Shape;554;p29"/>
          <p:cNvSpPr txBox="1"/>
          <p:nvPr/>
        </p:nvSpPr>
        <p:spPr>
          <a:xfrm>
            <a:off x="4893050" y="3131538"/>
            <a:ext cx="2662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tanh(0.8×0+0.3×</a:t>
            </a:r>
            <a:r>
              <a:rPr b="1" lang="en-GB" sz="1500">
                <a:solidFill>
                  <a:schemeClr val="dk2"/>
                </a:solidFill>
              </a:rPr>
              <a:t>0.767</a:t>
            </a:r>
            <a:r>
              <a:rPr lang="en-GB" sz="1500">
                <a:solidFill>
                  <a:schemeClr val="dk2"/>
                </a:solidFill>
              </a:rPr>
              <a:t>+0.0)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55" name="Google Shape;555;p29"/>
          <p:cNvSpPr txBox="1"/>
          <p:nvPr/>
        </p:nvSpPr>
        <p:spPr>
          <a:xfrm>
            <a:off x="5968575" y="4372050"/>
            <a:ext cx="2364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1.2×0.226 + 0.0 = 0.272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Recurrent Neural Network</a:t>
            </a:r>
            <a:endParaRPr/>
          </a:p>
        </p:txBody>
      </p:sp>
      <p:sp>
        <p:nvSpPr>
          <p:cNvPr id="561" name="Google Shape;56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We can process a sequence of vectors 𝒙</a:t>
            </a:r>
            <a:r>
              <a:rPr baseline="-25000" lang="en-GB"/>
              <a:t>𝑡</a:t>
            </a:r>
            <a:r>
              <a:rPr lang="en-GB"/>
              <a:t> by applying a recurrence formula at every time step</a:t>
            </a:r>
            <a:endParaRPr/>
          </a:p>
        </p:txBody>
      </p:sp>
      <p:pic>
        <p:nvPicPr>
          <p:cNvPr id="562" name="Google Shape;5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525" y="1898400"/>
            <a:ext cx="4654512" cy="26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9" name="Google Shape;5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625" y="1152475"/>
            <a:ext cx="4654512" cy="26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1"/>
          <p:cNvSpPr txBox="1"/>
          <p:nvPr/>
        </p:nvSpPr>
        <p:spPr>
          <a:xfrm>
            <a:off x="5830875" y="3665600"/>
            <a:ext cx="26508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CC0000"/>
                </a:solidFill>
              </a:rPr>
              <a:t>The same function 𝑓</a:t>
            </a:r>
            <a:r>
              <a:rPr baseline="-25000" lang="en-GB" sz="1800">
                <a:solidFill>
                  <a:srgbClr val="CC0000"/>
                </a:solidFill>
              </a:rPr>
              <a:t>𝜃</a:t>
            </a:r>
            <a:r>
              <a:rPr lang="en-GB" sz="1800">
                <a:solidFill>
                  <a:srgbClr val="CC0000"/>
                </a:solidFill>
              </a:rPr>
              <a:t> and the same set of parameters 𝜃 are used at every time step</a:t>
            </a:r>
            <a:endParaRPr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77" name="Google Shape;5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300" y="681500"/>
            <a:ext cx="4476475" cy="25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84" name="Google Shape;5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300" y="681500"/>
            <a:ext cx="4476475" cy="25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2675" y="3293126"/>
            <a:ext cx="6198100" cy="10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34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052100" y="2936400"/>
            <a:ext cx="1047475" cy="7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4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122563" y="1339662"/>
            <a:ext cx="998400" cy="76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2" name="Google Shape;592;p34"/>
          <p:cNvGrpSpPr/>
          <p:nvPr/>
        </p:nvGrpSpPr>
        <p:grpSpPr>
          <a:xfrm>
            <a:off x="924802" y="3334501"/>
            <a:ext cx="7714751" cy="1106390"/>
            <a:chOff x="221048" y="1051606"/>
            <a:chExt cx="9423172" cy="1744819"/>
          </a:xfrm>
        </p:grpSpPr>
        <p:sp>
          <p:nvSpPr>
            <p:cNvPr id="593" name="Google Shape;593;p34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4"/>
            <p:cNvSpPr txBox="1"/>
            <p:nvPr/>
          </p:nvSpPr>
          <p:spPr>
            <a:xfrm>
              <a:off x="221048" y="1344993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Today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595" name="Google Shape;595;p34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9900"/>
                  </a:solidFill>
                </a:rPr>
                <a:t>w</a:t>
              </a:r>
              <a:r>
                <a:rPr b="1" baseline="-25000" lang="en-GB" sz="1800">
                  <a:solidFill>
                    <a:srgbClr val="FF9900"/>
                  </a:solidFill>
                </a:rPr>
                <a:t>1</a:t>
              </a:r>
              <a:endParaRPr b="1" baseline="-25000" sz="1800">
                <a:solidFill>
                  <a:srgbClr val="FF9900"/>
                </a:solidFill>
              </a:endParaRPr>
            </a:p>
          </p:txBody>
        </p:sp>
        <p:sp>
          <p:nvSpPr>
            <p:cNvPr id="596" name="Google Shape;596;p34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C78D8"/>
                  </a:solidFill>
                </a:rPr>
                <a:t>w</a:t>
              </a:r>
              <a:r>
                <a:rPr b="1" baseline="-25000" lang="en-GB" sz="1800">
                  <a:solidFill>
                    <a:srgbClr val="3C78D8"/>
                  </a:solidFill>
                </a:rPr>
                <a:t>3</a:t>
              </a:r>
              <a:endParaRPr b="1" baseline="-25000" sz="1800">
                <a:solidFill>
                  <a:srgbClr val="3C78D8"/>
                </a:solidFill>
              </a:endParaRPr>
            </a:p>
          </p:txBody>
        </p:sp>
        <p:sp>
          <p:nvSpPr>
            <p:cNvPr id="597" name="Google Shape;597;p34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598" name="Google Shape;598;p34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4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4" name="Google Shape;60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05" name="Google Shape;605;p34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4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4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4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4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</a:rPr>
                <a:t>Predicted Value for Tomorrow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610" name="Google Shape;610;p34"/>
          <p:cNvGrpSpPr/>
          <p:nvPr/>
        </p:nvGrpSpPr>
        <p:grpSpPr>
          <a:xfrm>
            <a:off x="856652" y="113951"/>
            <a:ext cx="7714751" cy="1497360"/>
            <a:chOff x="221048" y="1051606"/>
            <a:chExt cx="9423172" cy="2361394"/>
          </a:xfrm>
        </p:grpSpPr>
        <p:sp>
          <p:nvSpPr>
            <p:cNvPr id="611" name="Google Shape;611;p34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4"/>
            <p:cNvSpPr txBox="1"/>
            <p:nvPr/>
          </p:nvSpPr>
          <p:spPr>
            <a:xfrm>
              <a:off x="221048" y="1179759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Day before 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613" name="Google Shape;613;p34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9900"/>
                  </a:solidFill>
                </a:rPr>
                <a:t>w</a:t>
              </a:r>
              <a:r>
                <a:rPr b="1" baseline="-25000" lang="en-GB" sz="1800">
                  <a:solidFill>
                    <a:srgbClr val="FF9900"/>
                  </a:solidFill>
                </a:rPr>
                <a:t>1</a:t>
              </a:r>
              <a:endParaRPr b="1" baseline="-25000" sz="1800">
                <a:solidFill>
                  <a:srgbClr val="FF9900"/>
                </a:solidFill>
              </a:endParaRPr>
            </a:p>
          </p:txBody>
        </p:sp>
        <p:sp>
          <p:nvSpPr>
            <p:cNvPr id="614" name="Google Shape;614;p34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A4C2F4"/>
                  </a:solidFill>
                </a:rPr>
                <a:t>w</a:t>
              </a:r>
              <a:r>
                <a:rPr b="1" baseline="-25000" lang="en-GB" sz="1800">
                  <a:solidFill>
                    <a:srgbClr val="A4C2F4"/>
                  </a:solidFill>
                </a:rPr>
                <a:t>3</a:t>
              </a:r>
              <a:endParaRPr b="1" baseline="-25000" sz="1800">
                <a:solidFill>
                  <a:srgbClr val="A4C2F4"/>
                </a:solidFill>
              </a:endParaRPr>
            </a:p>
          </p:txBody>
        </p:sp>
        <p:sp>
          <p:nvSpPr>
            <p:cNvPr id="615" name="Google Shape;615;p34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616" name="Google Shape;616;p34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617" name="Google Shape;617;p34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C27BA0"/>
                  </a:solidFill>
                </a:rPr>
                <a:t>w</a:t>
              </a:r>
              <a:r>
                <a:rPr b="1" baseline="-25000" lang="en-GB" sz="1800">
                  <a:solidFill>
                    <a:srgbClr val="C27BA0"/>
                  </a:solidFill>
                </a:rPr>
                <a:t>2</a:t>
              </a:r>
              <a:endParaRPr b="1" baseline="-25000" sz="1800">
                <a:solidFill>
                  <a:srgbClr val="C27BA0"/>
                </a:solidFill>
              </a:endParaRPr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3" name="Google Shape;623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24" name="Google Shape;624;p34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629" name="Google Shape;629;p34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Yesterday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grpSp>
        <p:nvGrpSpPr>
          <p:cNvPr id="630" name="Google Shape;630;p34"/>
          <p:cNvGrpSpPr/>
          <p:nvPr/>
        </p:nvGrpSpPr>
        <p:grpSpPr>
          <a:xfrm>
            <a:off x="856652" y="1667251"/>
            <a:ext cx="7714751" cy="1497360"/>
            <a:chOff x="221048" y="1051606"/>
            <a:chExt cx="9423172" cy="2361394"/>
          </a:xfrm>
        </p:grpSpPr>
        <p:sp>
          <p:nvSpPr>
            <p:cNvPr id="631" name="Google Shape;631;p34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4"/>
            <p:cNvSpPr txBox="1"/>
            <p:nvPr/>
          </p:nvSpPr>
          <p:spPr>
            <a:xfrm>
              <a:off x="221048" y="1434845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633" name="Google Shape;633;p34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9900"/>
                  </a:solidFill>
                </a:rPr>
                <a:t>w</a:t>
              </a:r>
              <a:r>
                <a:rPr b="1" baseline="-25000" lang="en-GB" sz="1800">
                  <a:solidFill>
                    <a:srgbClr val="FF9900"/>
                  </a:solidFill>
                </a:rPr>
                <a:t>1</a:t>
              </a:r>
              <a:endParaRPr b="1" baseline="-25000" sz="1800">
                <a:solidFill>
                  <a:srgbClr val="FF9900"/>
                </a:solidFill>
              </a:endParaRPr>
            </a:p>
          </p:txBody>
        </p:sp>
        <p:sp>
          <p:nvSpPr>
            <p:cNvPr id="634" name="Google Shape;634;p34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A4C2F4"/>
                  </a:solidFill>
                </a:rPr>
                <a:t>w</a:t>
              </a:r>
              <a:r>
                <a:rPr b="1" baseline="-25000" lang="en-GB" sz="1800">
                  <a:solidFill>
                    <a:srgbClr val="A4C2F4"/>
                  </a:solidFill>
                </a:rPr>
                <a:t>3</a:t>
              </a:r>
              <a:endParaRPr b="1" baseline="-25000" sz="1800">
                <a:solidFill>
                  <a:srgbClr val="A4C2F4"/>
                </a:solidFill>
              </a:endParaRPr>
            </a:p>
          </p:txBody>
        </p:sp>
        <p:sp>
          <p:nvSpPr>
            <p:cNvPr id="635" name="Google Shape;635;p34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636" name="Google Shape;636;p34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637" name="Google Shape;637;p34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C27BA0"/>
                  </a:solidFill>
                </a:rPr>
                <a:t>w</a:t>
              </a:r>
              <a:r>
                <a:rPr b="1" baseline="-25000" lang="en-GB" sz="1800">
                  <a:solidFill>
                    <a:srgbClr val="C27BA0"/>
                  </a:solidFill>
                </a:rPr>
                <a:t>2</a:t>
              </a:r>
              <a:endParaRPr b="1" baseline="-25000" sz="1800">
                <a:solidFill>
                  <a:srgbClr val="C27BA0"/>
                </a:solidFill>
              </a:endParaRPr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43" name="Google Shape;643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44" name="Google Shape;644;p34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649" name="Google Shape;649;p34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Today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pic>
        <p:nvPicPr>
          <p:cNvPr id="650" name="Google Shape;65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275" y="1508435"/>
            <a:ext cx="616200" cy="43134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1" name="Google Shape;65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5400" y="1360873"/>
            <a:ext cx="450550" cy="306381"/>
          </a:xfrm>
          <a:prstGeom prst="rect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2" name="Google Shape;652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2575" y="2571750"/>
            <a:ext cx="450554" cy="325400"/>
          </a:xfrm>
          <a:prstGeom prst="rect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59" name="Google Shape;65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550" y="1314800"/>
            <a:ext cx="6618224" cy="251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425" y="3714924"/>
            <a:ext cx="7764503" cy="572701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5"/>
          <p:cNvSpPr/>
          <p:nvPr/>
        </p:nvSpPr>
        <p:spPr>
          <a:xfrm>
            <a:off x="594750" y="2706350"/>
            <a:ext cx="7954500" cy="17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8" name="Google Shape;6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550" y="1314800"/>
            <a:ext cx="6618224" cy="251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425" y="3714924"/>
            <a:ext cx="7764503" cy="572701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36"/>
          <p:cNvSpPr/>
          <p:nvPr/>
        </p:nvSpPr>
        <p:spPr>
          <a:xfrm>
            <a:off x="594750" y="3650575"/>
            <a:ext cx="7954500" cy="70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550" y="1314800"/>
            <a:ext cx="6618224" cy="251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425" y="3714924"/>
            <a:ext cx="7764503" cy="57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38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052100" y="2936400"/>
            <a:ext cx="1047475" cy="7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8"/>
          <p:cNvPicPr preferRelativeResize="0"/>
          <p:nvPr/>
        </p:nvPicPr>
        <p:blipFill rotWithShape="1">
          <a:blip r:embed="rId3">
            <a:alphaModFix/>
          </a:blip>
          <a:srcRect b="20866" l="16457" r="7456" t="16527"/>
          <a:stretch/>
        </p:blipFill>
        <p:spPr>
          <a:xfrm flipH="1" rot="-5400000">
            <a:off x="3122563" y="1339662"/>
            <a:ext cx="998400" cy="76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5" name="Google Shape;685;p38"/>
          <p:cNvGrpSpPr/>
          <p:nvPr/>
        </p:nvGrpSpPr>
        <p:grpSpPr>
          <a:xfrm>
            <a:off x="924802" y="3334501"/>
            <a:ext cx="7714751" cy="1106390"/>
            <a:chOff x="221048" y="1051606"/>
            <a:chExt cx="9423172" cy="1744819"/>
          </a:xfrm>
        </p:grpSpPr>
        <p:sp>
          <p:nvSpPr>
            <p:cNvPr id="686" name="Google Shape;686;p38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8"/>
            <p:cNvSpPr txBox="1"/>
            <p:nvPr/>
          </p:nvSpPr>
          <p:spPr>
            <a:xfrm>
              <a:off x="221048" y="1344993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Today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688" name="Google Shape;688;p38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9900"/>
                  </a:solidFill>
                </a:rPr>
                <a:t>w</a:t>
              </a:r>
              <a:r>
                <a:rPr b="1" baseline="-25000" lang="en-GB" sz="1800">
                  <a:solidFill>
                    <a:srgbClr val="FF9900"/>
                  </a:solidFill>
                </a:rPr>
                <a:t>1</a:t>
              </a:r>
              <a:endParaRPr b="1" baseline="-25000" sz="1800">
                <a:solidFill>
                  <a:srgbClr val="FF9900"/>
                </a:solidFill>
              </a:endParaRPr>
            </a:p>
          </p:txBody>
        </p:sp>
        <p:sp>
          <p:nvSpPr>
            <p:cNvPr id="689" name="Google Shape;689;p38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C78D8"/>
                  </a:solidFill>
                </a:rPr>
                <a:t>w</a:t>
              </a:r>
              <a:r>
                <a:rPr b="1" baseline="-25000" lang="en-GB" sz="1800">
                  <a:solidFill>
                    <a:srgbClr val="3C78D8"/>
                  </a:solidFill>
                </a:rPr>
                <a:t>3</a:t>
              </a:r>
              <a:endParaRPr b="1" baseline="-25000" sz="1800">
                <a:solidFill>
                  <a:srgbClr val="3C78D8"/>
                </a:solidFill>
              </a:endParaRPr>
            </a:p>
          </p:txBody>
        </p:sp>
        <p:sp>
          <p:nvSpPr>
            <p:cNvPr id="690" name="Google Shape;690;p38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2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691" name="Google Shape;691;p38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692" name="Google Shape;692;p38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8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8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8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8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97" name="Google Shape;69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98" name="Google Shape;698;p38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8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8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8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8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</a:rPr>
                <a:t>Predicted Value for Tomorrow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703" name="Google Shape;703;p38"/>
          <p:cNvGrpSpPr/>
          <p:nvPr/>
        </p:nvGrpSpPr>
        <p:grpSpPr>
          <a:xfrm>
            <a:off x="856652" y="113951"/>
            <a:ext cx="7714751" cy="1497360"/>
            <a:chOff x="221048" y="1051606"/>
            <a:chExt cx="9423172" cy="2361394"/>
          </a:xfrm>
        </p:grpSpPr>
        <p:sp>
          <p:nvSpPr>
            <p:cNvPr id="704" name="Google Shape;704;p38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8"/>
            <p:cNvSpPr txBox="1"/>
            <p:nvPr/>
          </p:nvSpPr>
          <p:spPr>
            <a:xfrm>
              <a:off x="221048" y="1179759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Day before 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706" name="Google Shape;706;p38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9900"/>
                  </a:solidFill>
                </a:rPr>
                <a:t>w</a:t>
              </a:r>
              <a:r>
                <a:rPr b="1" baseline="-25000" lang="en-GB" sz="1800">
                  <a:solidFill>
                    <a:srgbClr val="FF9900"/>
                  </a:solidFill>
                </a:rPr>
                <a:t>1</a:t>
              </a:r>
              <a:endParaRPr b="1" baseline="-25000" sz="1800">
                <a:solidFill>
                  <a:srgbClr val="FF9900"/>
                </a:solidFill>
              </a:endParaRPr>
            </a:p>
          </p:txBody>
        </p:sp>
        <p:sp>
          <p:nvSpPr>
            <p:cNvPr id="707" name="Google Shape;707;p38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A4C2F4"/>
                  </a:solidFill>
                </a:rPr>
                <a:t>w</a:t>
              </a:r>
              <a:r>
                <a:rPr b="1" baseline="-25000" lang="en-GB" sz="1800">
                  <a:solidFill>
                    <a:srgbClr val="A4C2F4"/>
                  </a:solidFill>
                </a:rPr>
                <a:t>3</a:t>
              </a:r>
              <a:endParaRPr b="1" baseline="-25000" sz="1800">
                <a:solidFill>
                  <a:srgbClr val="A4C2F4"/>
                </a:solidFill>
              </a:endParaRPr>
            </a:p>
          </p:txBody>
        </p:sp>
        <p:sp>
          <p:nvSpPr>
            <p:cNvPr id="708" name="Google Shape;708;p38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709" name="Google Shape;709;p38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710" name="Google Shape;710;p38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C27BA0"/>
                  </a:solidFill>
                </a:rPr>
                <a:t>w</a:t>
              </a:r>
              <a:r>
                <a:rPr b="1" baseline="-25000" lang="en-GB" sz="1800">
                  <a:solidFill>
                    <a:srgbClr val="C27BA0"/>
                  </a:solidFill>
                </a:rPr>
                <a:t>2</a:t>
              </a:r>
              <a:endParaRPr b="1" baseline="-25000" sz="1800">
                <a:solidFill>
                  <a:srgbClr val="C27BA0"/>
                </a:solidFill>
              </a:endParaRPr>
            </a:p>
          </p:txBody>
        </p:sp>
        <p:sp>
          <p:nvSpPr>
            <p:cNvPr id="711" name="Google Shape;711;p38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8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8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8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8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6" name="Google Shape;7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17" name="Google Shape;717;p38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8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720" name="Google Shape;720;p38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721" name="Google Shape;721;p38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722" name="Google Shape;722;p38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Yesterday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grpSp>
        <p:nvGrpSpPr>
          <p:cNvPr id="723" name="Google Shape;723;p38"/>
          <p:cNvGrpSpPr/>
          <p:nvPr/>
        </p:nvGrpSpPr>
        <p:grpSpPr>
          <a:xfrm>
            <a:off x="856652" y="1667251"/>
            <a:ext cx="7714751" cy="1497360"/>
            <a:chOff x="221048" y="1051606"/>
            <a:chExt cx="9423172" cy="2361394"/>
          </a:xfrm>
        </p:grpSpPr>
        <p:sp>
          <p:nvSpPr>
            <p:cNvPr id="724" name="Google Shape;724;p38"/>
            <p:cNvSpPr/>
            <p:nvPr/>
          </p:nvSpPr>
          <p:spPr>
            <a:xfrm>
              <a:off x="311700" y="1901476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8"/>
            <p:cNvSpPr txBox="1"/>
            <p:nvPr/>
          </p:nvSpPr>
          <p:spPr>
            <a:xfrm>
              <a:off x="221048" y="1434845"/>
              <a:ext cx="1112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2"/>
                  </a:solidFill>
                </a:rPr>
                <a:t>Yesterday</a:t>
              </a:r>
              <a:endParaRPr b="1" sz="1100">
                <a:solidFill>
                  <a:schemeClr val="dk2"/>
                </a:solidFill>
              </a:endParaRPr>
            </a:p>
          </p:txBody>
        </p:sp>
        <p:sp>
          <p:nvSpPr>
            <p:cNvPr id="726" name="Google Shape;726;p38"/>
            <p:cNvSpPr txBox="1"/>
            <p:nvPr/>
          </p:nvSpPr>
          <p:spPr>
            <a:xfrm>
              <a:off x="1731736" y="1316662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9900"/>
                  </a:solidFill>
                </a:rPr>
                <a:t>w</a:t>
              </a:r>
              <a:r>
                <a:rPr b="1" baseline="-25000" lang="en-GB" sz="1800">
                  <a:solidFill>
                    <a:srgbClr val="FF9900"/>
                  </a:solidFill>
                </a:rPr>
                <a:t>1</a:t>
              </a:r>
              <a:endParaRPr b="1" baseline="-25000" sz="1800">
                <a:solidFill>
                  <a:srgbClr val="FF9900"/>
                </a:solidFill>
              </a:endParaRPr>
            </a:p>
          </p:txBody>
        </p:sp>
        <p:sp>
          <p:nvSpPr>
            <p:cNvPr id="727" name="Google Shape;727;p38"/>
            <p:cNvSpPr txBox="1"/>
            <p:nvPr/>
          </p:nvSpPr>
          <p:spPr>
            <a:xfrm>
              <a:off x="5835183" y="1305391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A4C2F4"/>
                  </a:solidFill>
                </a:rPr>
                <a:t>w</a:t>
              </a:r>
              <a:r>
                <a:rPr b="1" baseline="-25000" lang="en-GB" sz="1800">
                  <a:solidFill>
                    <a:srgbClr val="A4C2F4"/>
                  </a:solidFill>
                </a:rPr>
                <a:t>3</a:t>
              </a:r>
              <a:endParaRPr b="1" baseline="-25000" sz="1800">
                <a:solidFill>
                  <a:srgbClr val="A4C2F4"/>
                </a:solidFill>
              </a:endParaRPr>
            </a:p>
          </p:txBody>
        </p:sp>
        <p:sp>
          <p:nvSpPr>
            <p:cNvPr id="728" name="Google Shape;728;p38"/>
            <p:cNvSpPr txBox="1"/>
            <p:nvPr/>
          </p:nvSpPr>
          <p:spPr>
            <a:xfrm>
              <a:off x="6837747" y="1305384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E9E9E"/>
                  </a:solidFill>
                </a:rPr>
                <a:t>b</a:t>
              </a:r>
              <a:r>
                <a:rPr b="1" baseline="-25000" lang="en-GB" sz="1800">
                  <a:solidFill>
                    <a:srgbClr val="9E9E9E"/>
                  </a:solidFill>
                </a:rPr>
                <a:t>2</a:t>
              </a:r>
              <a:endParaRPr b="1" baseline="-25000" sz="1800">
                <a:solidFill>
                  <a:srgbClr val="9E9E9E"/>
                </a:solidFill>
              </a:endParaRPr>
            </a:p>
          </p:txBody>
        </p:sp>
        <p:sp>
          <p:nvSpPr>
            <p:cNvPr id="729" name="Google Shape;729;p38"/>
            <p:cNvSpPr txBox="1"/>
            <p:nvPr/>
          </p:nvSpPr>
          <p:spPr>
            <a:xfrm>
              <a:off x="2777427" y="1316654"/>
              <a:ext cx="647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2"/>
                  </a:solidFill>
                </a:rPr>
                <a:t>b</a:t>
              </a:r>
              <a:r>
                <a:rPr b="1" baseline="-25000" lang="en-GB" sz="1800">
                  <a:solidFill>
                    <a:schemeClr val="dk2"/>
                  </a:solidFill>
                </a:rPr>
                <a:t>1</a:t>
              </a:r>
              <a:endParaRPr b="1" baseline="-25000" sz="1800">
                <a:solidFill>
                  <a:schemeClr val="dk2"/>
                </a:solidFill>
              </a:endParaRPr>
            </a:p>
          </p:txBody>
        </p:sp>
        <p:sp>
          <p:nvSpPr>
            <p:cNvPr id="730" name="Google Shape;730;p38"/>
            <p:cNvSpPr txBox="1"/>
            <p:nvPr/>
          </p:nvSpPr>
          <p:spPr>
            <a:xfrm>
              <a:off x="4463575" y="2997188"/>
              <a:ext cx="8226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C27BA0"/>
                  </a:solidFill>
                </a:rPr>
                <a:t>w</a:t>
              </a:r>
              <a:r>
                <a:rPr b="1" baseline="-25000" lang="en-GB" sz="1800">
                  <a:solidFill>
                    <a:srgbClr val="C27BA0"/>
                  </a:solidFill>
                </a:rPr>
                <a:t>2</a:t>
              </a:r>
              <a:endParaRPr b="1" baseline="-25000" sz="1800">
                <a:solidFill>
                  <a:srgbClr val="C27BA0"/>
                </a:solidFill>
              </a:endParaRPr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959400" y="2190750"/>
              <a:ext cx="2121600" cy="159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1697823" y="19908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8"/>
            <p:cNvSpPr/>
            <p:nvPr/>
          </p:nvSpPr>
          <p:spPr>
            <a:xfrm rot="5400000">
              <a:off x="2570895" y="2167428"/>
              <a:ext cx="90600" cy="65700"/>
            </a:xfrm>
            <a:prstGeom prst="triangle">
              <a:avLst>
                <a:gd fmla="val 5242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3167042" y="2191371"/>
              <a:ext cx="464700" cy="14700"/>
            </a:xfrm>
            <a:prstGeom prst="rightArrow">
              <a:avLst>
                <a:gd fmla="val 50000" name="adj1"/>
                <a:gd fmla="val 60204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2635942" y="1975710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6" name="Google Shape;73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657" y="1601035"/>
              <a:ext cx="1566668" cy="1195390"/>
            </a:xfrm>
            <a:prstGeom prst="rect">
              <a:avLst/>
            </a:prstGeom>
            <a:noFill/>
            <a:ln cap="flat" cmpd="sng" w="2857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37" name="Google Shape;737;p38"/>
            <p:cNvSpPr/>
            <p:nvPr/>
          </p:nvSpPr>
          <p:spPr>
            <a:xfrm>
              <a:off x="3748086" y="2997200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5198325" y="2192325"/>
              <a:ext cx="2961000" cy="14700"/>
            </a:xfrm>
            <a:prstGeom prst="rightArrow">
              <a:avLst>
                <a:gd fmla="val 50000" name="adj1"/>
                <a:gd fmla="val 3027201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5701623" y="1992375"/>
              <a:ext cx="715500" cy="415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740" name="Google Shape;740;p38"/>
            <p:cNvSpPr/>
            <p:nvPr/>
          </p:nvSpPr>
          <p:spPr>
            <a:xfrm>
              <a:off x="6799767" y="1974133"/>
              <a:ext cx="715500" cy="449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8"/>
            <p:cNvSpPr/>
            <p:nvPr/>
          </p:nvSpPr>
          <p:spPr>
            <a:xfrm>
              <a:off x="7840325" y="1901388"/>
              <a:ext cx="647700" cy="594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742" name="Google Shape;742;p38"/>
            <p:cNvSpPr txBox="1"/>
            <p:nvPr/>
          </p:nvSpPr>
          <p:spPr>
            <a:xfrm>
              <a:off x="7840320" y="1051606"/>
              <a:ext cx="1803900" cy="8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E9E9E"/>
                  </a:solidFill>
                </a:rPr>
                <a:t>Predicted Value for Today</a:t>
              </a:r>
              <a:endParaRPr sz="1100">
                <a:solidFill>
                  <a:srgbClr val="9E9E9E"/>
                </a:solidFill>
              </a:endParaRPr>
            </a:p>
          </p:txBody>
        </p:sp>
      </p:grpSp>
      <p:pic>
        <p:nvPicPr>
          <p:cNvPr id="743" name="Google Shape;74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275" y="1508435"/>
            <a:ext cx="616200" cy="43134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4" name="Google Shape;74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5400" y="1360873"/>
            <a:ext cx="450550" cy="306381"/>
          </a:xfrm>
          <a:prstGeom prst="rect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5" name="Google Shape;745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2575" y="2571750"/>
            <a:ext cx="450554" cy="325400"/>
          </a:xfrm>
          <a:prstGeom prst="rect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Sample Feed Forward Network</a:t>
            </a:r>
            <a:endParaRPr/>
          </a:p>
        </p:txBody>
      </p:sp>
      <p:sp>
        <p:nvSpPr>
          <p:cNvPr id="751" name="Google Shape;75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050" y="1205650"/>
            <a:ext cx="2980425" cy="38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Sample Recurrent Neural Network</a:t>
            </a:r>
            <a:endParaRPr/>
          </a:p>
        </p:txBody>
      </p:sp>
      <p:sp>
        <p:nvSpPr>
          <p:cNvPr id="758" name="Google Shape;75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9" name="Google Shape;7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524" y="1068475"/>
            <a:ext cx="6676925" cy="407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Sample Recurrent Neural Network</a:t>
            </a:r>
            <a:endParaRPr/>
          </a:p>
        </p:txBody>
      </p:sp>
      <p:sp>
        <p:nvSpPr>
          <p:cNvPr id="765" name="Google Shape;76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6" name="Google Shape;7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0" y="1017725"/>
            <a:ext cx="7667665" cy="439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2" name="Google Shape;77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750" y="969675"/>
            <a:ext cx="7174698" cy="41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2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Sample Recurrent Neural Network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3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Classification</a:t>
            </a:r>
            <a:endParaRPr/>
          </a:p>
        </p:txBody>
      </p:sp>
      <p:sp>
        <p:nvSpPr>
          <p:cNvPr id="779" name="Google Shape;779;p43"/>
          <p:cNvSpPr txBox="1"/>
          <p:nvPr/>
        </p:nvSpPr>
        <p:spPr>
          <a:xfrm>
            <a:off x="378175" y="1182000"/>
            <a:ext cx="82872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Classify a restaurant review from Zomato OR movie review from IMDB OR … as positive or negative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• Inputs: Multiple words, one or more sentences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• Outputs: Positive / Negative classification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• “The food was really good” </a:t>
            </a:r>
            <a:endParaRPr sz="1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75" y="1641475"/>
            <a:ext cx="34290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44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Classification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4" name="Google Shape;7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975" y="1200150"/>
            <a:ext cx="64960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45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Classification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2" name="Google Shape;8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263" y="1017726"/>
            <a:ext cx="8401474" cy="36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46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Classification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225" y="1072125"/>
            <a:ext cx="7637592" cy="41363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7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Classification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8" name="Google Shape;81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524"/>
            <a:ext cx="9144000" cy="5070451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8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Classification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7" name="Google Shape;82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00" y="1097624"/>
            <a:ext cx="7839150" cy="35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9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Classification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275" y="1017725"/>
            <a:ext cx="6882400" cy="399957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50"/>
          <p:cNvSpPr txBox="1"/>
          <p:nvPr>
            <p:ph type="title"/>
          </p:nvPr>
        </p:nvSpPr>
        <p:spPr>
          <a:xfrm>
            <a:off x="378175" y="33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Classification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Captioning</a:t>
            </a:r>
            <a:endParaRPr/>
          </a:p>
        </p:txBody>
      </p:sp>
      <p:sp>
        <p:nvSpPr>
          <p:cNvPr id="841" name="Google Shape;84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Given an image, produce a sentence describing its contents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Inputs: Image feature (from a CNN)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• Outputs: Multiple words (let’s consider one sentence)</a:t>
            </a:r>
            <a:endParaRPr/>
          </a:p>
        </p:txBody>
      </p:sp>
      <p:pic>
        <p:nvPicPr>
          <p:cNvPr id="842" name="Google Shape;84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825" y="2772925"/>
            <a:ext cx="42291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078" y="1152463"/>
            <a:ext cx="6263100" cy="3980174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Captioning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3"/>
          <p:cNvSpPr txBox="1"/>
          <p:nvPr>
            <p:ph idx="1" type="body"/>
          </p:nvPr>
        </p:nvSpPr>
        <p:spPr>
          <a:xfrm>
            <a:off x="242850" y="663625"/>
            <a:ext cx="3063300" cy="4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Treat the unfolded network as one big feed-forward network!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This big network takes in entire sequence as an input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Compute gradients through the usual backpropagation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• Update shared weights</a:t>
            </a:r>
            <a:endParaRPr/>
          </a:p>
        </p:txBody>
      </p:sp>
      <p:grpSp>
        <p:nvGrpSpPr>
          <p:cNvPr id="856" name="Google Shape;856;p53"/>
          <p:cNvGrpSpPr/>
          <p:nvPr/>
        </p:nvGrpSpPr>
        <p:grpSpPr>
          <a:xfrm>
            <a:off x="3833933" y="835756"/>
            <a:ext cx="4869635" cy="3610346"/>
            <a:chOff x="3298564" y="574560"/>
            <a:chExt cx="5405300" cy="3871685"/>
          </a:xfrm>
        </p:grpSpPr>
        <p:sp>
          <p:nvSpPr>
            <p:cNvPr id="857" name="Google Shape;857;p53"/>
            <p:cNvSpPr/>
            <p:nvPr/>
          </p:nvSpPr>
          <p:spPr>
            <a:xfrm>
              <a:off x="3691360" y="3844746"/>
              <a:ext cx="668400" cy="601500"/>
            </a:xfrm>
            <a:prstGeom prst="ellipse">
              <a:avLst/>
            </a:prstGeom>
            <a:solidFill>
              <a:srgbClr val="C9DAF8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2100"/>
                <a:t>x</a:t>
              </a:r>
              <a:r>
                <a:rPr b="1" baseline="-25000" i="1" lang="en-GB" sz="2100"/>
                <a:t>0</a:t>
              </a:r>
              <a:endParaRPr b="1" baseline="-25000" i="1" sz="2100"/>
            </a:p>
          </p:txBody>
        </p:sp>
        <p:sp>
          <p:nvSpPr>
            <p:cNvPr id="858" name="Google Shape;858;p53"/>
            <p:cNvSpPr/>
            <p:nvPr/>
          </p:nvSpPr>
          <p:spPr>
            <a:xfrm rot="5400000">
              <a:off x="3581014" y="1865000"/>
              <a:ext cx="889200" cy="14541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285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53"/>
            <p:cNvSpPr/>
            <p:nvPr/>
          </p:nvSpPr>
          <p:spPr>
            <a:xfrm>
              <a:off x="3603350" y="574560"/>
              <a:ext cx="844500" cy="764700"/>
            </a:xfrm>
            <a:prstGeom prst="ellipse">
              <a:avLst/>
            </a:prstGeom>
            <a:solidFill>
              <a:srgbClr val="D5A6BD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2100"/>
                <a:t>y</a:t>
              </a:r>
              <a:r>
                <a:rPr b="1" baseline="-25000" i="1" lang="en-GB" sz="2100"/>
                <a:t>0</a:t>
              </a:r>
              <a:endParaRPr b="1" baseline="-25000" i="1" sz="2100"/>
            </a:p>
          </p:txBody>
        </p:sp>
        <p:sp>
          <p:nvSpPr>
            <p:cNvPr id="860" name="Google Shape;860;p53"/>
            <p:cNvSpPr/>
            <p:nvPr/>
          </p:nvSpPr>
          <p:spPr>
            <a:xfrm rot="-5400000">
              <a:off x="3653635" y="3408361"/>
              <a:ext cx="744000" cy="64800"/>
            </a:xfrm>
            <a:prstGeom prst="rightArrow">
              <a:avLst>
                <a:gd fmla="val 0" name="adj1"/>
                <a:gd fmla="val 50000" name="adj2"/>
              </a:avLst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3"/>
            <p:cNvSpPr/>
            <p:nvPr/>
          </p:nvSpPr>
          <p:spPr>
            <a:xfrm rot="-5400000">
              <a:off x="3653635" y="1711048"/>
              <a:ext cx="744000" cy="64800"/>
            </a:xfrm>
            <a:prstGeom prst="rightArrow">
              <a:avLst>
                <a:gd fmla="val 0" name="adj1"/>
                <a:gd fmla="val 50000" name="adj2"/>
              </a:avLst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5666948" y="3844746"/>
              <a:ext cx="668400" cy="601500"/>
            </a:xfrm>
            <a:prstGeom prst="ellipse">
              <a:avLst/>
            </a:prstGeom>
            <a:solidFill>
              <a:srgbClr val="C9DAF8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2100"/>
                <a:t>x</a:t>
              </a:r>
              <a:r>
                <a:rPr b="1" baseline="-25000" i="1" lang="en-GB" sz="2100"/>
                <a:t>1</a:t>
              </a:r>
              <a:endParaRPr b="1" baseline="-25000" i="1" sz="2100"/>
            </a:p>
          </p:txBody>
        </p:sp>
        <p:sp>
          <p:nvSpPr>
            <p:cNvPr id="863" name="Google Shape;863;p53"/>
            <p:cNvSpPr/>
            <p:nvPr/>
          </p:nvSpPr>
          <p:spPr>
            <a:xfrm>
              <a:off x="5578937" y="574560"/>
              <a:ext cx="844500" cy="764700"/>
            </a:xfrm>
            <a:prstGeom prst="ellipse">
              <a:avLst/>
            </a:prstGeom>
            <a:solidFill>
              <a:srgbClr val="D5A6BD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2100"/>
                <a:t>y</a:t>
              </a:r>
              <a:r>
                <a:rPr b="1" baseline="-25000" i="1" lang="en-GB" sz="2100"/>
                <a:t>1</a:t>
              </a:r>
              <a:endParaRPr b="1" baseline="-25000" i="1" sz="2100"/>
            </a:p>
          </p:txBody>
        </p:sp>
        <p:sp>
          <p:nvSpPr>
            <p:cNvPr id="864" name="Google Shape;864;p53"/>
            <p:cNvSpPr/>
            <p:nvPr/>
          </p:nvSpPr>
          <p:spPr>
            <a:xfrm rot="-5400000">
              <a:off x="5629222" y="3408361"/>
              <a:ext cx="744000" cy="64800"/>
            </a:xfrm>
            <a:prstGeom prst="rightArrow">
              <a:avLst>
                <a:gd fmla="val 0" name="adj1"/>
                <a:gd fmla="val 50000" name="adj2"/>
              </a:avLst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53"/>
            <p:cNvSpPr/>
            <p:nvPr/>
          </p:nvSpPr>
          <p:spPr>
            <a:xfrm rot="-5400000">
              <a:off x="5629222" y="1711048"/>
              <a:ext cx="744000" cy="64800"/>
            </a:xfrm>
            <a:prstGeom prst="rightArrow">
              <a:avLst>
                <a:gd fmla="val 0" name="adj1"/>
                <a:gd fmla="val 50000" name="adj2"/>
              </a:avLst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7642560" y="3844746"/>
              <a:ext cx="668400" cy="601500"/>
            </a:xfrm>
            <a:prstGeom prst="ellipse">
              <a:avLst/>
            </a:prstGeom>
            <a:solidFill>
              <a:srgbClr val="C9DAF8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2100"/>
                <a:t>x</a:t>
              </a:r>
              <a:r>
                <a:rPr b="1" baseline="-25000" i="1" lang="en-GB" sz="2100"/>
                <a:t>2</a:t>
              </a:r>
              <a:endParaRPr b="1" baseline="-25000" i="1" sz="2100"/>
            </a:p>
          </p:txBody>
        </p:sp>
        <p:sp>
          <p:nvSpPr>
            <p:cNvPr id="867" name="Google Shape;867;p53"/>
            <p:cNvSpPr/>
            <p:nvPr/>
          </p:nvSpPr>
          <p:spPr>
            <a:xfrm rot="-5400000">
              <a:off x="7604835" y="3408361"/>
              <a:ext cx="744000" cy="64800"/>
            </a:xfrm>
            <a:prstGeom prst="rightArrow">
              <a:avLst>
                <a:gd fmla="val 0" name="adj1"/>
                <a:gd fmla="val 50000" name="adj2"/>
              </a:avLst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3"/>
            <p:cNvSpPr/>
            <p:nvPr/>
          </p:nvSpPr>
          <p:spPr>
            <a:xfrm rot="-5400000">
              <a:off x="7604835" y="1711048"/>
              <a:ext cx="744000" cy="64800"/>
            </a:xfrm>
            <a:prstGeom prst="rightArrow">
              <a:avLst>
                <a:gd fmla="val 0" name="adj1"/>
                <a:gd fmla="val 50000" name="adj2"/>
              </a:avLst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53"/>
            <p:cNvSpPr/>
            <p:nvPr/>
          </p:nvSpPr>
          <p:spPr>
            <a:xfrm rot="5400000">
              <a:off x="5556614" y="1865013"/>
              <a:ext cx="889200" cy="14541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285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53"/>
            <p:cNvSpPr/>
            <p:nvPr/>
          </p:nvSpPr>
          <p:spPr>
            <a:xfrm rot="5400000">
              <a:off x="7532214" y="1865013"/>
              <a:ext cx="889200" cy="14541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285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3"/>
            <p:cNvSpPr/>
            <p:nvPr/>
          </p:nvSpPr>
          <p:spPr>
            <a:xfrm>
              <a:off x="4752678" y="2559675"/>
              <a:ext cx="521400" cy="64800"/>
            </a:xfrm>
            <a:prstGeom prst="rightArrow">
              <a:avLst>
                <a:gd fmla="val 0" name="adj1"/>
                <a:gd fmla="val 50000" name="adj2"/>
              </a:avLst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53"/>
            <p:cNvSpPr/>
            <p:nvPr/>
          </p:nvSpPr>
          <p:spPr>
            <a:xfrm>
              <a:off x="6728378" y="2559675"/>
              <a:ext cx="521400" cy="64800"/>
            </a:xfrm>
            <a:prstGeom prst="rightArrow">
              <a:avLst>
                <a:gd fmla="val 0" name="adj1"/>
                <a:gd fmla="val 50000" name="adj2"/>
              </a:avLst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53"/>
            <p:cNvSpPr/>
            <p:nvPr/>
          </p:nvSpPr>
          <p:spPr>
            <a:xfrm>
              <a:off x="7554550" y="574560"/>
              <a:ext cx="844500" cy="764700"/>
            </a:xfrm>
            <a:prstGeom prst="ellipse">
              <a:avLst/>
            </a:prstGeom>
            <a:solidFill>
              <a:srgbClr val="D5A6BD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2100"/>
                <a:t>y</a:t>
              </a:r>
              <a:r>
                <a:rPr b="1" baseline="-25000" i="1" lang="en-GB" sz="2100"/>
                <a:t>2</a:t>
              </a:r>
              <a:endParaRPr b="1" baseline="-25000" i="1" sz="2100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4"/>
          <p:cNvSpPr txBox="1"/>
          <p:nvPr>
            <p:ph type="title"/>
          </p:nvPr>
        </p:nvSpPr>
        <p:spPr>
          <a:xfrm>
            <a:off x="914950" y="2159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the Weights get updated through time?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Backpropagation - Gradient Descent Revisited</a:t>
            </a:r>
            <a:endParaRPr/>
          </a:p>
        </p:txBody>
      </p:sp>
      <p:sp>
        <p:nvSpPr>
          <p:cNvPr id="884" name="Google Shape;88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85" name="Google Shape;885;p55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{5FAAB3B7-93D0-401D-A790-BD69C9C78D68}</a:tableStyleId>
              </a:tblPr>
              <a:tblGrid>
                <a:gridCol w="676300"/>
                <a:gridCol w="676300"/>
                <a:gridCol w="676300"/>
              </a:tblGrid>
              <a:tr h="39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x</a:t>
                      </a:r>
                      <a:r>
                        <a:rPr baseline="-25000" i="1" lang="en-GB"/>
                        <a:t>1</a:t>
                      </a:r>
                      <a:endParaRPr baseline="-25000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i="1" lang="en-GB">
                          <a:solidFill>
                            <a:schemeClr val="dk1"/>
                          </a:solidFill>
                        </a:rPr>
                        <a:t>2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y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86" name="Google Shape;88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650" y="1428750"/>
            <a:ext cx="3339415" cy="3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55"/>
          <p:cNvPicPr preferRelativeResize="0"/>
          <p:nvPr/>
        </p:nvPicPr>
        <p:blipFill rotWithShape="1">
          <a:blip r:embed="rId4">
            <a:alphaModFix/>
          </a:blip>
          <a:srcRect b="0" l="0" r="4443" t="0"/>
          <a:stretch/>
        </p:blipFill>
        <p:spPr>
          <a:xfrm>
            <a:off x="3917950" y="1950600"/>
            <a:ext cx="978325" cy="4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Backpropagation - Gradient Descent Revisited</a:t>
            </a:r>
            <a:endParaRPr/>
          </a:p>
        </p:txBody>
      </p:sp>
      <p:graphicFrame>
        <p:nvGraphicFramePr>
          <p:cNvPr id="893" name="Google Shape;893;p56"/>
          <p:cNvGraphicFramePr/>
          <p:nvPr/>
        </p:nvGraphicFramePr>
        <p:xfrm>
          <a:off x="444500" y="135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{5FAAB3B7-93D0-401D-A790-BD69C9C78D68}</a:tableStyleId>
              </a:tblPr>
              <a:tblGrid>
                <a:gridCol w="507225"/>
                <a:gridCol w="507225"/>
                <a:gridCol w="507225"/>
                <a:gridCol w="507225"/>
              </a:tblGrid>
              <a:tr h="44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x</a:t>
                      </a:r>
                      <a:r>
                        <a:rPr baseline="-25000" i="1" lang="en-GB"/>
                        <a:t>1</a:t>
                      </a:r>
                      <a:endParaRPr baseline="-25000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i="1" lang="en-GB">
                          <a:solidFill>
                            <a:schemeClr val="dk1"/>
                          </a:solidFill>
                        </a:rPr>
                        <a:t>2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y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ŷ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94" name="Google Shape;89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438" y="1634450"/>
            <a:ext cx="2785120" cy="9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9975" y="2735225"/>
            <a:ext cx="5525674" cy="625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9975" y="3524250"/>
            <a:ext cx="5525675" cy="8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Backpropagation - Gradient Descent Revisited</a:t>
            </a:r>
            <a:endParaRPr/>
          </a:p>
        </p:txBody>
      </p:sp>
      <p:sp>
        <p:nvSpPr>
          <p:cNvPr id="902" name="Google Shape;902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3" name="Google Shape;903;p57"/>
          <p:cNvGraphicFramePr/>
          <p:nvPr/>
        </p:nvGraphicFramePr>
        <p:xfrm>
          <a:off x="444500" y="135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{5FAAB3B7-93D0-401D-A790-BD69C9C78D68}</a:tableStyleId>
              </a:tblPr>
              <a:tblGrid>
                <a:gridCol w="507225"/>
                <a:gridCol w="507225"/>
                <a:gridCol w="507225"/>
                <a:gridCol w="507225"/>
              </a:tblGrid>
              <a:tr h="44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x</a:t>
                      </a:r>
                      <a:r>
                        <a:rPr baseline="-25000" i="1" lang="en-GB"/>
                        <a:t>1</a:t>
                      </a:r>
                      <a:endParaRPr baseline="-25000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i="1" lang="en-GB">
                          <a:solidFill>
                            <a:schemeClr val="dk1"/>
                          </a:solidFill>
                        </a:rPr>
                        <a:t>2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y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ŷ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04" name="Google Shape;90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438" y="1152475"/>
            <a:ext cx="2785120" cy="9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7"/>
          <p:cNvPicPr preferRelativeResize="0"/>
          <p:nvPr/>
        </p:nvPicPr>
        <p:blipFill rotWithShape="1">
          <a:blip r:embed="rId4">
            <a:alphaModFix/>
          </a:blip>
          <a:srcRect b="0" l="83571" r="0" t="0"/>
          <a:stretch/>
        </p:blipFill>
        <p:spPr>
          <a:xfrm>
            <a:off x="5964550" y="1214825"/>
            <a:ext cx="907776" cy="8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4700" y="2089768"/>
            <a:ext cx="3208375" cy="2821383"/>
          </a:xfrm>
          <a:prstGeom prst="rect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3" name="Google Shape;91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48" y="267725"/>
            <a:ext cx="5757111" cy="163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4550" y="1449980"/>
            <a:ext cx="3208375" cy="2821383"/>
          </a:xfrm>
          <a:prstGeom prst="rect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48" y="267725"/>
            <a:ext cx="5757111" cy="163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72549"/>
            <a:ext cx="5391976" cy="15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4550" y="1449980"/>
            <a:ext cx="3208375" cy="2821383"/>
          </a:xfrm>
          <a:prstGeom prst="rect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0" name="Google Shape;93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48" y="267725"/>
            <a:ext cx="5757111" cy="163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72549"/>
            <a:ext cx="5391976" cy="15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438875"/>
            <a:ext cx="4803336" cy="15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4550" y="1449980"/>
            <a:ext cx="3208375" cy="2821383"/>
          </a:xfrm>
          <a:prstGeom prst="rect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Updation of Parameters</a:t>
            </a:r>
            <a:endParaRPr/>
          </a:p>
        </p:txBody>
      </p:sp>
      <p:sp>
        <p:nvSpPr>
          <p:cNvPr id="939" name="Google Shape;939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0" name="Google Shape;94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75" y="1272463"/>
            <a:ext cx="6675326" cy="31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</a:t>
            </a:r>
            <a:r>
              <a:rPr lang="en-GB"/>
              <a:t>ion of</a:t>
            </a:r>
            <a:r>
              <a:rPr lang="en-GB"/>
              <a:t> Parameters</a:t>
            </a:r>
            <a:endParaRPr/>
          </a:p>
        </p:txBody>
      </p:sp>
      <p:pic>
        <p:nvPicPr>
          <p:cNvPr id="946" name="Google Shape;94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775" y="2228850"/>
            <a:ext cx="607695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3"/>
          <p:cNvSpPr txBox="1"/>
          <p:nvPr>
            <p:ph type="title"/>
          </p:nvPr>
        </p:nvSpPr>
        <p:spPr>
          <a:xfrm>
            <a:off x="1375325" y="2094300"/>
            <a:ext cx="646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20"/>
              <a:t>Stochastic Gradient Descent (SGD)</a:t>
            </a:r>
            <a:endParaRPr sz="302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Stochastic Gradient Descent</a:t>
            </a:r>
            <a:endParaRPr/>
          </a:p>
        </p:txBody>
      </p:sp>
      <p:sp>
        <p:nvSpPr>
          <p:cNvPr id="957" name="Google Shape;95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8" name="Google Shape;95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75" y="1136100"/>
            <a:ext cx="7334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1981600"/>
            <a:ext cx="5411675" cy="9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6" name="Google Shape;96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250" y="1110738"/>
            <a:ext cx="5923475" cy="29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3" name="Google Shape;9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800" y="1352550"/>
            <a:ext cx="3962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Stochastic Gradient Descent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Updation of Parameters - SGD</a:t>
            </a:r>
            <a:endParaRPr/>
          </a:p>
        </p:txBody>
      </p:sp>
      <p:sp>
        <p:nvSpPr>
          <p:cNvPr id="980" name="Google Shape;980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1" name="Google Shape;9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988" y="2111375"/>
            <a:ext cx="6008018" cy="19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