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6FDE995-4888-4A07-A133-A6AF3719A60E}">
  <a:tblStyle styleId="{96FDE995-4888-4A07-A133-A6AF3719A60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26bd860f3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26bd860f3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26bd860f3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26bd860f3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26bd860f38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26bd860f3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26bd860f3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26bd860f3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26bd860f38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26bd860f38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26bd860f38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26bd860f38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26bd860f38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26bd860f38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26bd860f38_2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26bd860f38_2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26bd860f38_2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26bd860f38_2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26bd860f38_2_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26bd860f38_2_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26bd860f38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26bd860f38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26bd860f38_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26bd860f38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26bd860f38_2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26bd860f38_2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26bd860f38_2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26bd860f38_2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26bd860f38_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26bd860f38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26bd860f38_2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26bd860f38_2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26bd860f38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26bd860f38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26bd860f38_2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26bd860f38_2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26bd860f38_2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26bd860f38_2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26bd860f38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26bd860f38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26bd860f38_2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26bd860f38_2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26bd860f38_2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26bd860f38_2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26bd860f38_2_8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26bd860f38_2_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26bd860f38_2_5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26bd860f38_2_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26bd860f38_2_6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26bd860f38_2_6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26bd860f38_2_9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26bd860f38_2_9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26bd860f38_2_8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26bd860f38_2_8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26bd860f38_2_6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26bd860f38_2_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26bd860f38_2_6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26bd860f38_2_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26bd860f38_2_6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26bd860f38_2_6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26bd860f38_2_7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26bd860f38_2_7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26bd860f38_2_6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26bd860f38_2_6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26bd860f38_2_8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26bd860f38_2_8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26bd860f38_2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26bd860f38_2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26bd860f38_2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26bd860f38_2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26bd860f3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26bd860f3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26bd860f38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26bd860f38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26bd860f38_2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26bd860f38_2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26bd860f38_2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26bd860f38_2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26bd860f38_2_9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26bd860f38_2_9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26bd860f38_2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26bd860f38_2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26bd860f38_2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26bd860f38_2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26bd860f38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26bd860f38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26bd860f38_2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26bd860f38_2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26bd860f38_2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26bd860f38_2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26bd860f38_2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26bd860f38_2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26bd860f38_2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26bd860f38_2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26bd860f38_2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26bd860f38_2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26bd860f38_2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26bd860f38_2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26bd860f38_2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26bd860f38_2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26bd860f38_2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26bd860f38_2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26bd860f38_2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26bd860f38_2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26bd860f38_2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326bd860f38_2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26bd860f38_2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26bd860f38_2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26bd860f38_2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26bd860f38_2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26bd860f38_2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326bd860f38_2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26bd860f38_2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326bd860f38_2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26bd860f38_2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26bd860f38_2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26bd860f38_2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326bd860f38_2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26bd860f38_2_9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326bd860f38_2_9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8.png"/><Relationship Id="rId10" Type="http://schemas.openxmlformats.org/officeDocument/2006/relationships/image" Target="../media/image11.png"/><Relationship Id="rId13" Type="http://schemas.openxmlformats.org/officeDocument/2006/relationships/image" Target="../media/image2.png"/><Relationship Id="rId1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16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14.png"/><Relationship Id="rId8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Relationship Id="rId4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Relationship Id="rId4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Relationship Id="rId4" Type="http://schemas.openxmlformats.org/officeDocument/2006/relationships/image" Target="../media/image23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Relationship Id="rId4" Type="http://schemas.openxmlformats.org/officeDocument/2006/relationships/image" Target="../media/image23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19.png"/><Relationship Id="rId8" Type="http://schemas.openxmlformats.org/officeDocument/2006/relationships/image" Target="../media/image2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Relationship Id="rId4" Type="http://schemas.openxmlformats.org/officeDocument/2006/relationships/image" Target="../media/image23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32.png"/><Relationship Id="rId8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Relationship Id="rId4" Type="http://schemas.openxmlformats.org/officeDocument/2006/relationships/image" Target="../media/image23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32.png"/><Relationship Id="rId8" Type="http://schemas.openxmlformats.org/officeDocument/2006/relationships/image" Target="../media/image2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Relationship Id="rId4" Type="http://schemas.openxmlformats.org/officeDocument/2006/relationships/image" Target="../media/image4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4.png"/><Relationship Id="rId4" Type="http://schemas.openxmlformats.org/officeDocument/2006/relationships/image" Target="../media/image40.png"/><Relationship Id="rId5" Type="http://schemas.openxmlformats.org/officeDocument/2006/relationships/image" Target="../media/image3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4.png"/><Relationship Id="rId4" Type="http://schemas.openxmlformats.org/officeDocument/2006/relationships/image" Target="../media/image40.png"/><Relationship Id="rId5" Type="http://schemas.openxmlformats.org/officeDocument/2006/relationships/image" Target="../media/image3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4.png"/><Relationship Id="rId4" Type="http://schemas.openxmlformats.org/officeDocument/2006/relationships/image" Target="../media/image40.png"/><Relationship Id="rId5" Type="http://schemas.openxmlformats.org/officeDocument/2006/relationships/image" Target="../media/image3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4.png"/><Relationship Id="rId4" Type="http://schemas.openxmlformats.org/officeDocument/2006/relationships/image" Target="../media/image40.png"/><Relationship Id="rId5" Type="http://schemas.openxmlformats.org/officeDocument/2006/relationships/image" Target="../media/image3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6.png"/><Relationship Id="rId4" Type="http://schemas.openxmlformats.org/officeDocument/2006/relationships/image" Target="../media/image3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6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6.png"/><Relationship Id="rId4" Type="http://schemas.openxmlformats.org/officeDocument/2006/relationships/image" Target="../media/image38.png"/><Relationship Id="rId5" Type="http://schemas.openxmlformats.org/officeDocument/2006/relationships/image" Target="../media/image3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8.png"/><Relationship Id="rId4" Type="http://schemas.openxmlformats.org/officeDocument/2006/relationships/image" Target="../media/image55.png"/></Relationships>
</file>

<file path=ppt/slides/_rels/slide39.xml.rels><?xml version="1.0" encoding="UTF-8" standalone="yes"?><Relationships xmlns="http://schemas.openxmlformats.org/package/2006/relationships"><Relationship Id="rId11" Type="http://schemas.openxmlformats.org/officeDocument/2006/relationships/image" Target="../media/image8.png"/><Relationship Id="rId10" Type="http://schemas.openxmlformats.org/officeDocument/2006/relationships/image" Target="../media/image11.png"/><Relationship Id="rId13" Type="http://schemas.openxmlformats.org/officeDocument/2006/relationships/image" Target="../media/image2.png"/><Relationship Id="rId1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16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14.png"/><Relationship Id="rId8" Type="http://schemas.openxmlformats.org/officeDocument/2006/relationships/image" Target="../media/image1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4.png"/><Relationship Id="rId4" Type="http://schemas.openxmlformats.org/officeDocument/2006/relationships/image" Target="../media/image42.png"/><Relationship Id="rId5" Type="http://schemas.openxmlformats.org/officeDocument/2006/relationships/image" Target="../media/image5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4.png"/><Relationship Id="rId4" Type="http://schemas.openxmlformats.org/officeDocument/2006/relationships/image" Target="../media/image42.png"/><Relationship Id="rId5" Type="http://schemas.openxmlformats.org/officeDocument/2006/relationships/image" Target="../media/image5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7.png"/><Relationship Id="rId4" Type="http://schemas.openxmlformats.org/officeDocument/2006/relationships/image" Target="../media/image4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7.png"/><Relationship Id="rId4" Type="http://schemas.openxmlformats.org/officeDocument/2006/relationships/image" Target="../media/image50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4.png"/><Relationship Id="rId4" Type="http://schemas.openxmlformats.org/officeDocument/2006/relationships/image" Target="../media/image42.png"/><Relationship Id="rId5" Type="http://schemas.openxmlformats.org/officeDocument/2006/relationships/image" Target="../media/image5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6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6.png"/><Relationship Id="rId4" Type="http://schemas.openxmlformats.org/officeDocument/2006/relationships/image" Target="../media/image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4.png"/><Relationship Id="rId4" Type="http://schemas.openxmlformats.org/officeDocument/2006/relationships/image" Target="../media/image5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4.png"/><Relationship Id="rId4" Type="http://schemas.openxmlformats.org/officeDocument/2006/relationships/image" Target="../media/image53.png"/><Relationship Id="rId5" Type="http://schemas.openxmlformats.org/officeDocument/2006/relationships/image" Target="../media/image56.png"/><Relationship Id="rId6" Type="http://schemas.openxmlformats.org/officeDocument/2006/relationships/image" Target="../media/image52.png"/><Relationship Id="rId7" Type="http://schemas.openxmlformats.org/officeDocument/2006/relationships/image" Target="../media/image1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4.png"/><Relationship Id="rId4" Type="http://schemas.openxmlformats.org/officeDocument/2006/relationships/image" Target="../media/image53.png"/><Relationship Id="rId5" Type="http://schemas.openxmlformats.org/officeDocument/2006/relationships/image" Target="../media/image56.png"/><Relationship Id="rId6" Type="http://schemas.openxmlformats.org/officeDocument/2006/relationships/image" Target="../media/image52.png"/><Relationship Id="rId7" Type="http://schemas.openxmlformats.org/officeDocument/2006/relationships/image" Target="../media/image58.png"/><Relationship Id="rId8" Type="http://schemas.openxmlformats.org/officeDocument/2006/relationships/image" Target="../media/image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4.png"/><Relationship Id="rId4" Type="http://schemas.openxmlformats.org/officeDocument/2006/relationships/image" Target="../media/image53.png"/><Relationship Id="rId5" Type="http://schemas.openxmlformats.org/officeDocument/2006/relationships/image" Target="../media/image56.png"/><Relationship Id="rId6" Type="http://schemas.openxmlformats.org/officeDocument/2006/relationships/image" Target="../media/image52.png"/><Relationship Id="rId7" Type="http://schemas.openxmlformats.org/officeDocument/2006/relationships/image" Target="../media/image1.png"/><Relationship Id="rId8" Type="http://schemas.openxmlformats.org/officeDocument/2006/relationships/image" Target="../media/image64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64.png"/><Relationship Id="rId4" Type="http://schemas.openxmlformats.org/officeDocument/2006/relationships/image" Target="../media/image60.png"/><Relationship Id="rId5" Type="http://schemas.openxmlformats.org/officeDocument/2006/relationships/image" Target="../media/image57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6.png"/><Relationship Id="rId4" Type="http://schemas.openxmlformats.org/officeDocument/2006/relationships/image" Target="../media/image1.png"/><Relationship Id="rId5" Type="http://schemas.openxmlformats.org/officeDocument/2006/relationships/image" Target="../media/image6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4.png"/><Relationship Id="rId4" Type="http://schemas.openxmlformats.org/officeDocument/2006/relationships/image" Target="../media/image42.png"/><Relationship Id="rId5" Type="http://schemas.openxmlformats.org/officeDocument/2006/relationships/image" Target="../media/image51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63.png"/><Relationship Id="rId4" Type="http://schemas.openxmlformats.org/officeDocument/2006/relationships/image" Target="../media/image62.png"/><Relationship Id="rId5" Type="http://schemas.openxmlformats.org/officeDocument/2006/relationships/image" Target="../media/image59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63.png"/><Relationship Id="rId4" Type="http://schemas.openxmlformats.org/officeDocument/2006/relationships/image" Target="../media/image62.png"/><Relationship Id="rId5" Type="http://schemas.openxmlformats.org/officeDocument/2006/relationships/image" Target="../media/image59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6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0857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Neural Network </a:t>
            </a:r>
            <a:r>
              <a:rPr b="1" lang="en-GB"/>
              <a:t>Backpropagation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Derivatives - The Rate of Change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Derivatives </a:t>
            </a:r>
            <a:r>
              <a:rPr lang="en-GB"/>
              <a:t>- The Rate of Change</a:t>
            </a:r>
            <a:endParaRPr/>
          </a:p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5575" y="1311960"/>
            <a:ext cx="5242075" cy="48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Derivatives </a:t>
            </a:r>
            <a:r>
              <a:rPr lang="en-GB"/>
              <a:t>- The Rate of Change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5575" y="1311960"/>
            <a:ext cx="5242075" cy="48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8298" y="1792698"/>
            <a:ext cx="4127400" cy="91535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1655575" y="2708038"/>
            <a:ext cx="6908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How much does the Price change given a change in bedrooms?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Derivatives </a:t>
            </a:r>
            <a:r>
              <a:rPr lang="en-GB"/>
              <a:t>- The Rate of Change</a:t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5575" y="1311960"/>
            <a:ext cx="5242075" cy="48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8298" y="1792698"/>
            <a:ext cx="4127400" cy="91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71800" y="3130800"/>
            <a:ext cx="3200400" cy="10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1655575" y="2708038"/>
            <a:ext cx="6908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How much does the Price change given a change in bedrooms?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1655575" y="4104238"/>
            <a:ext cx="6908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How much does the Price change given a change in area (sqft)?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" name="Google Shape;90;p18"/>
          <p:cNvGraphicFramePr/>
          <p:nvPr/>
        </p:nvGraphicFramePr>
        <p:xfrm>
          <a:off x="1057525" y="94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{96FDE995-4888-4A07-A133-A6AF3719A60E}</a:tableStyleId>
              </a:tblPr>
              <a:tblGrid>
                <a:gridCol w="1830825"/>
                <a:gridCol w="1830825"/>
                <a:gridCol w="1830825"/>
                <a:gridCol w="18308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Loan Amount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Credit Score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Debt-to-income Ratio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Default (y)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38761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700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20000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650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10000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750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15000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600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8000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720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/>
          <p:nvPr/>
        </p:nvSpPr>
        <p:spPr>
          <a:xfrm>
            <a:off x="214925" y="666450"/>
            <a:ext cx="1880700" cy="600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Loan Amount</a:t>
            </a:r>
            <a:endParaRPr/>
          </a:p>
        </p:txBody>
      </p:sp>
      <p:sp>
        <p:nvSpPr>
          <p:cNvPr id="96" name="Google Shape;96;p19"/>
          <p:cNvSpPr/>
          <p:nvPr/>
        </p:nvSpPr>
        <p:spPr>
          <a:xfrm>
            <a:off x="136475" y="2094775"/>
            <a:ext cx="2037600" cy="661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Credit Score</a:t>
            </a:r>
            <a:endParaRPr/>
          </a:p>
        </p:txBody>
      </p:sp>
      <p:sp>
        <p:nvSpPr>
          <p:cNvPr id="97" name="Google Shape;97;p19"/>
          <p:cNvSpPr/>
          <p:nvPr/>
        </p:nvSpPr>
        <p:spPr>
          <a:xfrm>
            <a:off x="136475" y="3527350"/>
            <a:ext cx="2119800" cy="661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Debt-to-income Ratio</a:t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0200" y="2094772"/>
            <a:ext cx="6487650" cy="3078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9" name="Google Shape;99;p19"/>
          <p:cNvCxnSpPr>
            <a:stCxn id="95" idx="5"/>
          </p:cNvCxnSpPr>
          <p:nvPr/>
        </p:nvCxnSpPr>
        <p:spPr>
          <a:xfrm>
            <a:off x="1820203" y="1179350"/>
            <a:ext cx="909000" cy="87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" name="Google Shape;100;p19"/>
          <p:cNvCxnSpPr>
            <a:stCxn id="96" idx="6"/>
            <a:endCxn id="98" idx="1"/>
          </p:cNvCxnSpPr>
          <p:nvPr/>
        </p:nvCxnSpPr>
        <p:spPr>
          <a:xfrm flipH="1" rot="10800000">
            <a:off x="2174075" y="2248675"/>
            <a:ext cx="376200" cy="17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" name="Google Shape;101;p19"/>
          <p:cNvCxnSpPr>
            <a:stCxn id="97" idx="7"/>
          </p:cNvCxnSpPr>
          <p:nvPr/>
        </p:nvCxnSpPr>
        <p:spPr>
          <a:xfrm flipH="1" rot="10800000">
            <a:off x="1945837" y="2351280"/>
            <a:ext cx="825300" cy="127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/>
          <p:nvPr/>
        </p:nvSpPr>
        <p:spPr>
          <a:xfrm>
            <a:off x="214925" y="666450"/>
            <a:ext cx="1880700" cy="600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Loan Amount</a:t>
            </a:r>
            <a:endParaRPr/>
          </a:p>
        </p:txBody>
      </p:sp>
      <p:sp>
        <p:nvSpPr>
          <p:cNvPr id="107" name="Google Shape;107;p20"/>
          <p:cNvSpPr/>
          <p:nvPr/>
        </p:nvSpPr>
        <p:spPr>
          <a:xfrm>
            <a:off x="136475" y="2094775"/>
            <a:ext cx="2037600" cy="661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Credit Score</a:t>
            </a:r>
            <a:endParaRPr/>
          </a:p>
        </p:txBody>
      </p:sp>
      <p:sp>
        <p:nvSpPr>
          <p:cNvPr id="108" name="Google Shape;108;p20"/>
          <p:cNvSpPr/>
          <p:nvPr/>
        </p:nvSpPr>
        <p:spPr>
          <a:xfrm>
            <a:off x="136475" y="3527350"/>
            <a:ext cx="2119800" cy="661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Debt-to-income Ratio</a:t>
            </a:r>
            <a:endParaRPr/>
          </a:p>
        </p:txBody>
      </p:sp>
      <p:cxnSp>
        <p:nvCxnSpPr>
          <p:cNvPr id="109" name="Google Shape;109;p20"/>
          <p:cNvCxnSpPr>
            <a:stCxn id="106" idx="5"/>
          </p:cNvCxnSpPr>
          <p:nvPr/>
        </p:nvCxnSpPr>
        <p:spPr>
          <a:xfrm>
            <a:off x="1820203" y="1179350"/>
            <a:ext cx="909000" cy="87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" name="Google Shape;110;p20"/>
          <p:cNvCxnSpPr>
            <a:stCxn id="107" idx="6"/>
            <a:endCxn id="111" idx="1"/>
          </p:cNvCxnSpPr>
          <p:nvPr/>
        </p:nvCxnSpPr>
        <p:spPr>
          <a:xfrm flipH="1" rot="10800000">
            <a:off x="2174075" y="2248675"/>
            <a:ext cx="376200" cy="17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" name="Google Shape;112;p20"/>
          <p:cNvCxnSpPr>
            <a:stCxn id="108" idx="7"/>
          </p:cNvCxnSpPr>
          <p:nvPr/>
        </p:nvCxnSpPr>
        <p:spPr>
          <a:xfrm flipH="1" rot="10800000">
            <a:off x="1945837" y="2351280"/>
            <a:ext cx="825300" cy="127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13" name="Google Shape;1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1063" y="2014488"/>
            <a:ext cx="2811915" cy="26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9375" y="1846675"/>
            <a:ext cx="1519250" cy="60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/>
          <p:nvPr/>
        </p:nvSpPr>
        <p:spPr>
          <a:xfrm>
            <a:off x="2793550" y="1538275"/>
            <a:ext cx="5007000" cy="1217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6" name="Google Shape;116;p20"/>
          <p:cNvCxnSpPr/>
          <p:nvPr/>
        </p:nvCxnSpPr>
        <p:spPr>
          <a:xfrm>
            <a:off x="7800550" y="2191200"/>
            <a:ext cx="376500" cy="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" name="Google Shape;117;p20"/>
          <p:cNvCxnSpPr/>
          <p:nvPr/>
        </p:nvCxnSpPr>
        <p:spPr>
          <a:xfrm>
            <a:off x="5972750" y="1585050"/>
            <a:ext cx="31500" cy="113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8" name="Google Shape;11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32775" y="2059913"/>
            <a:ext cx="773719" cy="26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09437" y="2908375"/>
            <a:ext cx="13335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77053" y="2571750"/>
            <a:ext cx="623396" cy="26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69737" y="3307250"/>
            <a:ext cx="24765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203953" y="3821600"/>
            <a:ext cx="131445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0"/>
          <p:cNvSpPr/>
          <p:nvPr/>
        </p:nvSpPr>
        <p:spPr>
          <a:xfrm>
            <a:off x="8101900" y="2524538"/>
            <a:ext cx="773700" cy="359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256275" y="253900"/>
            <a:ext cx="6524976" cy="309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856225" y="1925563"/>
            <a:ext cx="552450" cy="239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126763" y="3431788"/>
            <a:ext cx="295884" cy="26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256280" y="1179350"/>
            <a:ext cx="552450" cy="322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3397800" y="1925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3620"/>
              <a:t>Derivatives</a:t>
            </a:r>
            <a:endParaRPr b="1" sz="362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8950" y="1885750"/>
            <a:ext cx="2806975" cy="163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4750" y="735475"/>
            <a:ext cx="4613276" cy="394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0725" y="1949125"/>
            <a:ext cx="1905000" cy="55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Power Rule</a:t>
            </a:r>
            <a:endParaRPr/>
          </a:p>
        </p:txBody>
      </p:sp>
      <p:sp>
        <p:nvSpPr>
          <p:cNvPr id="152" name="Google Shape;15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300" y="1080650"/>
            <a:ext cx="7589274" cy="426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Derivatives - The Rate of Change</a:t>
            </a:r>
            <a:endParaRPr/>
          </a:p>
        </p:txBody>
      </p:sp>
      <p:pic>
        <p:nvPicPr>
          <p:cNvPr id="159" name="Google Shape;15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5575" y="1311960"/>
            <a:ext cx="5242075" cy="48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8298" y="1792698"/>
            <a:ext cx="4127400" cy="91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71800" y="3130800"/>
            <a:ext cx="3200400" cy="10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5"/>
          <p:cNvSpPr txBox="1"/>
          <p:nvPr/>
        </p:nvSpPr>
        <p:spPr>
          <a:xfrm>
            <a:off x="1655575" y="2708038"/>
            <a:ext cx="6908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How much does the Price change given a change in bedrooms?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3" name="Google Shape;163;p25"/>
          <p:cNvSpPr txBox="1"/>
          <p:nvPr/>
        </p:nvSpPr>
        <p:spPr>
          <a:xfrm>
            <a:off x="1655575" y="4104238"/>
            <a:ext cx="6908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How much does the Price change given a change in area (sqft)?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0" name="Google Shape;17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6600" y="2129525"/>
            <a:ext cx="2590800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6"/>
          <p:cNvSpPr txBox="1"/>
          <p:nvPr/>
        </p:nvSpPr>
        <p:spPr>
          <a:xfrm>
            <a:off x="3076200" y="2834150"/>
            <a:ext cx="29916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The derivative of f(x) = 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8" name="Google Shape;17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6600" y="1688650"/>
            <a:ext cx="259080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8550" y="2459800"/>
            <a:ext cx="18669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/>
          <p:nvPr>
            <p:ph type="title"/>
          </p:nvPr>
        </p:nvSpPr>
        <p:spPr>
          <a:xfrm>
            <a:off x="2673475" y="1999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3820"/>
              <a:t>The Chain Rule</a:t>
            </a:r>
            <a:endParaRPr b="1" sz="382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Nested Functions</a:t>
            </a:r>
            <a:endParaRPr b="1"/>
          </a:p>
        </p:txBody>
      </p:sp>
      <p:sp>
        <p:nvSpPr>
          <p:cNvPr id="190" name="Google Shape;190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1" name="Google Shape;19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5075" y="1450125"/>
            <a:ext cx="18669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3525" y="2958775"/>
            <a:ext cx="447675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21900" y="2097825"/>
            <a:ext cx="2524116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9"/>
          <p:cNvSpPr/>
          <p:nvPr/>
        </p:nvSpPr>
        <p:spPr>
          <a:xfrm>
            <a:off x="5825950" y="2967700"/>
            <a:ext cx="1467300" cy="572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/>
              <a:t>?</a:t>
            </a:r>
            <a:endParaRPr b="1" sz="25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Nested Functions</a:t>
            </a:r>
            <a:endParaRPr b="1"/>
          </a:p>
        </p:txBody>
      </p:sp>
      <p:sp>
        <p:nvSpPr>
          <p:cNvPr id="200" name="Google Shape;200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5075" y="1450125"/>
            <a:ext cx="18669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60150" y="2958775"/>
            <a:ext cx="447675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21900" y="2097825"/>
            <a:ext cx="2524116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Nested Functions</a:t>
            </a:r>
            <a:endParaRPr b="1"/>
          </a:p>
        </p:txBody>
      </p:sp>
      <p:sp>
        <p:nvSpPr>
          <p:cNvPr id="209" name="Google Shape;209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0" name="Google Shape;21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5000" y="1450125"/>
            <a:ext cx="18669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5000" y="2192300"/>
            <a:ext cx="2524116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1"/>
          <p:cNvSpPr txBox="1"/>
          <p:nvPr/>
        </p:nvSpPr>
        <p:spPr>
          <a:xfrm>
            <a:off x="5710325" y="1017725"/>
            <a:ext cx="2288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sng">
                <a:solidFill>
                  <a:schemeClr val="dk1"/>
                </a:solidFill>
              </a:rPr>
              <a:t>Derivatives</a:t>
            </a:r>
            <a:endParaRPr sz="1800" u="sng">
              <a:solidFill>
                <a:schemeClr val="dk1"/>
              </a:solidFill>
            </a:endParaRPr>
          </a:p>
        </p:txBody>
      </p:sp>
      <p:cxnSp>
        <p:nvCxnSpPr>
          <p:cNvPr id="213" name="Google Shape;213;p31"/>
          <p:cNvCxnSpPr>
            <a:stCxn id="209" idx="0"/>
          </p:cNvCxnSpPr>
          <p:nvPr/>
        </p:nvCxnSpPr>
        <p:spPr>
          <a:xfrm>
            <a:off x="4572000" y="1152475"/>
            <a:ext cx="15300" cy="162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Nested Functions</a:t>
            </a:r>
            <a:endParaRPr b="1"/>
          </a:p>
        </p:txBody>
      </p:sp>
      <p:sp>
        <p:nvSpPr>
          <p:cNvPr id="219" name="Google Shape;219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0" name="Google Shape;22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5000" y="1450125"/>
            <a:ext cx="18669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5000" y="2192300"/>
            <a:ext cx="2524116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92000" y="1544234"/>
            <a:ext cx="1455225" cy="45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18528" y="2227725"/>
            <a:ext cx="1283425" cy="45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Nested Functions</a:t>
            </a:r>
            <a:endParaRPr b="1"/>
          </a:p>
        </p:txBody>
      </p:sp>
      <p:sp>
        <p:nvSpPr>
          <p:cNvPr id="229" name="Google Shape;229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0" name="Google Shape;23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5000" y="1450125"/>
            <a:ext cx="18669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5000" y="2192300"/>
            <a:ext cx="2524116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46725" y="1502225"/>
            <a:ext cx="1649994" cy="5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46725" y="2166216"/>
            <a:ext cx="1455225" cy="521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55000" y="3090400"/>
            <a:ext cx="447675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63425" y="3939575"/>
            <a:ext cx="1196582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3"/>
          <p:cNvSpPr txBox="1"/>
          <p:nvPr/>
        </p:nvSpPr>
        <p:spPr>
          <a:xfrm>
            <a:off x="2960000" y="4006350"/>
            <a:ext cx="17319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chemeClr val="dk2"/>
                </a:solidFill>
              </a:rPr>
              <a:t>?</a:t>
            </a:r>
            <a:endParaRPr b="1" sz="2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Nested Functions</a:t>
            </a:r>
            <a:endParaRPr b="1"/>
          </a:p>
        </p:txBody>
      </p:sp>
      <p:sp>
        <p:nvSpPr>
          <p:cNvPr id="242" name="Google Shape;242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3" name="Google Shape;24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5000" y="1450125"/>
            <a:ext cx="18669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5000" y="2192300"/>
            <a:ext cx="2524116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46725" y="1502225"/>
            <a:ext cx="1649994" cy="5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46725" y="2166216"/>
            <a:ext cx="1455225" cy="521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44250" y="3355550"/>
            <a:ext cx="382905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55000" y="2765000"/>
            <a:ext cx="4476750" cy="59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Nested Functions</a:t>
            </a:r>
            <a:endParaRPr b="1"/>
          </a:p>
        </p:txBody>
      </p:sp>
      <p:sp>
        <p:nvSpPr>
          <p:cNvPr id="254" name="Google Shape;254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5" name="Google Shape;25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5000" y="1450125"/>
            <a:ext cx="18669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5000" y="2192300"/>
            <a:ext cx="2524116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46725" y="1502225"/>
            <a:ext cx="1649994" cy="5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46725" y="2166216"/>
            <a:ext cx="1455225" cy="521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44250" y="2925175"/>
            <a:ext cx="382905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44250" y="3706236"/>
            <a:ext cx="4476750" cy="606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1900" y="1223075"/>
            <a:ext cx="5788876" cy="293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6"/>
          <p:cNvSpPr txBox="1"/>
          <p:nvPr/>
        </p:nvSpPr>
        <p:spPr>
          <a:xfrm>
            <a:off x="2088900" y="209950"/>
            <a:ext cx="5080800" cy="7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solidFill>
                  <a:schemeClr val="dk2"/>
                </a:solidFill>
              </a:rPr>
              <a:t>The Gradient Descent Algorithm</a:t>
            </a:r>
            <a:endParaRPr b="1" sz="2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2" name="Google Shape;27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325" y="844725"/>
            <a:ext cx="457200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300" y="2345000"/>
            <a:ext cx="5753100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7"/>
          <p:cNvSpPr txBox="1"/>
          <p:nvPr/>
        </p:nvSpPr>
        <p:spPr>
          <a:xfrm>
            <a:off x="1973425" y="1406575"/>
            <a:ext cx="1018200" cy="10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chemeClr val="dk2"/>
                </a:solidFill>
              </a:rPr>
              <a:t>2</a:t>
            </a:r>
            <a:endParaRPr b="1" sz="2600">
              <a:solidFill>
                <a:schemeClr val="dk2"/>
              </a:solidFill>
            </a:endParaRPr>
          </a:p>
        </p:txBody>
      </p:sp>
      <p:sp>
        <p:nvSpPr>
          <p:cNvPr id="275" name="Google Shape;275;p37"/>
          <p:cNvSpPr txBox="1"/>
          <p:nvPr/>
        </p:nvSpPr>
        <p:spPr>
          <a:xfrm>
            <a:off x="2020850" y="2834625"/>
            <a:ext cx="1018200" cy="10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chemeClr val="dk2"/>
                </a:solidFill>
              </a:rPr>
              <a:t>2</a:t>
            </a:r>
            <a:endParaRPr b="1" sz="2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2771" y="1563775"/>
            <a:ext cx="5480505" cy="163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2050" y="1739251"/>
            <a:ext cx="2500021" cy="1181537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8"/>
          <p:cNvSpPr txBox="1"/>
          <p:nvPr/>
        </p:nvSpPr>
        <p:spPr>
          <a:xfrm>
            <a:off x="2882063" y="2119617"/>
            <a:ext cx="9528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595959"/>
                </a:solidFill>
              </a:rPr>
              <a:t>=</a:t>
            </a:r>
            <a:endParaRPr b="1" sz="2600">
              <a:solidFill>
                <a:srgbClr val="595959"/>
              </a:solidFill>
            </a:endParaRPr>
          </a:p>
        </p:txBody>
      </p:sp>
      <p:sp>
        <p:nvSpPr>
          <p:cNvPr id="283" name="Google Shape;283;p38"/>
          <p:cNvSpPr txBox="1"/>
          <p:nvPr/>
        </p:nvSpPr>
        <p:spPr>
          <a:xfrm>
            <a:off x="3023125" y="3925925"/>
            <a:ext cx="4545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2771" y="1563775"/>
            <a:ext cx="5480505" cy="163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2050" y="1739251"/>
            <a:ext cx="2500021" cy="1181537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9"/>
          <p:cNvSpPr txBox="1"/>
          <p:nvPr/>
        </p:nvSpPr>
        <p:spPr>
          <a:xfrm>
            <a:off x="2882063" y="2119617"/>
            <a:ext cx="9528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595959"/>
                </a:solidFill>
              </a:rPr>
              <a:t>=</a:t>
            </a:r>
            <a:endParaRPr b="1" sz="2600">
              <a:solidFill>
                <a:srgbClr val="595959"/>
              </a:solidFill>
            </a:endParaRPr>
          </a:p>
        </p:txBody>
      </p:sp>
      <p:sp>
        <p:nvSpPr>
          <p:cNvPr id="291" name="Google Shape;291;p39"/>
          <p:cNvSpPr txBox="1"/>
          <p:nvPr/>
        </p:nvSpPr>
        <p:spPr>
          <a:xfrm>
            <a:off x="3023125" y="3925925"/>
            <a:ext cx="4545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2"/>
              </a:solidFill>
            </a:endParaRPr>
          </a:p>
        </p:txBody>
      </p:sp>
      <p:pic>
        <p:nvPicPr>
          <p:cNvPr id="292" name="Google Shape;292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75825" y="3477650"/>
            <a:ext cx="2603099" cy="918978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9"/>
          <p:cNvSpPr/>
          <p:nvPr/>
        </p:nvSpPr>
        <p:spPr>
          <a:xfrm>
            <a:off x="5871826" y="3118438"/>
            <a:ext cx="2807100" cy="16374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2771" y="1406300"/>
            <a:ext cx="5480505" cy="163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2050" y="1581776"/>
            <a:ext cx="2500021" cy="1181537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40"/>
          <p:cNvSpPr txBox="1"/>
          <p:nvPr/>
        </p:nvSpPr>
        <p:spPr>
          <a:xfrm>
            <a:off x="2882063" y="1962142"/>
            <a:ext cx="9528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595959"/>
                </a:solidFill>
              </a:rPr>
              <a:t>=</a:t>
            </a:r>
            <a:endParaRPr b="1" sz="2600">
              <a:solidFill>
                <a:srgbClr val="595959"/>
              </a:solidFill>
            </a:endParaRPr>
          </a:p>
        </p:txBody>
      </p:sp>
      <p:pic>
        <p:nvPicPr>
          <p:cNvPr id="301" name="Google Shape;301;p40"/>
          <p:cNvPicPr preferRelativeResize="0"/>
          <p:nvPr/>
        </p:nvPicPr>
        <p:blipFill rotWithShape="1">
          <a:blip r:embed="rId5">
            <a:alphaModFix/>
          </a:blip>
          <a:srcRect b="0" l="5526" r="0" t="0"/>
          <a:stretch/>
        </p:blipFill>
        <p:spPr>
          <a:xfrm>
            <a:off x="3159575" y="3383750"/>
            <a:ext cx="3841875" cy="131565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40"/>
          <p:cNvSpPr txBox="1"/>
          <p:nvPr/>
        </p:nvSpPr>
        <p:spPr>
          <a:xfrm>
            <a:off x="3023125" y="3925925"/>
            <a:ext cx="4545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dk2"/>
                </a:solidFill>
              </a:rPr>
              <a:t>2</a:t>
            </a:r>
            <a:endParaRPr sz="2300">
              <a:solidFill>
                <a:schemeClr val="dk2"/>
              </a:solidFill>
            </a:endParaRPr>
          </a:p>
        </p:txBody>
      </p:sp>
      <p:sp>
        <p:nvSpPr>
          <p:cNvPr id="303" name="Google Shape;303;p40"/>
          <p:cNvSpPr/>
          <p:nvPr/>
        </p:nvSpPr>
        <p:spPr>
          <a:xfrm>
            <a:off x="3233050" y="3558450"/>
            <a:ext cx="325500" cy="30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/>
              <a:t>2</a:t>
            </a:r>
            <a:endParaRPr sz="23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2771" y="1406300"/>
            <a:ext cx="5480505" cy="163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2050" y="1581776"/>
            <a:ext cx="2500021" cy="1181537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41"/>
          <p:cNvSpPr txBox="1"/>
          <p:nvPr/>
        </p:nvSpPr>
        <p:spPr>
          <a:xfrm>
            <a:off x="2882063" y="1962142"/>
            <a:ext cx="9528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595959"/>
                </a:solidFill>
              </a:rPr>
              <a:t>=</a:t>
            </a:r>
            <a:endParaRPr b="1" sz="2600">
              <a:solidFill>
                <a:srgbClr val="595959"/>
              </a:solidFill>
            </a:endParaRPr>
          </a:p>
        </p:txBody>
      </p:sp>
      <p:pic>
        <p:nvPicPr>
          <p:cNvPr id="311" name="Google Shape;311;p41"/>
          <p:cNvPicPr preferRelativeResize="0"/>
          <p:nvPr/>
        </p:nvPicPr>
        <p:blipFill rotWithShape="1">
          <a:blip r:embed="rId5">
            <a:alphaModFix/>
          </a:blip>
          <a:srcRect b="0" l="5526" r="0" t="0"/>
          <a:stretch/>
        </p:blipFill>
        <p:spPr>
          <a:xfrm>
            <a:off x="3159575" y="3383750"/>
            <a:ext cx="3841875" cy="131565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41"/>
          <p:cNvSpPr txBox="1"/>
          <p:nvPr/>
        </p:nvSpPr>
        <p:spPr>
          <a:xfrm>
            <a:off x="3023125" y="3915425"/>
            <a:ext cx="4545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dk2"/>
                </a:solidFill>
              </a:rPr>
              <a:t>2</a:t>
            </a:r>
            <a:endParaRPr sz="2300">
              <a:solidFill>
                <a:schemeClr val="dk2"/>
              </a:solidFill>
            </a:endParaRPr>
          </a:p>
        </p:txBody>
      </p:sp>
      <p:sp>
        <p:nvSpPr>
          <p:cNvPr id="313" name="Google Shape;313;p41"/>
          <p:cNvSpPr/>
          <p:nvPr/>
        </p:nvSpPr>
        <p:spPr>
          <a:xfrm>
            <a:off x="3233050" y="3558450"/>
            <a:ext cx="325500" cy="30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/>
              <a:t>2</a:t>
            </a:r>
            <a:endParaRPr sz="2300"/>
          </a:p>
        </p:txBody>
      </p:sp>
      <p:cxnSp>
        <p:nvCxnSpPr>
          <p:cNvPr id="314" name="Google Shape;314;p41"/>
          <p:cNvCxnSpPr/>
          <p:nvPr/>
        </p:nvCxnSpPr>
        <p:spPr>
          <a:xfrm flipH="1">
            <a:off x="3314550" y="3495475"/>
            <a:ext cx="306900" cy="36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" name="Google Shape;315;p41"/>
          <p:cNvCxnSpPr/>
          <p:nvPr/>
        </p:nvCxnSpPr>
        <p:spPr>
          <a:xfrm flipH="1">
            <a:off x="3023125" y="4015275"/>
            <a:ext cx="306900" cy="36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2771" y="1406300"/>
            <a:ext cx="5480505" cy="163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2050" y="1581776"/>
            <a:ext cx="2500021" cy="1181537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42"/>
          <p:cNvSpPr txBox="1"/>
          <p:nvPr/>
        </p:nvSpPr>
        <p:spPr>
          <a:xfrm>
            <a:off x="2882063" y="1962142"/>
            <a:ext cx="9528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595959"/>
                </a:solidFill>
              </a:rPr>
              <a:t>=</a:t>
            </a:r>
            <a:endParaRPr b="1" sz="2600">
              <a:solidFill>
                <a:srgbClr val="595959"/>
              </a:solidFill>
            </a:endParaRPr>
          </a:p>
        </p:txBody>
      </p:sp>
      <p:pic>
        <p:nvPicPr>
          <p:cNvPr id="323" name="Google Shape;323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34875" y="3383750"/>
            <a:ext cx="4066575" cy="131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3"/>
          <p:cNvSpPr txBox="1"/>
          <p:nvPr/>
        </p:nvSpPr>
        <p:spPr>
          <a:xfrm>
            <a:off x="2916250" y="2414250"/>
            <a:ext cx="965700" cy="1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chemeClr val="dk2"/>
                </a:solidFill>
              </a:rPr>
              <a:t>=</a:t>
            </a:r>
            <a:endParaRPr b="1" sz="2600">
              <a:solidFill>
                <a:schemeClr val="dk2"/>
              </a:solidFill>
            </a:endParaRPr>
          </a:p>
        </p:txBody>
      </p:sp>
      <p:pic>
        <p:nvPicPr>
          <p:cNvPr id="329" name="Google Shape;32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850" y="1963100"/>
            <a:ext cx="2379927" cy="157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0500" y="1789925"/>
            <a:ext cx="5628652" cy="165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4"/>
          <p:cNvSpPr txBox="1"/>
          <p:nvPr/>
        </p:nvSpPr>
        <p:spPr>
          <a:xfrm>
            <a:off x="2916250" y="2414250"/>
            <a:ext cx="965700" cy="1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chemeClr val="dk2"/>
                </a:solidFill>
              </a:rPr>
              <a:t>=</a:t>
            </a:r>
            <a:endParaRPr b="1" sz="2600">
              <a:solidFill>
                <a:schemeClr val="dk2"/>
              </a:solidFill>
            </a:endParaRPr>
          </a:p>
        </p:txBody>
      </p:sp>
      <p:pic>
        <p:nvPicPr>
          <p:cNvPr id="336" name="Google Shape;33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850" y="1963100"/>
            <a:ext cx="2379927" cy="157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0500" y="1789925"/>
            <a:ext cx="5628652" cy="165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80500" y="3694700"/>
            <a:ext cx="2870701" cy="109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5"/>
          <p:cNvSpPr txBox="1"/>
          <p:nvPr/>
        </p:nvSpPr>
        <p:spPr>
          <a:xfrm>
            <a:off x="2916250" y="2414250"/>
            <a:ext cx="965700" cy="1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chemeClr val="dk2"/>
                </a:solidFill>
              </a:rPr>
              <a:t>=</a:t>
            </a:r>
            <a:endParaRPr b="1" sz="2600">
              <a:solidFill>
                <a:schemeClr val="dk2"/>
              </a:solidFill>
            </a:endParaRPr>
          </a:p>
        </p:txBody>
      </p:sp>
      <p:pic>
        <p:nvPicPr>
          <p:cNvPr id="344" name="Google Shape;34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850" y="1963100"/>
            <a:ext cx="2379927" cy="157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0500" y="1789925"/>
            <a:ext cx="5628652" cy="165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32175" y="3915350"/>
            <a:ext cx="3051326" cy="106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375" y="590550"/>
            <a:ext cx="8094400" cy="39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7"/>
          <p:cNvSpPr txBox="1"/>
          <p:nvPr>
            <p:ph type="title"/>
          </p:nvPr>
        </p:nvSpPr>
        <p:spPr>
          <a:xfrm>
            <a:off x="245500" y="1673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3620"/>
              <a:t>Backpropagation</a:t>
            </a:r>
            <a:br>
              <a:rPr b="1" lang="en-GB" sz="3620"/>
            </a:br>
            <a:r>
              <a:rPr b="1" lang="en-GB" sz="3620"/>
              <a:t>How the Neural Network Learns</a:t>
            </a:r>
            <a:endParaRPr b="1" sz="362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8"/>
          <p:cNvSpPr txBox="1"/>
          <p:nvPr>
            <p:ph type="title"/>
          </p:nvPr>
        </p:nvSpPr>
        <p:spPr>
          <a:xfrm>
            <a:off x="451375" y="445025"/>
            <a:ext cx="8380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Backpropagation</a:t>
            </a:r>
            <a:endParaRPr/>
          </a:p>
        </p:txBody>
      </p:sp>
      <p:sp>
        <p:nvSpPr>
          <p:cNvPr id="362" name="Google Shape;362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The chain rule helps us compute the gradient (derivative) of the loss function with respect to each weight, especially when there are </a:t>
            </a:r>
            <a:r>
              <a:rPr b="1" lang="en-GB">
                <a:solidFill>
                  <a:schemeClr val="dk1"/>
                </a:solidFill>
              </a:rPr>
              <a:t>multiple layers</a:t>
            </a:r>
            <a:r>
              <a:rPr lang="en-GB">
                <a:solidFill>
                  <a:schemeClr val="dk1"/>
                </a:solidFill>
              </a:rPr>
              <a:t> in the neural network</a:t>
            </a:r>
            <a:endParaRPr sz="25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Chain Rule</a:t>
            </a:r>
            <a:endParaRPr/>
          </a:p>
        </p:txBody>
      </p:sp>
      <p:sp>
        <p:nvSpPr>
          <p:cNvPr id="368" name="Google Shape;368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69" name="Google Shape;36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875" y="1275075"/>
            <a:ext cx="8082650" cy="303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Chain Rule</a:t>
            </a:r>
            <a:endParaRPr/>
          </a:p>
        </p:txBody>
      </p:sp>
      <p:sp>
        <p:nvSpPr>
          <p:cNvPr id="375" name="Google Shape;375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76" name="Google Shape;37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875" y="1275075"/>
            <a:ext cx="8082650" cy="303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1250" y="4002475"/>
            <a:ext cx="5010402" cy="82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1"/>
          <p:cNvSpPr/>
          <p:nvPr/>
        </p:nvSpPr>
        <p:spPr>
          <a:xfrm>
            <a:off x="214925" y="666450"/>
            <a:ext cx="1880700" cy="600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Loan Amount</a:t>
            </a:r>
            <a:endParaRPr/>
          </a:p>
        </p:txBody>
      </p:sp>
      <p:sp>
        <p:nvSpPr>
          <p:cNvPr id="383" name="Google Shape;383;p51"/>
          <p:cNvSpPr/>
          <p:nvPr/>
        </p:nvSpPr>
        <p:spPr>
          <a:xfrm>
            <a:off x="136475" y="2094775"/>
            <a:ext cx="2037600" cy="661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Credit Score</a:t>
            </a:r>
            <a:endParaRPr/>
          </a:p>
        </p:txBody>
      </p:sp>
      <p:sp>
        <p:nvSpPr>
          <p:cNvPr id="384" name="Google Shape;384;p51"/>
          <p:cNvSpPr/>
          <p:nvPr/>
        </p:nvSpPr>
        <p:spPr>
          <a:xfrm>
            <a:off x="136475" y="3527350"/>
            <a:ext cx="2119800" cy="661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Debt-to-income Ratio</a:t>
            </a:r>
            <a:endParaRPr/>
          </a:p>
        </p:txBody>
      </p:sp>
      <p:cxnSp>
        <p:nvCxnSpPr>
          <p:cNvPr id="385" name="Google Shape;385;p51"/>
          <p:cNvCxnSpPr>
            <a:stCxn id="382" idx="5"/>
          </p:cNvCxnSpPr>
          <p:nvPr/>
        </p:nvCxnSpPr>
        <p:spPr>
          <a:xfrm>
            <a:off x="1820203" y="1179350"/>
            <a:ext cx="909000" cy="87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6" name="Google Shape;386;p51"/>
          <p:cNvCxnSpPr>
            <a:stCxn id="383" idx="6"/>
            <a:endCxn id="387" idx="1"/>
          </p:cNvCxnSpPr>
          <p:nvPr/>
        </p:nvCxnSpPr>
        <p:spPr>
          <a:xfrm flipH="1" rot="10800000">
            <a:off x="2174075" y="2248675"/>
            <a:ext cx="376200" cy="17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8" name="Google Shape;388;p51"/>
          <p:cNvCxnSpPr>
            <a:stCxn id="384" idx="7"/>
          </p:cNvCxnSpPr>
          <p:nvPr/>
        </p:nvCxnSpPr>
        <p:spPr>
          <a:xfrm flipH="1" rot="10800000">
            <a:off x="1945837" y="2351280"/>
            <a:ext cx="825300" cy="127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89" name="Google Shape;389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1063" y="2014488"/>
            <a:ext cx="2811915" cy="26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9375" y="1846675"/>
            <a:ext cx="1519250" cy="60090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51"/>
          <p:cNvSpPr/>
          <p:nvPr/>
        </p:nvSpPr>
        <p:spPr>
          <a:xfrm>
            <a:off x="2793550" y="1538275"/>
            <a:ext cx="5007000" cy="1217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2" name="Google Shape;392;p51"/>
          <p:cNvCxnSpPr/>
          <p:nvPr/>
        </p:nvCxnSpPr>
        <p:spPr>
          <a:xfrm>
            <a:off x="7800550" y="2191200"/>
            <a:ext cx="376500" cy="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3" name="Google Shape;393;p51"/>
          <p:cNvCxnSpPr/>
          <p:nvPr/>
        </p:nvCxnSpPr>
        <p:spPr>
          <a:xfrm>
            <a:off x="5972750" y="1585050"/>
            <a:ext cx="31500" cy="113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94" name="Google Shape;394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32775" y="2059913"/>
            <a:ext cx="773719" cy="26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09437" y="2908375"/>
            <a:ext cx="13335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5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77053" y="2571750"/>
            <a:ext cx="623396" cy="26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5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69737" y="3307250"/>
            <a:ext cx="24765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5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203953" y="3821600"/>
            <a:ext cx="131445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51"/>
          <p:cNvSpPr/>
          <p:nvPr/>
        </p:nvSpPr>
        <p:spPr>
          <a:xfrm>
            <a:off x="8101900" y="2524538"/>
            <a:ext cx="773700" cy="359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0" name="Google Shape;400;p5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256275" y="253900"/>
            <a:ext cx="6524976" cy="309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5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856225" y="1925563"/>
            <a:ext cx="552450" cy="239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5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126763" y="3431788"/>
            <a:ext cx="295884" cy="26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5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256280" y="1179350"/>
            <a:ext cx="552450" cy="322263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51"/>
          <p:cNvSpPr txBox="1"/>
          <p:nvPr/>
        </p:nvSpPr>
        <p:spPr>
          <a:xfrm>
            <a:off x="7203950" y="4372875"/>
            <a:ext cx="825300" cy="6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CC0000"/>
                </a:solidFill>
              </a:rPr>
              <a:t>= L</a:t>
            </a:r>
            <a:endParaRPr b="1" sz="2200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Now, to minimize the loss, we need to adjust the weights. To know how to update the weights, we need to compute how much each weight </a:t>
            </a:r>
            <a:r>
              <a:rPr b="1" lang="en-GB" sz="1600">
                <a:solidFill>
                  <a:schemeClr val="dk1"/>
                </a:solidFill>
              </a:rPr>
              <a:t>contributed</a:t>
            </a:r>
            <a:r>
              <a:rPr lang="en-GB" sz="1600">
                <a:solidFill>
                  <a:schemeClr val="dk1"/>
                </a:solidFill>
              </a:rPr>
              <a:t> to the error. This is where backpropagation comes in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Now, to minimize the loss, we need to adjust the weights. To know how to update the weights, we need to compute how much each weight </a:t>
            </a:r>
            <a:r>
              <a:rPr b="1" lang="en-GB" sz="1600">
                <a:solidFill>
                  <a:schemeClr val="dk1"/>
                </a:solidFill>
              </a:rPr>
              <a:t>contributed</a:t>
            </a:r>
            <a:r>
              <a:rPr lang="en-GB" sz="1600">
                <a:solidFill>
                  <a:schemeClr val="dk1"/>
                </a:solidFill>
              </a:rPr>
              <a:t> to the error. This is where backpropagation comes in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00"/>
          </a:p>
        </p:txBody>
      </p:sp>
      <p:pic>
        <p:nvPicPr>
          <p:cNvPr id="417" name="Google Shape;417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7575" y="2501000"/>
            <a:ext cx="222885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613" y="594675"/>
            <a:ext cx="8274776" cy="67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92650" y="1424100"/>
            <a:ext cx="4381500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8250" y="2997675"/>
            <a:ext cx="8161174" cy="174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613" y="594675"/>
            <a:ext cx="8274776" cy="67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92650" y="1424100"/>
            <a:ext cx="4381500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8250" y="2997675"/>
            <a:ext cx="8161174" cy="17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55"/>
          <p:cNvSpPr/>
          <p:nvPr/>
        </p:nvSpPr>
        <p:spPr>
          <a:xfrm>
            <a:off x="4261750" y="1553550"/>
            <a:ext cx="1091700" cy="1018200"/>
          </a:xfrm>
          <a:prstGeom prst="rect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55"/>
          <p:cNvSpPr/>
          <p:nvPr/>
        </p:nvSpPr>
        <p:spPr>
          <a:xfrm>
            <a:off x="669900" y="3071650"/>
            <a:ext cx="6856500" cy="524700"/>
          </a:xfrm>
          <a:prstGeom prst="rect">
            <a:avLst/>
          </a:prstGeom>
          <a:noFill/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Step 1:</a:t>
            </a:r>
            <a:endParaRPr/>
          </a:p>
        </p:txBody>
      </p:sp>
      <p:sp>
        <p:nvSpPr>
          <p:cNvPr id="439" name="Google Shape;439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40" name="Google Shape;44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6000" y="1275000"/>
            <a:ext cx="3124200" cy="112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Step 1:</a:t>
            </a:r>
            <a:endParaRPr/>
          </a:p>
        </p:txBody>
      </p:sp>
      <p:sp>
        <p:nvSpPr>
          <p:cNvPr id="446" name="Google Shape;446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47" name="Google Shape;447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6000" y="1275000"/>
            <a:ext cx="3124200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8475" y="2571750"/>
            <a:ext cx="1622782" cy="128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Step 1:</a:t>
            </a:r>
            <a:endParaRPr/>
          </a:p>
        </p:txBody>
      </p:sp>
      <p:sp>
        <p:nvSpPr>
          <p:cNvPr id="454" name="Google Shape;454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55" name="Google Shape;455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6000" y="1275000"/>
            <a:ext cx="3124200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8375" y="2796075"/>
            <a:ext cx="3219450" cy="11049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58"/>
          <p:cNvSpPr/>
          <p:nvPr/>
        </p:nvSpPr>
        <p:spPr>
          <a:xfrm>
            <a:off x="4366725" y="3233050"/>
            <a:ext cx="336000" cy="32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613" y="594675"/>
            <a:ext cx="8274776" cy="67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92650" y="1424100"/>
            <a:ext cx="4381500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8250" y="2997675"/>
            <a:ext cx="8161174" cy="17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59"/>
          <p:cNvSpPr/>
          <p:nvPr/>
        </p:nvSpPr>
        <p:spPr>
          <a:xfrm>
            <a:off x="4261750" y="1553550"/>
            <a:ext cx="1091700" cy="1018200"/>
          </a:xfrm>
          <a:prstGeom prst="rect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59"/>
          <p:cNvSpPr/>
          <p:nvPr/>
        </p:nvSpPr>
        <p:spPr>
          <a:xfrm>
            <a:off x="5437425" y="1553175"/>
            <a:ext cx="839700" cy="10182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59"/>
          <p:cNvSpPr/>
          <p:nvPr/>
        </p:nvSpPr>
        <p:spPr>
          <a:xfrm>
            <a:off x="669900" y="3606988"/>
            <a:ext cx="7804200" cy="524700"/>
          </a:xfrm>
          <a:prstGeom prst="rect">
            <a:avLst/>
          </a:prstGeom>
          <a:noFill/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Step 2:</a:t>
            </a:r>
            <a:endParaRPr/>
          </a:p>
        </p:txBody>
      </p:sp>
      <p:pic>
        <p:nvPicPr>
          <p:cNvPr id="473" name="Google Shape;473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2875" y="1264600"/>
            <a:ext cx="200025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Step 2:</a:t>
            </a:r>
            <a:endParaRPr/>
          </a:p>
        </p:txBody>
      </p:sp>
      <p:pic>
        <p:nvPicPr>
          <p:cNvPr id="479" name="Google Shape;479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3650" y="1293025"/>
            <a:ext cx="200025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61"/>
          <p:cNvPicPr preferRelativeResize="0"/>
          <p:nvPr/>
        </p:nvPicPr>
        <p:blipFill rotWithShape="1">
          <a:blip r:embed="rId4">
            <a:alphaModFix/>
          </a:blip>
          <a:srcRect b="-11296" l="0" r="-8754" t="0"/>
          <a:stretch/>
        </p:blipFill>
        <p:spPr>
          <a:xfrm>
            <a:off x="1149600" y="2776150"/>
            <a:ext cx="2776225" cy="112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87" name="Google Shape;487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8275" y="1218625"/>
            <a:ext cx="1836225" cy="83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9288" y="2447349"/>
            <a:ext cx="2495550" cy="578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95" name="Google Shape;495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8275" y="1218625"/>
            <a:ext cx="1836225" cy="83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2050" y="1071675"/>
            <a:ext cx="2305050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74275" y="2319425"/>
            <a:ext cx="249555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6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9288" y="2447349"/>
            <a:ext cx="2495550" cy="578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63"/>
          <p:cNvPicPr preferRelativeResize="0"/>
          <p:nvPr/>
        </p:nvPicPr>
        <p:blipFill rotWithShape="1">
          <a:blip r:embed="rId7">
            <a:alphaModFix/>
          </a:blip>
          <a:srcRect b="-11296" l="0" r="-8754" t="0"/>
          <a:stretch/>
        </p:blipFill>
        <p:spPr>
          <a:xfrm>
            <a:off x="868950" y="3327925"/>
            <a:ext cx="2776225" cy="112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06" name="Google Shape;506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8275" y="1218625"/>
            <a:ext cx="1836225" cy="83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2050" y="1071675"/>
            <a:ext cx="2305050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74275" y="2319425"/>
            <a:ext cx="249555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6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9288" y="2447349"/>
            <a:ext cx="2495550" cy="578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6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72000" y="3356350"/>
            <a:ext cx="409575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64"/>
          <p:cNvPicPr preferRelativeResize="0"/>
          <p:nvPr/>
        </p:nvPicPr>
        <p:blipFill rotWithShape="1">
          <a:blip r:embed="rId8">
            <a:alphaModFix/>
          </a:blip>
          <a:srcRect b="-11296" l="0" r="-8754" t="0"/>
          <a:stretch/>
        </p:blipFill>
        <p:spPr>
          <a:xfrm>
            <a:off x="868950" y="3327925"/>
            <a:ext cx="2776225" cy="112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6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18" name="Google Shape;518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8275" y="1218625"/>
            <a:ext cx="1836225" cy="83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2050" y="1071675"/>
            <a:ext cx="2305050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74275" y="2319425"/>
            <a:ext cx="249555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6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9288" y="2447349"/>
            <a:ext cx="2495550" cy="578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65"/>
          <p:cNvPicPr preferRelativeResize="0"/>
          <p:nvPr/>
        </p:nvPicPr>
        <p:blipFill rotWithShape="1">
          <a:blip r:embed="rId7">
            <a:alphaModFix/>
          </a:blip>
          <a:srcRect b="-11296" l="0" r="-8754" t="0"/>
          <a:stretch/>
        </p:blipFill>
        <p:spPr>
          <a:xfrm>
            <a:off x="868950" y="3327925"/>
            <a:ext cx="2776225" cy="112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6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34800" y="3129025"/>
            <a:ext cx="3562350" cy="133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30" name="Google Shape;530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1775" y="1152475"/>
            <a:ext cx="2982500" cy="111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275" y="2321000"/>
            <a:ext cx="3873743" cy="111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66894" y="2321000"/>
            <a:ext cx="2819706" cy="121115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66"/>
          <p:cNvSpPr txBox="1"/>
          <p:nvPr/>
        </p:nvSpPr>
        <p:spPr>
          <a:xfrm>
            <a:off x="4748088" y="2571750"/>
            <a:ext cx="8082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6AA84F"/>
                </a:solidFill>
              </a:rPr>
              <a:t>OR</a:t>
            </a:r>
            <a:endParaRPr b="1" sz="22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Step 2:</a:t>
            </a:r>
            <a:endParaRPr/>
          </a:p>
        </p:txBody>
      </p:sp>
      <p:pic>
        <p:nvPicPr>
          <p:cNvPr id="539" name="Google Shape;53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3650" y="1293025"/>
            <a:ext cx="200025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67"/>
          <p:cNvPicPr preferRelativeResize="0"/>
          <p:nvPr/>
        </p:nvPicPr>
        <p:blipFill rotWithShape="1">
          <a:blip r:embed="rId4">
            <a:alphaModFix/>
          </a:blip>
          <a:srcRect b="-11296" l="0" r="-8754" t="0"/>
          <a:stretch/>
        </p:blipFill>
        <p:spPr>
          <a:xfrm>
            <a:off x="5495350" y="1264600"/>
            <a:ext cx="2776225" cy="112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3650" y="2834575"/>
            <a:ext cx="6343650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613" y="594675"/>
            <a:ext cx="8274776" cy="67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92650" y="1424100"/>
            <a:ext cx="4381500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8250" y="2997675"/>
            <a:ext cx="8161174" cy="17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68"/>
          <p:cNvSpPr/>
          <p:nvPr/>
        </p:nvSpPr>
        <p:spPr>
          <a:xfrm>
            <a:off x="4261750" y="1553550"/>
            <a:ext cx="1091700" cy="1018200"/>
          </a:xfrm>
          <a:prstGeom prst="rect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68"/>
          <p:cNvSpPr/>
          <p:nvPr/>
        </p:nvSpPr>
        <p:spPr>
          <a:xfrm>
            <a:off x="5437425" y="1553175"/>
            <a:ext cx="839700" cy="10182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68"/>
          <p:cNvSpPr/>
          <p:nvPr/>
        </p:nvSpPr>
        <p:spPr>
          <a:xfrm>
            <a:off x="669900" y="4216301"/>
            <a:ext cx="8039400" cy="524700"/>
          </a:xfrm>
          <a:prstGeom prst="rect">
            <a:avLst/>
          </a:prstGeom>
          <a:noFill/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68"/>
          <p:cNvSpPr/>
          <p:nvPr/>
        </p:nvSpPr>
        <p:spPr>
          <a:xfrm>
            <a:off x="6361100" y="1553175"/>
            <a:ext cx="713100" cy="1018200"/>
          </a:xfrm>
          <a:prstGeom prst="rect">
            <a:avLst/>
          </a:prstGeom>
          <a:noFill/>
          <a:ln cap="flat" cmpd="sng" w="28575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Step 3: </a:t>
            </a:r>
            <a:r>
              <a:rPr lang="en-GB"/>
              <a:t>Compute the gradient of z with respect to the weight</a:t>
            </a:r>
            <a:endParaRPr/>
          </a:p>
        </p:txBody>
      </p:sp>
      <p:pic>
        <p:nvPicPr>
          <p:cNvPr id="558" name="Google Shape;55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7275" y="1924050"/>
            <a:ext cx="702945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9400" y="922673"/>
            <a:ext cx="530900" cy="4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8125" y="3361350"/>
            <a:ext cx="66103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69"/>
          <p:cNvSpPr/>
          <p:nvPr/>
        </p:nvSpPr>
        <p:spPr>
          <a:xfrm>
            <a:off x="2477275" y="2172875"/>
            <a:ext cx="54678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/>
              <a:t>?</a:t>
            </a:r>
            <a:endParaRPr b="1" sz="23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Compute the gradient of z with respect to the weight</a:t>
            </a:r>
            <a:endParaRPr/>
          </a:p>
        </p:txBody>
      </p:sp>
      <p:pic>
        <p:nvPicPr>
          <p:cNvPr id="567" name="Google Shape;567;p70"/>
          <p:cNvPicPr preferRelativeResize="0"/>
          <p:nvPr/>
        </p:nvPicPr>
        <p:blipFill rotWithShape="1">
          <a:blip r:embed="rId3">
            <a:alphaModFix/>
          </a:blip>
          <a:srcRect b="0" l="0" r="69345" t="0"/>
          <a:stretch/>
        </p:blipFill>
        <p:spPr>
          <a:xfrm>
            <a:off x="1118125" y="1399225"/>
            <a:ext cx="2154799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45025" y="502798"/>
            <a:ext cx="530900" cy="4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66825" y="3013150"/>
            <a:ext cx="6610350" cy="66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Combining Them All</a:t>
            </a:r>
            <a:endParaRPr/>
          </a:p>
        </p:txBody>
      </p:sp>
      <p:sp>
        <p:nvSpPr>
          <p:cNvPr id="575" name="Google Shape;575;p7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76" name="Google Shape;576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400" y="1972650"/>
            <a:ext cx="6033424" cy="1354875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71"/>
          <p:cNvSpPr/>
          <p:nvPr/>
        </p:nvSpPr>
        <p:spPr>
          <a:xfrm>
            <a:off x="3495475" y="2508775"/>
            <a:ext cx="304500" cy="28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The Intuition</a:t>
            </a:r>
            <a:endParaRPr b="1"/>
          </a:p>
        </p:txBody>
      </p:sp>
      <p:sp>
        <p:nvSpPr>
          <p:cNvPr id="583" name="Google Shape;583;p7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Forward pass</a:t>
            </a:r>
            <a:r>
              <a:rPr lang="en-GB">
                <a:solidFill>
                  <a:schemeClr val="dk1"/>
                </a:solidFill>
              </a:rPr>
              <a:t>: Compute the output based on the inputs and weights.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Compute loss</a:t>
            </a:r>
            <a:r>
              <a:rPr lang="en-GB">
                <a:solidFill>
                  <a:schemeClr val="dk1"/>
                </a:solidFill>
              </a:rPr>
              <a:t>: Calculate how far off the prediction is from the true value.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Backward pass</a:t>
            </a:r>
            <a:r>
              <a:rPr lang="en-GB">
                <a:solidFill>
                  <a:schemeClr val="dk1"/>
                </a:solidFill>
              </a:rPr>
              <a:t>: Using the chain rule, propagate the error backward through the network, calculating how each weight affects the loss.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Update weights</a:t>
            </a:r>
            <a:r>
              <a:rPr lang="en-GB">
                <a:solidFill>
                  <a:schemeClr val="dk1"/>
                </a:solidFill>
              </a:rPr>
              <a:t>: Adjust the weights using the computed gradients to minimize the error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7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90" name="Google Shape;590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775" y="1017726"/>
            <a:ext cx="8602462" cy="331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